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3"/>
  </p:notesMasterIdLst>
  <p:sldIdLst>
    <p:sldId id="256" r:id="rId2"/>
    <p:sldId id="258" r:id="rId3"/>
    <p:sldId id="259" r:id="rId4"/>
    <p:sldId id="260" r:id="rId5"/>
    <p:sldId id="257"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6" autoAdjust="0"/>
    <p:restoredTop sz="94660"/>
  </p:normalViewPr>
  <p:slideViewPr>
    <p:cSldViewPr snapToGrid="0">
      <p:cViewPr varScale="1">
        <p:scale>
          <a:sx n="88" d="100"/>
          <a:sy n="88" d="100"/>
        </p:scale>
        <p:origin x="210"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D8AAFE-FD36-4319-ABA0-2DBED810DE94}" type="datetimeFigureOut">
              <a:rPr lang="en-IE" smtClean="0"/>
              <a:t>08/09/2026</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A231D1-8D84-455F-AFA8-9E222AC9E4E2}" type="slidenum">
              <a:rPr lang="en-IE" smtClean="0"/>
              <a:t>‹#›</a:t>
            </a:fld>
            <a:endParaRPr lang="en-IE"/>
          </a:p>
        </p:txBody>
      </p:sp>
    </p:spTree>
    <p:extLst>
      <p:ext uri="{BB962C8B-B14F-4D97-AF65-F5344CB8AC3E}">
        <p14:creationId xmlns:p14="http://schemas.microsoft.com/office/powerpoint/2010/main" val="4106233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44F98023-21F2-438C-8348-96E7ECFA42CB}" type="slidenum">
              <a:rPr lang="en-IE" smtClean="0"/>
              <a:t>5</a:t>
            </a:fld>
            <a:endParaRPr lang="en-IE"/>
          </a:p>
        </p:txBody>
      </p:sp>
    </p:spTree>
    <p:extLst>
      <p:ext uri="{BB962C8B-B14F-4D97-AF65-F5344CB8AC3E}">
        <p14:creationId xmlns:p14="http://schemas.microsoft.com/office/powerpoint/2010/main" val="1850790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http://www.blackwasp.co.uk/gofpatterns.aspx</a:t>
            </a:r>
          </a:p>
        </p:txBody>
      </p:sp>
      <p:sp>
        <p:nvSpPr>
          <p:cNvPr id="4" name="Slide Number Placeholder 3"/>
          <p:cNvSpPr>
            <a:spLocks noGrp="1"/>
          </p:cNvSpPr>
          <p:nvPr>
            <p:ph type="sldNum" sz="quarter" idx="10"/>
          </p:nvPr>
        </p:nvSpPr>
        <p:spPr/>
        <p:txBody>
          <a:bodyPr/>
          <a:lstStyle/>
          <a:p>
            <a:fld id="{44F98023-21F2-438C-8348-96E7ECFA42CB}" type="slidenum">
              <a:rPr lang="en-IE" smtClean="0"/>
              <a:t>6</a:t>
            </a:fld>
            <a:endParaRPr lang="en-IE"/>
          </a:p>
        </p:txBody>
      </p:sp>
    </p:spTree>
    <p:extLst>
      <p:ext uri="{BB962C8B-B14F-4D97-AF65-F5344CB8AC3E}">
        <p14:creationId xmlns:p14="http://schemas.microsoft.com/office/powerpoint/2010/main" val="3541945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44F98023-21F2-438C-8348-96E7ECFA42CB}" type="slidenum">
              <a:rPr lang="en-IE" smtClean="0"/>
              <a:t>7</a:t>
            </a:fld>
            <a:endParaRPr lang="en-IE"/>
          </a:p>
        </p:txBody>
      </p:sp>
    </p:spTree>
    <p:extLst>
      <p:ext uri="{BB962C8B-B14F-4D97-AF65-F5344CB8AC3E}">
        <p14:creationId xmlns:p14="http://schemas.microsoft.com/office/powerpoint/2010/main" val="21697154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44F98023-21F2-438C-8348-96E7ECFA42CB}" type="slidenum">
              <a:rPr lang="en-IE" smtClean="0"/>
              <a:t>8</a:t>
            </a:fld>
            <a:endParaRPr lang="en-IE"/>
          </a:p>
        </p:txBody>
      </p:sp>
    </p:spTree>
    <p:extLst>
      <p:ext uri="{BB962C8B-B14F-4D97-AF65-F5344CB8AC3E}">
        <p14:creationId xmlns:p14="http://schemas.microsoft.com/office/powerpoint/2010/main" val="2859013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44F98023-21F2-438C-8348-96E7ECFA42CB}" type="slidenum">
              <a:rPr lang="en-IE" smtClean="0"/>
              <a:t>9</a:t>
            </a:fld>
            <a:endParaRPr lang="en-IE"/>
          </a:p>
        </p:txBody>
      </p:sp>
    </p:spTree>
    <p:extLst>
      <p:ext uri="{BB962C8B-B14F-4D97-AF65-F5344CB8AC3E}">
        <p14:creationId xmlns:p14="http://schemas.microsoft.com/office/powerpoint/2010/main" val="855205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44F98023-21F2-438C-8348-96E7ECFA42CB}" type="slidenum">
              <a:rPr lang="en-IE" smtClean="0"/>
              <a:t>10</a:t>
            </a:fld>
            <a:endParaRPr lang="en-IE"/>
          </a:p>
        </p:txBody>
      </p:sp>
    </p:spTree>
    <p:extLst>
      <p:ext uri="{BB962C8B-B14F-4D97-AF65-F5344CB8AC3E}">
        <p14:creationId xmlns:p14="http://schemas.microsoft.com/office/powerpoint/2010/main" val="41888000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44F98023-21F2-438C-8348-96E7ECFA42CB}" type="slidenum">
              <a:rPr lang="en-IE" smtClean="0"/>
              <a:t>11</a:t>
            </a:fld>
            <a:endParaRPr lang="en-IE"/>
          </a:p>
        </p:txBody>
      </p:sp>
    </p:spTree>
    <p:extLst>
      <p:ext uri="{BB962C8B-B14F-4D97-AF65-F5344CB8AC3E}">
        <p14:creationId xmlns:p14="http://schemas.microsoft.com/office/powerpoint/2010/main" val="1821994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35A070-D49F-49D3-ADCC-6FD713E5247B}" type="datetimeFigureOut">
              <a:rPr lang="en-IE" smtClean="0"/>
              <a:t>08/09/2026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7C5E2B06-6C31-4EBA-9C23-E04E60A14384}" type="slidenum">
              <a:rPr lang="en-IE" smtClean="0"/>
              <a:t>‹#›</a:t>
            </a:fld>
            <a:endParaRPr lang="en-IE"/>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8990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35A070-D49F-49D3-ADCC-6FD713E5247B}" type="datetimeFigureOut">
              <a:rPr lang="en-IE" smtClean="0"/>
              <a:t>08/09/2026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7C5E2B06-6C31-4EBA-9C23-E04E60A14384}" type="slidenum">
              <a:rPr lang="en-IE" smtClean="0"/>
              <a:t>‹#›</a:t>
            </a:fld>
            <a:endParaRPr lang="en-IE"/>
          </a:p>
        </p:txBody>
      </p:sp>
    </p:spTree>
    <p:extLst>
      <p:ext uri="{BB962C8B-B14F-4D97-AF65-F5344CB8AC3E}">
        <p14:creationId xmlns:p14="http://schemas.microsoft.com/office/powerpoint/2010/main" val="4240271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35A070-D49F-49D3-ADCC-6FD713E5247B}" type="datetimeFigureOut">
              <a:rPr lang="en-IE" smtClean="0"/>
              <a:t>08/09/2026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7C5E2B06-6C31-4EBA-9C23-E04E60A14384}" type="slidenum">
              <a:rPr lang="en-IE" smtClean="0"/>
              <a:t>‹#›</a:t>
            </a:fld>
            <a:endParaRPr lang="en-IE"/>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0245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35A070-D49F-49D3-ADCC-6FD713E5247B}" type="datetimeFigureOut">
              <a:rPr lang="en-IE" smtClean="0"/>
              <a:t>08/09/2026</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7C5E2B06-6C31-4EBA-9C23-E04E60A14384}" type="slidenum">
              <a:rPr lang="en-IE" smtClean="0"/>
              <a:t>‹#›</a:t>
            </a:fld>
            <a:endParaRPr lang="en-IE"/>
          </a:p>
        </p:txBody>
      </p:sp>
    </p:spTree>
    <p:extLst>
      <p:ext uri="{BB962C8B-B14F-4D97-AF65-F5344CB8AC3E}">
        <p14:creationId xmlns:p14="http://schemas.microsoft.com/office/powerpoint/2010/main" val="4077279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35A070-D49F-49D3-ADCC-6FD713E5247B}" type="datetimeFigureOut">
              <a:rPr lang="en-IE" smtClean="0"/>
              <a:t>08/09/2026</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7C5E2B06-6C31-4EBA-9C23-E04E60A14384}" type="slidenum">
              <a:rPr lang="en-IE" smtClean="0"/>
              <a:t>‹#›</a:t>
            </a:fld>
            <a:endParaRPr lang="en-IE"/>
          </a:p>
        </p:txBody>
      </p:sp>
    </p:spTree>
    <p:extLst>
      <p:ext uri="{BB962C8B-B14F-4D97-AF65-F5344CB8AC3E}">
        <p14:creationId xmlns:p14="http://schemas.microsoft.com/office/powerpoint/2010/main" val="2513473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35A070-D49F-49D3-ADCC-6FD713E5247B}" type="datetimeFigureOut">
              <a:rPr lang="en-IE" smtClean="0"/>
              <a:t>08/09/2026</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7C5E2B06-6C31-4EBA-9C23-E04E60A14384}" type="slidenum">
              <a:rPr lang="en-IE" smtClean="0"/>
              <a:t>‹#›</a:t>
            </a:fld>
            <a:endParaRPr lang="en-IE"/>
          </a:p>
        </p:txBody>
      </p:sp>
    </p:spTree>
    <p:extLst>
      <p:ext uri="{BB962C8B-B14F-4D97-AF65-F5344CB8AC3E}">
        <p14:creationId xmlns:p14="http://schemas.microsoft.com/office/powerpoint/2010/main" val="3269592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035A070-D49F-49D3-ADCC-6FD713E5247B}" type="datetimeFigureOut">
              <a:rPr lang="en-IE" smtClean="0"/>
              <a:t>08/09/2026</a:t>
            </a:fld>
            <a:endParaRPr lang="en-IE"/>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E"/>
          </a:p>
        </p:txBody>
      </p:sp>
      <p:sp>
        <p:nvSpPr>
          <p:cNvPr id="9" name="Slide Number Placeholder 8"/>
          <p:cNvSpPr>
            <a:spLocks noGrp="1"/>
          </p:cNvSpPr>
          <p:nvPr>
            <p:ph type="sldNum" sz="quarter" idx="12"/>
          </p:nvPr>
        </p:nvSpPr>
        <p:spPr/>
        <p:txBody>
          <a:bodyPr/>
          <a:lstStyle/>
          <a:p>
            <a:fld id="{7C5E2B06-6C31-4EBA-9C23-E04E60A14384}" type="slidenum">
              <a:rPr lang="en-IE" smtClean="0"/>
              <a:t>‹#›</a:t>
            </a:fld>
            <a:endParaRPr lang="en-IE"/>
          </a:p>
        </p:txBody>
      </p:sp>
    </p:spTree>
    <p:extLst>
      <p:ext uri="{BB962C8B-B14F-4D97-AF65-F5344CB8AC3E}">
        <p14:creationId xmlns:p14="http://schemas.microsoft.com/office/powerpoint/2010/main" val="2456392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035A070-D49F-49D3-ADCC-6FD713E5247B}" type="datetimeFigureOut">
              <a:rPr lang="en-IE" smtClean="0"/>
              <a:t>08/09/2026</a:t>
            </a:fld>
            <a:endParaRPr lang="en-IE"/>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E"/>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C5E2B06-6C31-4EBA-9C23-E04E60A14384}" type="slidenum">
              <a:rPr lang="en-IE" smtClean="0"/>
              <a:t>‹#›</a:t>
            </a:fld>
            <a:endParaRPr lang="en-IE"/>
          </a:p>
        </p:txBody>
      </p:sp>
    </p:spTree>
    <p:extLst>
      <p:ext uri="{BB962C8B-B14F-4D97-AF65-F5344CB8AC3E}">
        <p14:creationId xmlns:p14="http://schemas.microsoft.com/office/powerpoint/2010/main" val="3179171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35A070-D49F-49D3-ADCC-6FD713E5247B}" type="datetimeFigureOut">
              <a:rPr lang="en-IE" smtClean="0"/>
              <a:t>08/09/2026</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7C5E2B06-6C31-4EBA-9C23-E04E60A14384}" type="slidenum">
              <a:rPr lang="en-IE" smtClean="0"/>
              <a:t>‹#›</a:t>
            </a:fld>
            <a:endParaRPr lang="en-IE"/>
          </a:p>
        </p:txBody>
      </p:sp>
    </p:spTree>
    <p:extLst>
      <p:ext uri="{BB962C8B-B14F-4D97-AF65-F5344CB8AC3E}">
        <p14:creationId xmlns:p14="http://schemas.microsoft.com/office/powerpoint/2010/main" val="2894312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35A070-D49F-49D3-ADCC-6FD713E5247B}" type="datetimeFigureOut">
              <a:rPr lang="en-IE" smtClean="0"/>
              <a:t>08/09/2026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7C5E2B06-6C31-4EBA-9C23-E04E60A14384}" type="slidenum">
              <a:rPr lang="en-IE" smtClean="0"/>
              <a:t>‹#›</a:t>
            </a:fld>
            <a:endParaRPr lang="en-IE"/>
          </a:p>
        </p:txBody>
      </p:sp>
    </p:spTree>
    <p:extLst>
      <p:ext uri="{BB962C8B-B14F-4D97-AF65-F5344CB8AC3E}">
        <p14:creationId xmlns:p14="http://schemas.microsoft.com/office/powerpoint/2010/main" val="1901750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35A070-D49F-49D3-ADCC-6FD713E5247B}" type="datetimeFigureOut">
              <a:rPr lang="en-IE" smtClean="0"/>
              <a:t>08/09/2026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7C5E2B06-6C31-4EBA-9C23-E04E60A14384}" type="slidenum">
              <a:rPr lang="en-IE" smtClean="0"/>
              <a:t>‹#›</a:t>
            </a:fld>
            <a:endParaRPr lang="en-IE"/>
          </a:p>
        </p:txBody>
      </p:sp>
    </p:spTree>
    <p:extLst>
      <p:ext uri="{BB962C8B-B14F-4D97-AF65-F5344CB8AC3E}">
        <p14:creationId xmlns:p14="http://schemas.microsoft.com/office/powerpoint/2010/main" val="2871418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035A070-D49F-49D3-ADCC-6FD713E5247B}" type="datetimeFigureOut">
              <a:rPr lang="en-IE" smtClean="0"/>
              <a:t>08/09/2026</a:t>
            </a:fld>
            <a:endParaRPr lang="en-IE"/>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E"/>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C5E2B06-6C31-4EBA-9C23-E04E60A14384}" type="slidenum">
              <a:rPr lang="en-IE" smtClean="0"/>
              <a:t>‹#›</a:t>
            </a:fld>
            <a:endParaRPr lang="en-IE"/>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086976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blackwasp.co.uk/gofpatterns.aspx"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CD4D8-FDBF-5189-F252-715682F7E5EA}"/>
              </a:ext>
            </a:extLst>
          </p:cNvPr>
          <p:cNvSpPr>
            <a:spLocks noGrp="1"/>
          </p:cNvSpPr>
          <p:nvPr>
            <p:ph type="ctrTitle"/>
          </p:nvPr>
        </p:nvSpPr>
        <p:spPr/>
        <p:txBody>
          <a:bodyPr/>
          <a:lstStyle/>
          <a:p>
            <a:r>
              <a:rPr lang="en-IE" dirty="0"/>
              <a:t>Web Patterns</a:t>
            </a:r>
          </a:p>
        </p:txBody>
      </p:sp>
      <p:sp>
        <p:nvSpPr>
          <p:cNvPr id="3" name="Subtitle 2">
            <a:extLst>
              <a:ext uri="{FF2B5EF4-FFF2-40B4-BE49-F238E27FC236}">
                <a16:creationId xmlns:a16="http://schemas.microsoft.com/office/drawing/2014/main" id="{62626E12-1A78-9D4A-970E-EB47573B6B22}"/>
              </a:ext>
            </a:extLst>
          </p:cNvPr>
          <p:cNvSpPr>
            <a:spLocks noGrp="1"/>
          </p:cNvSpPr>
          <p:nvPr>
            <p:ph type="subTitle" idx="1"/>
          </p:nvPr>
        </p:nvSpPr>
        <p:spPr/>
        <p:txBody>
          <a:bodyPr/>
          <a:lstStyle/>
          <a:p>
            <a:r>
              <a:rPr lang="en-IE" dirty="0"/>
              <a:t>Common Designs and Approaches in Web Applications</a:t>
            </a:r>
          </a:p>
        </p:txBody>
      </p:sp>
    </p:spTree>
    <p:extLst>
      <p:ext uri="{BB962C8B-B14F-4D97-AF65-F5344CB8AC3E}">
        <p14:creationId xmlns:p14="http://schemas.microsoft.com/office/powerpoint/2010/main" val="3530055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2BD03-51B0-3B69-8FC2-D742B703A797}"/>
              </a:ext>
            </a:extLst>
          </p:cNvPr>
          <p:cNvSpPr>
            <a:spLocks noGrp="1"/>
          </p:cNvSpPr>
          <p:nvPr>
            <p:ph type="title"/>
          </p:nvPr>
        </p:nvSpPr>
        <p:spPr/>
        <p:txBody>
          <a:bodyPr/>
          <a:lstStyle/>
          <a:p>
            <a:r>
              <a:rPr lang="en-IE" dirty="0"/>
              <a:t>Course Learning Outcomes</a:t>
            </a:r>
          </a:p>
        </p:txBody>
      </p:sp>
      <p:sp>
        <p:nvSpPr>
          <p:cNvPr id="3" name="Content Placeholder 2">
            <a:extLst>
              <a:ext uri="{FF2B5EF4-FFF2-40B4-BE49-F238E27FC236}">
                <a16:creationId xmlns:a16="http://schemas.microsoft.com/office/drawing/2014/main" id="{A239C3BF-2CED-49C0-2B88-7464926C4453}"/>
              </a:ext>
            </a:extLst>
          </p:cNvPr>
          <p:cNvSpPr>
            <a:spLocks noGrp="1"/>
          </p:cNvSpPr>
          <p:nvPr>
            <p:ph idx="1"/>
          </p:nvPr>
        </p:nvSpPr>
        <p:spPr/>
        <p:txBody>
          <a:bodyPr>
            <a:normAutofit/>
          </a:bodyPr>
          <a:lstStyle/>
          <a:p>
            <a:pPr marL="715518" lvl="1" indent="-514350">
              <a:buFont typeface="+mj-lt"/>
              <a:buAutoNum type="arabicPeriod"/>
            </a:pPr>
            <a:r>
              <a:rPr lang="en-US" sz="3200" dirty="0"/>
              <a:t>Write, test, and deploy technologies for database connectivity in a web application.</a:t>
            </a:r>
          </a:p>
          <a:p>
            <a:pPr marL="715518" lvl="1" indent="-514350">
              <a:buFont typeface="+mj-lt"/>
              <a:buAutoNum type="arabicPeriod"/>
            </a:pPr>
            <a:endParaRPr lang="en-US" sz="3200" dirty="0"/>
          </a:p>
          <a:p>
            <a:pPr marL="715518" lvl="1" indent="-514350">
              <a:buFont typeface="+mj-lt"/>
              <a:buAutoNum type="arabicPeriod"/>
            </a:pPr>
            <a:r>
              <a:rPr lang="en-US" sz="3200" dirty="0"/>
              <a:t>Apply patterns to integrate small 3-tier web applications.</a:t>
            </a:r>
          </a:p>
          <a:p>
            <a:pPr marL="715518" lvl="1" indent="-514350">
              <a:buFont typeface="+mj-lt"/>
              <a:buAutoNum type="arabicPeriod"/>
            </a:pPr>
            <a:endParaRPr lang="en-US" sz="3200" dirty="0"/>
          </a:p>
          <a:p>
            <a:pPr marL="715518" lvl="1" indent="-514350">
              <a:buFont typeface="+mj-lt"/>
              <a:buAutoNum type="arabicPeriod"/>
            </a:pPr>
            <a:r>
              <a:rPr lang="en-US" sz="3200" dirty="0"/>
              <a:t>Work as part of a development team.</a:t>
            </a:r>
            <a:endParaRPr lang="en-IE" sz="3200" dirty="0"/>
          </a:p>
        </p:txBody>
      </p:sp>
    </p:spTree>
    <p:extLst>
      <p:ext uri="{BB962C8B-B14F-4D97-AF65-F5344CB8AC3E}">
        <p14:creationId xmlns:p14="http://schemas.microsoft.com/office/powerpoint/2010/main" val="41493867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EC09D-186B-0F83-A741-7C634A3E865A}"/>
              </a:ext>
            </a:extLst>
          </p:cNvPr>
          <p:cNvSpPr>
            <a:spLocks noGrp="1"/>
          </p:cNvSpPr>
          <p:nvPr>
            <p:ph type="title"/>
          </p:nvPr>
        </p:nvSpPr>
        <p:spPr/>
        <p:txBody>
          <a:bodyPr/>
          <a:lstStyle/>
          <a:p>
            <a:r>
              <a:rPr lang="en-IE" dirty="0"/>
              <a:t>Course Aims – What You’ll Learn (Hopefully!)</a:t>
            </a:r>
          </a:p>
        </p:txBody>
      </p:sp>
      <p:sp>
        <p:nvSpPr>
          <p:cNvPr id="3" name="Content Placeholder 2">
            <a:extLst>
              <a:ext uri="{FF2B5EF4-FFF2-40B4-BE49-F238E27FC236}">
                <a16:creationId xmlns:a16="http://schemas.microsoft.com/office/drawing/2014/main" id="{90D61452-92AD-D0E7-F685-1A287E934CDE}"/>
              </a:ext>
            </a:extLst>
          </p:cNvPr>
          <p:cNvSpPr>
            <a:spLocks noGrp="1"/>
          </p:cNvSpPr>
          <p:nvPr>
            <p:ph idx="1"/>
          </p:nvPr>
        </p:nvSpPr>
        <p:spPr/>
        <p:txBody>
          <a:bodyPr>
            <a:normAutofit fontScale="85000" lnSpcReduction="20000"/>
          </a:bodyPr>
          <a:lstStyle/>
          <a:p>
            <a:pPr lvl="1"/>
            <a:r>
              <a:rPr lang="en-IE" sz="3200" dirty="0"/>
              <a:t>Manipulating information from a database via DAOs</a:t>
            </a:r>
          </a:p>
          <a:p>
            <a:pPr lvl="2"/>
            <a:r>
              <a:rPr lang="en-IE" sz="2200" i="1" dirty="0"/>
              <a:t>Technologies: JDBC, Spring framework</a:t>
            </a:r>
          </a:p>
          <a:p>
            <a:pPr lvl="1"/>
            <a:r>
              <a:rPr lang="en-IE" sz="3200" dirty="0"/>
              <a:t>Creating &amp; consuming REST services</a:t>
            </a:r>
          </a:p>
          <a:p>
            <a:pPr lvl="2"/>
            <a:r>
              <a:rPr lang="en-IE" sz="2200" i="1" dirty="0"/>
              <a:t>Technologies: Java, Spring framework</a:t>
            </a:r>
          </a:p>
          <a:p>
            <a:pPr lvl="1"/>
            <a:r>
              <a:rPr lang="en-IE" sz="3200" dirty="0"/>
              <a:t>Writing and running web applications</a:t>
            </a:r>
          </a:p>
          <a:p>
            <a:pPr lvl="2"/>
            <a:r>
              <a:rPr lang="en-IE" sz="2400" i="1" dirty="0"/>
              <a:t>Technologies: Java, Spring framework</a:t>
            </a:r>
          </a:p>
          <a:p>
            <a:pPr lvl="1"/>
            <a:r>
              <a:rPr lang="en-IE" sz="3200" dirty="0"/>
              <a:t>Appropriately testing all code</a:t>
            </a:r>
          </a:p>
          <a:p>
            <a:pPr lvl="2"/>
            <a:r>
              <a:rPr lang="en-IE" sz="2200" i="1" dirty="0"/>
              <a:t>Technologies: Junit, Mockito, Selenium</a:t>
            </a:r>
          </a:p>
          <a:p>
            <a:pPr lvl="1"/>
            <a:r>
              <a:rPr lang="en-IE" sz="3200" dirty="0"/>
              <a:t>Understanding and implementing appropriate software design patterns</a:t>
            </a:r>
          </a:p>
          <a:p>
            <a:pPr lvl="1"/>
            <a:r>
              <a:rPr lang="en-IE" sz="3200" dirty="0"/>
              <a:t>Working effectively in a team</a:t>
            </a:r>
          </a:p>
          <a:p>
            <a:pPr lvl="2"/>
            <a:r>
              <a:rPr lang="en-IE" sz="2200" i="1" dirty="0"/>
              <a:t>Technologies: Source control (git), project management (Jira, Confluence)</a:t>
            </a:r>
          </a:p>
          <a:p>
            <a:pPr lvl="2"/>
            <a:endParaRPr lang="en-IE" sz="2800" dirty="0"/>
          </a:p>
        </p:txBody>
      </p:sp>
    </p:spTree>
    <p:extLst>
      <p:ext uri="{BB962C8B-B14F-4D97-AF65-F5344CB8AC3E}">
        <p14:creationId xmlns:p14="http://schemas.microsoft.com/office/powerpoint/2010/main" val="3384296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B50E8-6BD3-816A-F70B-D2E8AAB0187D}"/>
              </a:ext>
            </a:extLst>
          </p:cNvPr>
          <p:cNvSpPr>
            <a:spLocks noGrp="1"/>
          </p:cNvSpPr>
          <p:nvPr>
            <p:ph type="title"/>
          </p:nvPr>
        </p:nvSpPr>
        <p:spPr/>
        <p:txBody>
          <a:bodyPr/>
          <a:lstStyle/>
          <a:p>
            <a:r>
              <a:rPr lang="en-IE" dirty="0"/>
              <a:t>Assessment</a:t>
            </a:r>
          </a:p>
        </p:txBody>
      </p:sp>
      <p:sp>
        <p:nvSpPr>
          <p:cNvPr id="3" name="Content Placeholder 2">
            <a:extLst>
              <a:ext uri="{FF2B5EF4-FFF2-40B4-BE49-F238E27FC236}">
                <a16:creationId xmlns:a16="http://schemas.microsoft.com/office/drawing/2014/main" id="{8D03BD9C-DD8E-29B4-A138-D89B5C692731}"/>
              </a:ext>
            </a:extLst>
          </p:cNvPr>
          <p:cNvSpPr>
            <a:spLocks noGrp="1"/>
          </p:cNvSpPr>
          <p:nvPr>
            <p:ph idx="1"/>
          </p:nvPr>
        </p:nvSpPr>
        <p:spPr/>
        <p:txBody>
          <a:bodyPr>
            <a:normAutofit/>
          </a:bodyPr>
          <a:lstStyle/>
          <a:p>
            <a:pPr lvl="1"/>
            <a:r>
              <a:rPr lang="en-IE" sz="3200" dirty="0"/>
              <a:t>100% CA module</a:t>
            </a:r>
          </a:p>
          <a:p>
            <a:pPr lvl="1"/>
            <a:endParaRPr lang="en-IE" sz="3200" dirty="0"/>
          </a:p>
          <a:p>
            <a:pPr lvl="1"/>
            <a:r>
              <a:rPr lang="en-IE" sz="3200" dirty="0"/>
              <a:t>CA broken into 3 assessments:</a:t>
            </a:r>
          </a:p>
          <a:p>
            <a:pPr marL="898398" lvl="2" indent="-514350">
              <a:buFont typeface="+mj-lt"/>
              <a:buAutoNum type="arabicPeriod"/>
            </a:pPr>
            <a:r>
              <a:rPr lang="en-IE" sz="2800" dirty="0"/>
              <a:t>Group project – data persistence – 30%</a:t>
            </a:r>
          </a:p>
          <a:p>
            <a:pPr marL="898398" lvl="2" indent="-514350">
              <a:buFont typeface="+mj-lt"/>
              <a:buAutoNum type="arabicPeriod"/>
            </a:pPr>
            <a:r>
              <a:rPr lang="en-IE" sz="2800" dirty="0"/>
              <a:t>Lab exam – web + databases – 30%</a:t>
            </a:r>
          </a:p>
          <a:p>
            <a:pPr marL="898398" lvl="2" indent="-514350">
              <a:buFont typeface="+mj-lt"/>
              <a:buAutoNum type="arabicPeriod"/>
            </a:pPr>
            <a:r>
              <a:rPr lang="en-IE" sz="2800" dirty="0"/>
              <a:t>Group project – web application – 40%</a:t>
            </a:r>
          </a:p>
        </p:txBody>
      </p:sp>
    </p:spTree>
    <p:extLst>
      <p:ext uri="{BB962C8B-B14F-4D97-AF65-F5344CB8AC3E}">
        <p14:creationId xmlns:p14="http://schemas.microsoft.com/office/powerpoint/2010/main" val="1225041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What is a Design Pattern?</a:t>
            </a:r>
          </a:p>
        </p:txBody>
      </p:sp>
      <p:sp>
        <p:nvSpPr>
          <p:cNvPr id="3" name="Content Placeholder 2"/>
          <p:cNvSpPr>
            <a:spLocks noGrp="1"/>
          </p:cNvSpPr>
          <p:nvPr>
            <p:ph idx="1"/>
          </p:nvPr>
        </p:nvSpPr>
        <p:spPr/>
        <p:txBody>
          <a:bodyPr>
            <a:normAutofit lnSpcReduction="10000"/>
          </a:bodyPr>
          <a:lstStyle/>
          <a:p>
            <a:pPr lvl="1"/>
            <a:r>
              <a:rPr lang="en-IE" sz="3200" dirty="0"/>
              <a:t>A pattern is a </a:t>
            </a:r>
            <a:r>
              <a:rPr lang="en-US" sz="3200" dirty="0"/>
              <a:t>solution to a common software problem</a:t>
            </a:r>
          </a:p>
          <a:p>
            <a:pPr lvl="2"/>
            <a:r>
              <a:rPr lang="en-IE" sz="2800" dirty="0"/>
              <a:t>Generalised</a:t>
            </a:r>
            <a:r>
              <a:rPr lang="en-US" sz="2800" dirty="0"/>
              <a:t> solution that can be applied to similar problems in many different </a:t>
            </a:r>
            <a:r>
              <a:rPr lang="en-IE" sz="2800" dirty="0"/>
              <a:t>circumstances</a:t>
            </a:r>
          </a:p>
          <a:p>
            <a:pPr lvl="2"/>
            <a:r>
              <a:rPr lang="en-US" sz="2800" dirty="0"/>
              <a:t>More important to understand the concepts than to </a:t>
            </a:r>
            <a:r>
              <a:rPr lang="en-IE" sz="2800" dirty="0"/>
              <a:t>memorise</a:t>
            </a:r>
            <a:r>
              <a:rPr lang="en-US" sz="2800" dirty="0"/>
              <a:t> a </a:t>
            </a:r>
            <a:r>
              <a:rPr lang="en-IE" sz="2800" dirty="0"/>
              <a:t>specific implementation</a:t>
            </a:r>
          </a:p>
          <a:p>
            <a:pPr lvl="1"/>
            <a:endParaRPr lang="en-US" sz="2400" dirty="0"/>
          </a:p>
          <a:p>
            <a:pPr lvl="1"/>
            <a:r>
              <a:rPr lang="en-US" sz="3200" dirty="0"/>
              <a:t>Patterns give developers a shorthand language to describe their approach</a:t>
            </a:r>
          </a:p>
          <a:p>
            <a:pPr lvl="2"/>
            <a:r>
              <a:rPr lang="en-US" sz="2400" dirty="0"/>
              <a:t>“I was going to combine the factory and command patterns for choosing and activating a user’s action”</a:t>
            </a:r>
            <a:endParaRPr lang="en-IE" sz="2400" dirty="0"/>
          </a:p>
          <a:p>
            <a:pPr lvl="1">
              <a:buFont typeface="Arial" panose="020B0604020202020204" pitchFamily="34" charset="0"/>
              <a:buChar char="•"/>
            </a:pPr>
            <a:endParaRPr lang="en-IE" sz="3200" dirty="0"/>
          </a:p>
        </p:txBody>
      </p:sp>
    </p:spTree>
    <p:extLst>
      <p:ext uri="{BB962C8B-B14F-4D97-AF65-F5344CB8AC3E}">
        <p14:creationId xmlns:p14="http://schemas.microsoft.com/office/powerpoint/2010/main" val="436442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Pattern Categories</a:t>
            </a:r>
          </a:p>
        </p:txBody>
      </p:sp>
      <p:sp>
        <p:nvSpPr>
          <p:cNvPr id="3" name="Content Placeholder 2"/>
          <p:cNvSpPr>
            <a:spLocks noGrp="1"/>
          </p:cNvSpPr>
          <p:nvPr>
            <p:ph idx="1"/>
          </p:nvPr>
        </p:nvSpPr>
        <p:spPr/>
        <p:txBody>
          <a:bodyPr>
            <a:normAutofit/>
          </a:bodyPr>
          <a:lstStyle/>
          <a:p>
            <a:pPr lvl="1"/>
            <a:r>
              <a:rPr lang="en-IE" sz="3200" dirty="0"/>
              <a:t>Three main categories of pattern (as outlined by the Gang of Four)</a:t>
            </a:r>
          </a:p>
          <a:p>
            <a:pPr marL="898398" lvl="2" indent="-514350">
              <a:buFont typeface="+mj-lt"/>
              <a:buAutoNum type="arabicPeriod"/>
            </a:pPr>
            <a:r>
              <a:rPr lang="en-IE" sz="2800" b="1" dirty="0"/>
              <a:t>Creational</a:t>
            </a:r>
            <a:r>
              <a:rPr lang="en-IE" sz="2800" dirty="0"/>
              <a:t> – Controls how objects and groups of objects are created</a:t>
            </a:r>
          </a:p>
          <a:p>
            <a:pPr marL="898398" lvl="2" indent="-514350">
              <a:buFont typeface="+mj-lt"/>
              <a:buAutoNum type="arabicPeriod"/>
            </a:pPr>
            <a:r>
              <a:rPr lang="en-IE" sz="2800" b="1" dirty="0"/>
              <a:t>Structural</a:t>
            </a:r>
            <a:r>
              <a:rPr lang="en-IE" sz="2800" dirty="0"/>
              <a:t> – Controls how classes are structured/related</a:t>
            </a:r>
          </a:p>
          <a:p>
            <a:pPr marL="898398" lvl="2" indent="-514350">
              <a:buFont typeface="+mj-lt"/>
              <a:buAutoNum type="arabicPeriod"/>
            </a:pPr>
            <a:r>
              <a:rPr lang="en-IE" sz="2800" b="1" dirty="0"/>
              <a:t>Behavioural</a:t>
            </a:r>
            <a:r>
              <a:rPr lang="en-IE" sz="2800" dirty="0"/>
              <a:t> – Controls how objects and classes should communicate</a:t>
            </a:r>
          </a:p>
        </p:txBody>
      </p:sp>
      <p:sp>
        <p:nvSpPr>
          <p:cNvPr id="4" name="TextBox 3">
            <a:extLst>
              <a:ext uri="{FF2B5EF4-FFF2-40B4-BE49-F238E27FC236}">
                <a16:creationId xmlns:a16="http://schemas.microsoft.com/office/drawing/2014/main" id="{9B584F7D-6619-E01A-12CD-890033E9C907}"/>
              </a:ext>
            </a:extLst>
          </p:cNvPr>
          <p:cNvSpPr txBox="1"/>
          <p:nvPr/>
        </p:nvSpPr>
        <p:spPr>
          <a:xfrm>
            <a:off x="6617942" y="4871529"/>
            <a:ext cx="4537738" cy="1200329"/>
          </a:xfrm>
          <a:prstGeom prst="rect">
            <a:avLst/>
          </a:prstGeom>
          <a:noFill/>
        </p:spPr>
        <p:txBody>
          <a:bodyPr wrap="square" rtlCol="0">
            <a:spAutoFit/>
          </a:bodyPr>
          <a:lstStyle/>
          <a:p>
            <a:r>
              <a:rPr lang="en-IE" dirty="0"/>
              <a:t>For more info, check out </a:t>
            </a:r>
          </a:p>
          <a:p>
            <a:r>
              <a:rPr lang="en-IE" dirty="0">
                <a:hlinkClick r:id="rId3"/>
              </a:rPr>
              <a:t>http://www.blackwasp.co.uk/gofpatterns.aspx</a:t>
            </a:r>
            <a:endParaRPr lang="en-IE" dirty="0"/>
          </a:p>
          <a:p>
            <a:r>
              <a:rPr lang="en-IE" dirty="0"/>
              <a:t>and</a:t>
            </a:r>
          </a:p>
          <a:p>
            <a:r>
              <a:rPr lang="en-IE" dirty="0"/>
              <a:t>https://refactoring.guru/design-patterns/</a:t>
            </a:r>
          </a:p>
        </p:txBody>
      </p:sp>
    </p:spTree>
    <p:extLst>
      <p:ext uri="{BB962C8B-B14F-4D97-AF65-F5344CB8AC3E}">
        <p14:creationId xmlns:p14="http://schemas.microsoft.com/office/powerpoint/2010/main" val="2861182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Creational Patterns</a:t>
            </a:r>
          </a:p>
        </p:txBody>
      </p:sp>
      <p:sp>
        <p:nvSpPr>
          <p:cNvPr id="3" name="Content Placeholder 2"/>
          <p:cNvSpPr>
            <a:spLocks noGrp="1"/>
          </p:cNvSpPr>
          <p:nvPr>
            <p:ph idx="1"/>
          </p:nvPr>
        </p:nvSpPr>
        <p:spPr/>
        <p:txBody>
          <a:bodyPr>
            <a:normAutofit fontScale="85000" lnSpcReduction="20000"/>
          </a:bodyPr>
          <a:lstStyle/>
          <a:p>
            <a:pPr lvl="1"/>
            <a:r>
              <a:rPr lang="en-IE" sz="3200" dirty="0"/>
              <a:t>Defines how objects should be created</a:t>
            </a:r>
          </a:p>
          <a:p>
            <a:pPr lvl="1"/>
            <a:endParaRPr lang="en-IE" sz="3200" dirty="0"/>
          </a:p>
          <a:p>
            <a:pPr lvl="1"/>
            <a:r>
              <a:rPr lang="en-IE" sz="3200" dirty="0"/>
              <a:t>Example: The Factory pattern</a:t>
            </a:r>
          </a:p>
          <a:p>
            <a:pPr lvl="2"/>
            <a:r>
              <a:rPr lang="en-IE" sz="2800" dirty="0"/>
              <a:t>Factory controls which component is created depending on which option has been selected</a:t>
            </a:r>
          </a:p>
          <a:p>
            <a:pPr lvl="1"/>
            <a:r>
              <a:rPr lang="en-IE" sz="3200" dirty="0"/>
              <a:t>Example in context: </a:t>
            </a:r>
          </a:p>
          <a:p>
            <a:pPr lvl="2"/>
            <a:r>
              <a:rPr lang="en-IE" sz="2800" dirty="0"/>
              <a:t>Factory employed by servlet to decide which command action to run based on which action variable value has been supplied by the user.</a:t>
            </a:r>
          </a:p>
          <a:p>
            <a:pPr lvl="1"/>
            <a:endParaRPr lang="en-IE" sz="3200" dirty="0"/>
          </a:p>
          <a:p>
            <a:pPr lvl="1"/>
            <a:r>
              <a:rPr lang="en-IE" sz="3200" dirty="0"/>
              <a:t>Second example: The Singleton pattern</a:t>
            </a:r>
          </a:p>
          <a:p>
            <a:pPr lvl="2"/>
            <a:r>
              <a:rPr lang="en-IE" sz="2800" dirty="0"/>
              <a:t>Controls how many versions / instances of a specific object can exist</a:t>
            </a:r>
          </a:p>
        </p:txBody>
      </p:sp>
    </p:spTree>
    <p:extLst>
      <p:ext uri="{BB962C8B-B14F-4D97-AF65-F5344CB8AC3E}">
        <p14:creationId xmlns:p14="http://schemas.microsoft.com/office/powerpoint/2010/main" val="3690043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Structural Patterns</a:t>
            </a:r>
          </a:p>
        </p:txBody>
      </p:sp>
      <p:sp>
        <p:nvSpPr>
          <p:cNvPr id="3" name="Content Placeholder 2"/>
          <p:cNvSpPr>
            <a:spLocks noGrp="1"/>
          </p:cNvSpPr>
          <p:nvPr>
            <p:ph idx="1"/>
          </p:nvPr>
        </p:nvSpPr>
        <p:spPr/>
        <p:txBody>
          <a:bodyPr>
            <a:normAutofit fontScale="77500" lnSpcReduction="20000"/>
          </a:bodyPr>
          <a:lstStyle/>
          <a:p>
            <a:pPr lvl="1"/>
            <a:r>
              <a:rPr lang="en-IE" sz="3200" dirty="0"/>
              <a:t>Defines how classes are related/linked</a:t>
            </a:r>
          </a:p>
          <a:p>
            <a:pPr lvl="2"/>
            <a:r>
              <a:rPr lang="en-IE" sz="2800" dirty="0"/>
              <a:t>Often uses inheritance, abstract classes and interfaces to create links.</a:t>
            </a:r>
          </a:p>
          <a:p>
            <a:pPr lvl="1"/>
            <a:r>
              <a:rPr lang="en-IE" sz="3200" dirty="0"/>
              <a:t>Example: The Façade Pattern</a:t>
            </a:r>
          </a:p>
          <a:p>
            <a:pPr lvl="2"/>
            <a:r>
              <a:rPr lang="en-IE" sz="2800" dirty="0"/>
              <a:t>Provides a simple interface to a more complicated sub-system</a:t>
            </a:r>
          </a:p>
          <a:p>
            <a:pPr lvl="1"/>
            <a:r>
              <a:rPr lang="en-IE" sz="3200" dirty="0"/>
              <a:t>Example in context: </a:t>
            </a:r>
          </a:p>
          <a:p>
            <a:pPr lvl="2"/>
            <a:r>
              <a:rPr lang="en-IE" sz="2800" dirty="0" err="1"/>
              <a:t>borrowBook</a:t>
            </a:r>
            <a:r>
              <a:rPr lang="en-IE" sz="2800" dirty="0"/>
              <a:t>(Book b, User u) would use the Book, Loan and User DAOs to check the availability of the book, check the status of the user, decrease the number of available copies and add the loan to the user’s record.</a:t>
            </a:r>
          </a:p>
          <a:p>
            <a:pPr lvl="2"/>
            <a:endParaRPr lang="en-IE" sz="2800" dirty="0"/>
          </a:p>
          <a:p>
            <a:pPr lvl="1"/>
            <a:r>
              <a:rPr lang="en-IE" sz="3200" dirty="0"/>
              <a:t>Alternative example:</a:t>
            </a:r>
          </a:p>
          <a:p>
            <a:pPr lvl="2"/>
            <a:r>
              <a:rPr lang="en-IE" sz="2800" dirty="0" err="1"/>
              <a:t>HomeTheatre</a:t>
            </a:r>
            <a:r>
              <a:rPr lang="en-IE" sz="2800" dirty="0"/>
              <a:t> class providing methods to control all of the various entertainment class components (e.g. </a:t>
            </a:r>
            <a:r>
              <a:rPr lang="en-IE" sz="2800" dirty="0" err="1"/>
              <a:t>powerOn</a:t>
            </a:r>
            <a:r>
              <a:rPr lang="en-IE" sz="2800" dirty="0"/>
              <a:t> would turn on the sound system, </a:t>
            </a:r>
            <a:r>
              <a:rPr lang="en-IE" sz="2800" dirty="0" err="1"/>
              <a:t>tv</a:t>
            </a:r>
            <a:r>
              <a:rPr lang="en-IE" sz="2800" dirty="0"/>
              <a:t>, satellite </a:t>
            </a:r>
            <a:r>
              <a:rPr lang="en-IE" sz="2800" dirty="0" err="1"/>
              <a:t>etc</a:t>
            </a:r>
            <a:r>
              <a:rPr lang="en-IE" sz="2800" dirty="0"/>
              <a:t>)</a:t>
            </a:r>
            <a:endParaRPr lang="en-IE" sz="3200" dirty="0"/>
          </a:p>
        </p:txBody>
      </p:sp>
    </p:spTree>
    <p:extLst>
      <p:ext uri="{BB962C8B-B14F-4D97-AF65-F5344CB8AC3E}">
        <p14:creationId xmlns:p14="http://schemas.microsoft.com/office/powerpoint/2010/main" val="515562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Behavioural Patterns</a:t>
            </a:r>
          </a:p>
        </p:txBody>
      </p:sp>
      <p:sp>
        <p:nvSpPr>
          <p:cNvPr id="3" name="Content Placeholder 2"/>
          <p:cNvSpPr>
            <a:spLocks noGrp="1"/>
          </p:cNvSpPr>
          <p:nvPr>
            <p:ph idx="1"/>
          </p:nvPr>
        </p:nvSpPr>
        <p:spPr/>
        <p:txBody>
          <a:bodyPr>
            <a:normAutofit fontScale="70000" lnSpcReduction="20000"/>
          </a:bodyPr>
          <a:lstStyle/>
          <a:p>
            <a:pPr lvl="1"/>
            <a:r>
              <a:rPr lang="en-IE" sz="3200" dirty="0"/>
              <a:t>Defines how classes/objects communicate with each other</a:t>
            </a:r>
          </a:p>
          <a:p>
            <a:pPr lvl="1"/>
            <a:endParaRPr lang="en-IE" sz="3200" dirty="0"/>
          </a:p>
          <a:p>
            <a:pPr lvl="1"/>
            <a:r>
              <a:rPr lang="en-IE" sz="3200" dirty="0"/>
              <a:t>Example: The Command Pattern</a:t>
            </a:r>
          </a:p>
          <a:p>
            <a:pPr lvl="2"/>
            <a:r>
              <a:rPr lang="en-IE" sz="2800" dirty="0"/>
              <a:t>Encapsulates a request for a specific action along with all supplied information as a single object.</a:t>
            </a:r>
          </a:p>
          <a:p>
            <a:pPr lvl="2"/>
            <a:r>
              <a:rPr lang="en-IE" sz="2800" dirty="0"/>
              <a:t>Useful for games and applications where “undo” is a desired feature</a:t>
            </a:r>
          </a:p>
          <a:p>
            <a:pPr lvl="1"/>
            <a:r>
              <a:rPr lang="en-IE" sz="3200" dirty="0"/>
              <a:t>Example in content:</a:t>
            </a:r>
          </a:p>
          <a:p>
            <a:pPr lvl="2"/>
            <a:r>
              <a:rPr lang="en-IE" sz="2800" dirty="0"/>
              <a:t>User wishes to login and supplies a request for this action, including their credential information. The login action is modelled as a </a:t>
            </a:r>
            <a:r>
              <a:rPr lang="en-IE" sz="2800" dirty="0" err="1"/>
              <a:t>LoginCommand</a:t>
            </a:r>
            <a:r>
              <a:rPr lang="en-IE" sz="2800" dirty="0"/>
              <a:t> object.</a:t>
            </a:r>
          </a:p>
          <a:p>
            <a:pPr lvl="1"/>
            <a:endParaRPr lang="en-IE" sz="3200" dirty="0"/>
          </a:p>
          <a:p>
            <a:pPr lvl="1"/>
            <a:r>
              <a:rPr lang="en-IE" sz="3200" dirty="0"/>
              <a:t>Second example in context: </a:t>
            </a:r>
          </a:p>
          <a:p>
            <a:pPr lvl="2"/>
            <a:r>
              <a:rPr lang="en-IE" sz="2800" dirty="0"/>
              <a:t>User of a card game wishes to draw a new card. The draw action is modelled as a </a:t>
            </a:r>
            <a:r>
              <a:rPr lang="en-IE" sz="2800" dirty="0" err="1"/>
              <a:t>DrawCardCommand</a:t>
            </a:r>
            <a:r>
              <a:rPr lang="en-IE" sz="2800" dirty="0"/>
              <a:t> object, and is supplied the user’s current score, the current list of discarded cards plus the current list of visible cards and their positions as parameters.</a:t>
            </a:r>
          </a:p>
          <a:p>
            <a:pPr lvl="1"/>
            <a:endParaRPr lang="en-IE" sz="3200" dirty="0"/>
          </a:p>
        </p:txBody>
      </p:sp>
    </p:spTree>
    <p:extLst>
      <p:ext uri="{BB962C8B-B14F-4D97-AF65-F5344CB8AC3E}">
        <p14:creationId xmlns:p14="http://schemas.microsoft.com/office/powerpoint/2010/main" val="2769775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Plusses and Minuses, </a:t>
            </a:r>
            <a:br>
              <a:rPr lang="en-IE" dirty="0"/>
            </a:br>
            <a:r>
              <a:rPr lang="en-IE" dirty="0"/>
              <a:t>AKA Truth and Consequences</a:t>
            </a:r>
          </a:p>
        </p:txBody>
      </p:sp>
      <p:sp>
        <p:nvSpPr>
          <p:cNvPr id="3" name="Content Placeholder 2"/>
          <p:cNvSpPr>
            <a:spLocks noGrp="1"/>
          </p:cNvSpPr>
          <p:nvPr>
            <p:ph idx="1"/>
          </p:nvPr>
        </p:nvSpPr>
        <p:spPr/>
        <p:txBody>
          <a:bodyPr>
            <a:normAutofit fontScale="85000" lnSpcReduction="20000"/>
          </a:bodyPr>
          <a:lstStyle/>
          <a:p>
            <a:pPr lvl="1"/>
            <a:r>
              <a:rPr lang="en-IE" sz="3200" dirty="0"/>
              <a:t>Patterns come with many benefits</a:t>
            </a:r>
          </a:p>
          <a:p>
            <a:pPr lvl="2"/>
            <a:r>
              <a:rPr lang="en-IE" sz="2800" dirty="0"/>
              <a:t>Increase the maintainability of your design</a:t>
            </a:r>
          </a:p>
          <a:p>
            <a:pPr lvl="2"/>
            <a:r>
              <a:rPr lang="en-IE" sz="2800" dirty="0"/>
              <a:t>Increase the </a:t>
            </a:r>
            <a:r>
              <a:rPr lang="en-IE" sz="2800" dirty="0" err="1"/>
              <a:t>understandability</a:t>
            </a:r>
            <a:r>
              <a:rPr lang="en-IE" sz="2800" dirty="0"/>
              <a:t> of your design</a:t>
            </a:r>
          </a:p>
          <a:p>
            <a:pPr lvl="2"/>
            <a:r>
              <a:rPr lang="en-IE" sz="2800" dirty="0"/>
              <a:t>Ease conversation and discussion of your design among your development team</a:t>
            </a:r>
          </a:p>
          <a:p>
            <a:pPr lvl="2"/>
            <a:endParaRPr lang="en-IE" sz="2800" dirty="0"/>
          </a:p>
          <a:p>
            <a:pPr lvl="1"/>
            <a:r>
              <a:rPr lang="en-IE" sz="3200" dirty="0"/>
              <a:t>They also have many negatives</a:t>
            </a:r>
          </a:p>
          <a:p>
            <a:pPr lvl="2"/>
            <a:r>
              <a:rPr lang="en-IE" sz="2800" dirty="0"/>
              <a:t>Increase the amount of code (patterns often require many extra classes and lines of code to be written)</a:t>
            </a:r>
          </a:p>
          <a:p>
            <a:pPr lvl="2"/>
            <a:r>
              <a:rPr lang="en-IE" sz="2800" dirty="0"/>
              <a:t>Increase the overall complexity of your code</a:t>
            </a:r>
          </a:p>
          <a:p>
            <a:pPr lvl="2"/>
            <a:r>
              <a:rPr lang="en-IE" sz="2800" dirty="0"/>
              <a:t>Can increase the cost of running your code (more code to be executed, more time taken)</a:t>
            </a:r>
          </a:p>
        </p:txBody>
      </p:sp>
    </p:spTree>
    <p:extLst>
      <p:ext uri="{BB962C8B-B14F-4D97-AF65-F5344CB8AC3E}">
        <p14:creationId xmlns:p14="http://schemas.microsoft.com/office/powerpoint/2010/main" val="2968445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Final Thoughts</a:t>
            </a:r>
          </a:p>
        </p:txBody>
      </p:sp>
      <p:sp>
        <p:nvSpPr>
          <p:cNvPr id="3" name="Content Placeholder 2"/>
          <p:cNvSpPr>
            <a:spLocks noGrp="1"/>
          </p:cNvSpPr>
          <p:nvPr>
            <p:ph idx="1"/>
          </p:nvPr>
        </p:nvSpPr>
        <p:spPr/>
        <p:txBody>
          <a:bodyPr>
            <a:normAutofit fontScale="92500" lnSpcReduction="20000"/>
          </a:bodyPr>
          <a:lstStyle/>
          <a:p>
            <a:pPr lvl="1"/>
            <a:r>
              <a:rPr lang="en-IE" sz="3200" dirty="0"/>
              <a:t>The bottom line: Patterns can be great when they are applied </a:t>
            </a:r>
            <a:r>
              <a:rPr lang="en-IE" sz="3200" b="1" u="sng" dirty="0"/>
              <a:t>logically</a:t>
            </a:r>
            <a:r>
              <a:rPr lang="en-IE" sz="3200" dirty="0"/>
              <a:t>. </a:t>
            </a:r>
          </a:p>
          <a:p>
            <a:pPr lvl="1"/>
            <a:endParaRPr lang="en-IE" sz="3200" dirty="0"/>
          </a:p>
          <a:p>
            <a:pPr lvl="1"/>
            <a:r>
              <a:rPr lang="en-IE" sz="3200" dirty="0"/>
              <a:t>Patterns </a:t>
            </a:r>
            <a:r>
              <a:rPr lang="en-IE" sz="3200" u="sng" dirty="0"/>
              <a:t>do not fit </a:t>
            </a:r>
            <a:r>
              <a:rPr lang="en-IE" sz="3200" dirty="0"/>
              <a:t>everywhere </a:t>
            </a:r>
          </a:p>
          <a:p>
            <a:pPr lvl="1"/>
            <a:endParaRPr lang="en-IE" sz="3200" dirty="0"/>
          </a:p>
          <a:p>
            <a:pPr lvl="1"/>
            <a:r>
              <a:rPr lang="en-IE" sz="3200" dirty="0"/>
              <a:t>Patterns shouldn’t be used </a:t>
            </a:r>
            <a:r>
              <a:rPr lang="en-IE" sz="3200" u="sng" dirty="0"/>
              <a:t>everywhere</a:t>
            </a:r>
            <a:r>
              <a:rPr lang="en-IE" sz="3200" dirty="0"/>
              <a:t>.</a:t>
            </a:r>
          </a:p>
          <a:p>
            <a:pPr lvl="1"/>
            <a:endParaRPr lang="en-IE" sz="3200" dirty="0"/>
          </a:p>
          <a:p>
            <a:pPr lvl="1"/>
            <a:r>
              <a:rPr lang="en-IE" sz="3200" dirty="0"/>
              <a:t>Patterns are often best included during </a:t>
            </a:r>
            <a:r>
              <a:rPr lang="en-IE" sz="3200" u="sng" dirty="0"/>
              <a:t>refactoring</a:t>
            </a:r>
          </a:p>
          <a:p>
            <a:pPr lvl="2"/>
            <a:r>
              <a:rPr lang="en-IE" sz="2800" dirty="0"/>
              <a:t>When refactoring, you can analyse your system on a larger scale and may spot potentially suitable situations for pattern use.</a:t>
            </a:r>
          </a:p>
        </p:txBody>
      </p:sp>
    </p:spTree>
    <p:extLst>
      <p:ext uri="{BB962C8B-B14F-4D97-AF65-F5344CB8AC3E}">
        <p14:creationId xmlns:p14="http://schemas.microsoft.com/office/powerpoint/2010/main" val="1964918074"/>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364</TotalTime>
  <Words>791</Words>
  <Application>Microsoft Office PowerPoint</Application>
  <PresentationFormat>Widescreen</PresentationFormat>
  <Paragraphs>101</Paragraphs>
  <Slides>11</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Retrospect</vt:lpstr>
      <vt:lpstr>Web Patterns</vt:lpstr>
      <vt:lpstr>Course Learning Outcomes</vt:lpstr>
      <vt:lpstr>Course Aims – What You’ll Learn (Hopefully!)</vt:lpstr>
      <vt:lpstr>Assessment</vt:lpstr>
      <vt:lpstr>What is a Design Pattern?</vt:lpstr>
      <vt:lpstr>Pattern Categories</vt:lpstr>
      <vt:lpstr>Creational Patterns</vt:lpstr>
      <vt:lpstr>Structural Patterns</vt:lpstr>
      <vt:lpstr>Behavioural Patterns</vt:lpstr>
      <vt:lpstr>Plusses and Minuses,  AKA Truth and Consequences</vt:lpstr>
      <vt:lpstr>Final Thoughts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Patterns</dc:title>
  <dc:creator>Michelle Graham</dc:creator>
  <cp:lastModifiedBy>Michelle Graham</cp:lastModifiedBy>
  <cp:revision>5</cp:revision>
  <dcterms:created xsi:type="dcterms:W3CDTF">2023-09-16T17:31:10Z</dcterms:created>
  <dcterms:modified xsi:type="dcterms:W3CDTF">2026-09-08T22:20:02Z</dcterms:modified>
</cp:coreProperties>
</file>