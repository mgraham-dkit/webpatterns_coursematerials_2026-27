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61" r:id="rId1"/>
  </p:sldMasterIdLst>
  <p:sldIdLst>
    <p:sldId id="256" r:id="rId2"/>
    <p:sldId id="257" r:id="rId3"/>
    <p:sldId id="259" r:id="rId4"/>
    <p:sldId id="260" r:id="rId5"/>
    <p:sldId id="261" r:id="rId6"/>
    <p:sldId id="258" r:id="rId7"/>
    <p:sldId id="265" r:id="rId8"/>
    <p:sldId id="262" r:id="rId9"/>
    <p:sldId id="263" r:id="rId10"/>
    <p:sldId id="264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6" autoAdjust="0"/>
    <p:restoredTop sz="94660"/>
  </p:normalViewPr>
  <p:slideViewPr>
    <p:cSldViewPr snapToGrid="0">
      <p:cViewPr varScale="1">
        <p:scale>
          <a:sx n="88" d="100"/>
          <a:sy n="88" d="100"/>
        </p:scale>
        <p:origin x="255" y="5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" y="6334316"/>
            <a:ext cx="12192000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1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DF68E2-58F2-4D09-BE8B-E3BD06533059}" type="datetimeFigureOut">
              <a:rPr lang="en-US" smtClean="0"/>
              <a:t>9/20/2022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511482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8FC5F6-F338-4AE4-BB23-26385BCFC423}" type="datetimeFigureOut">
              <a:rPr lang="en-US" smtClean="0"/>
              <a:t>9/20/2022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671739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EBB0C4-6273-4C6E-B9BD-2EDC30F1CD52}" type="datetimeFigureOut">
              <a:rPr lang="en-US" smtClean="0"/>
              <a:t>9/20/2022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024508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80" y="1845734"/>
            <a:ext cx="4937760" cy="4023359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AB4D41-86C1-4908-B66A-0B50CEB3BF29}" type="datetimeFigureOut">
              <a:rPr lang="en-US" smtClean="0"/>
              <a:t>9/20/2022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813397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5"/>
            <a:ext cx="4937760" cy="328676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28676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426E2C-56C1-4E0D-A793-0088A7FDD37E}" type="datetimeFigureOut">
              <a:rPr lang="en-US" smtClean="0"/>
              <a:t>9/20/2022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0898758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C39B41-D8B5-4052-B551-9B5525EAA8B6}" type="datetimeFigureOut">
              <a:rPr lang="en-US" smtClean="0"/>
              <a:t>9/20/2022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098131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94136C-8742-45B2-AF27-D93DF72833A9}" type="datetimeFigureOut">
              <a:rPr lang="en-US" smtClean="0"/>
              <a:t>9/20/2022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777978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32ABBEA6-7C60-4B02-AE87-00D78D8422AF}" type="datetimeFigureOut">
              <a:rPr lang="en-US" smtClean="0"/>
              <a:t>9/20/2022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948558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645" cy="822960"/>
          </a:xfrm>
        </p:spPr>
        <p:txBody>
          <a:bodyPr tIns="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solidFill>
            <a:schemeClr val="bg2">
              <a:lumMod val="90000"/>
            </a:schemeClr>
          </a:solidFill>
        </p:spPr>
        <p:txBody>
          <a:bodyPr lIns="457200" tIns="45720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4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CAD897-D46E-4AD2-BD9B-49DD3E640873}" type="datetimeFigureOut">
              <a:rPr lang="en-US" smtClean="0"/>
              <a:t>9/20/2022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5590613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2D6473-DF6D-4702-B328-E0DD40540A4E}" type="datetimeFigureOut">
              <a:rPr lang="en-US" smtClean="0"/>
              <a:t>9/20/2022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560554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2302"/>
            <a:ext cx="2628900" cy="575989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2302"/>
            <a:ext cx="7734300" cy="5759898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6F7E3A-B166-407D-9866-32884E7D5B37}" type="datetimeFigureOut">
              <a:rPr lang="en-US" smtClean="0"/>
              <a:t>9/20/2022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959877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98624D31-43A5-475A-80CF-332C9F6DCF35}" type="datetimeFigureOut">
              <a:rPr lang="en-US" smtClean="0"/>
              <a:t>9/20/2022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308194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</p:sldLayoutIdLst>
  <p:hf sldNum="0" hdr="0" ftr="0" dt="0"/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E" dirty="0" err="1"/>
              <a:t>JavaDocs</a:t>
            </a:r>
            <a:endParaRPr lang="en-IE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IE" dirty="0"/>
              <a:t>Creating Comprehensive Codebase documentation</a:t>
            </a:r>
          </a:p>
        </p:txBody>
      </p:sp>
    </p:spTree>
    <p:extLst>
      <p:ext uri="{BB962C8B-B14F-4D97-AF65-F5344CB8AC3E}">
        <p14:creationId xmlns:p14="http://schemas.microsoft.com/office/powerpoint/2010/main" val="391049082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What are </a:t>
            </a:r>
            <a:r>
              <a:rPr lang="en-IE" dirty="0" err="1"/>
              <a:t>JavaDocs</a:t>
            </a:r>
            <a:r>
              <a:rPr lang="en-IE" dirty="0"/>
              <a:t>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1"/>
            <a:r>
              <a:rPr lang="en-IE" sz="3200" dirty="0" err="1"/>
              <a:t>JavaDocs</a:t>
            </a:r>
            <a:r>
              <a:rPr lang="en-IE" sz="3200" dirty="0"/>
              <a:t> are comments written using a specific format that you include in your Java class </a:t>
            </a:r>
          </a:p>
          <a:p>
            <a:pPr lvl="1"/>
            <a:r>
              <a:rPr lang="en-IE" sz="3200" dirty="0"/>
              <a:t>These comments can then be used by a </a:t>
            </a:r>
            <a:r>
              <a:rPr lang="en-IE" sz="3200" dirty="0" err="1"/>
              <a:t>JavaDoc</a:t>
            </a:r>
            <a:r>
              <a:rPr lang="en-IE" sz="3200" dirty="0"/>
              <a:t> compiler to generate an API for that class</a:t>
            </a:r>
          </a:p>
          <a:p>
            <a:pPr lvl="1"/>
            <a:endParaRPr lang="en-IE" sz="3200" dirty="0"/>
          </a:p>
          <a:p>
            <a:pPr lvl="1"/>
            <a:endParaRPr lang="en-IE" sz="3200" dirty="0"/>
          </a:p>
          <a:p>
            <a:pPr lvl="1"/>
            <a:r>
              <a:rPr lang="en-IE" sz="3200" dirty="0"/>
              <a:t>Example of </a:t>
            </a:r>
            <a:r>
              <a:rPr lang="en-IE" sz="3200" dirty="0" err="1"/>
              <a:t>JavaDocs</a:t>
            </a:r>
            <a:r>
              <a:rPr lang="en-IE" sz="3200" dirty="0"/>
              <a:t>: The Java online API</a:t>
            </a:r>
          </a:p>
        </p:txBody>
      </p:sp>
    </p:spTree>
    <p:extLst>
      <p:ext uri="{BB962C8B-B14F-4D97-AF65-F5344CB8AC3E}">
        <p14:creationId xmlns:p14="http://schemas.microsoft.com/office/powerpoint/2010/main" val="319189863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Where are </a:t>
            </a:r>
            <a:r>
              <a:rPr lang="en-IE" dirty="0" err="1"/>
              <a:t>JavaDocs</a:t>
            </a:r>
            <a:r>
              <a:rPr lang="en-IE" dirty="0"/>
              <a:t> Written?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1"/>
            <a:r>
              <a:rPr lang="en-IE" sz="3200" dirty="0" err="1"/>
              <a:t>JavaDocs</a:t>
            </a:r>
            <a:r>
              <a:rPr lang="en-IE" sz="3200" dirty="0"/>
              <a:t> are written in two main locations:</a:t>
            </a:r>
          </a:p>
          <a:p>
            <a:pPr lvl="2"/>
            <a:r>
              <a:rPr lang="en-IE" sz="2800" dirty="0"/>
              <a:t>Above a class signature (class comment)</a:t>
            </a:r>
          </a:p>
          <a:p>
            <a:pPr lvl="2"/>
            <a:r>
              <a:rPr lang="en-IE" sz="2800" dirty="0"/>
              <a:t>Above a method signature (method comment)</a:t>
            </a:r>
          </a:p>
          <a:p>
            <a:pPr lvl="2"/>
            <a:endParaRPr lang="en-IE" sz="2800" dirty="0"/>
          </a:p>
          <a:p>
            <a:pPr lvl="1"/>
            <a:r>
              <a:rPr lang="en-IE" sz="3200" dirty="0"/>
              <a:t>Class comments indicate what a class is used for.</a:t>
            </a:r>
          </a:p>
          <a:p>
            <a:pPr lvl="1"/>
            <a:r>
              <a:rPr lang="en-IE" sz="3200" dirty="0"/>
              <a:t>Method comments indicate what a method is used for.</a:t>
            </a:r>
          </a:p>
        </p:txBody>
      </p:sp>
    </p:spTree>
    <p:extLst>
      <p:ext uri="{BB962C8B-B14F-4D97-AF65-F5344CB8AC3E}">
        <p14:creationId xmlns:p14="http://schemas.microsoft.com/office/powerpoint/2010/main" val="128326405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What is the Format of a </a:t>
            </a:r>
            <a:r>
              <a:rPr lang="en-IE" dirty="0" err="1"/>
              <a:t>JavaDoc</a:t>
            </a:r>
            <a:r>
              <a:rPr lang="en-IE" dirty="0"/>
              <a:t> Comment?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 lvl="1"/>
            <a:r>
              <a:rPr lang="en-IE" sz="3200" dirty="0"/>
              <a:t>All </a:t>
            </a:r>
            <a:r>
              <a:rPr lang="en-IE" sz="3200" dirty="0" err="1"/>
              <a:t>JavaDoc</a:t>
            </a:r>
            <a:r>
              <a:rPr lang="en-IE" sz="3200" dirty="0"/>
              <a:t> comments work should be structured around the same basic format:</a:t>
            </a:r>
          </a:p>
          <a:p>
            <a:pPr lvl="1"/>
            <a:endParaRPr lang="en-IE" sz="3200" dirty="0"/>
          </a:p>
          <a:p>
            <a:pPr marL="898398" lvl="2" indent="-514350">
              <a:buFont typeface="+mj-lt"/>
              <a:buAutoNum type="arabicPeriod"/>
            </a:pPr>
            <a:r>
              <a:rPr lang="en-IE" sz="2800" dirty="0"/>
              <a:t>Open </a:t>
            </a:r>
            <a:r>
              <a:rPr lang="en-IE" sz="2800" dirty="0" err="1"/>
              <a:t>JavaDoc</a:t>
            </a:r>
            <a:r>
              <a:rPr lang="en-IE" sz="2800" dirty="0"/>
              <a:t> comment block using /**</a:t>
            </a:r>
          </a:p>
          <a:p>
            <a:pPr marL="898398" lvl="2" indent="-514350">
              <a:buFont typeface="+mj-lt"/>
              <a:buAutoNum type="arabicPeriod"/>
            </a:pPr>
            <a:r>
              <a:rPr lang="en-IE" sz="2800" dirty="0"/>
              <a:t>Single sentence (terminated with full stop) giving brief summary of the method/class functionality.</a:t>
            </a:r>
          </a:p>
          <a:p>
            <a:pPr marL="898398" lvl="2" indent="-514350">
              <a:buFont typeface="+mj-lt"/>
              <a:buAutoNum type="arabicPeriod"/>
            </a:pPr>
            <a:r>
              <a:rPr lang="en-IE" sz="2800" dirty="0"/>
              <a:t>Paragraph giving longer description of the method/class functionality (using HTML for any formatting you wish to include)</a:t>
            </a:r>
          </a:p>
          <a:p>
            <a:pPr marL="898398" lvl="2" indent="-514350">
              <a:buFont typeface="+mj-lt"/>
              <a:buAutoNum type="arabicPeriod"/>
            </a:pPr>
            <a:r>
              <a:rPr lang="en-IE" sz="2800" dirty="0"/>
              <a:t>Tags detailing specifics of the class/method</a:t>
            </a:r>
          </a:p>
          <a:p>
            <a:pPr marL="898398" lvl="2" indent="-514350">
              <a:buFont typeface="+mj-lt"/>
              <a:buAutoNum type="arabicPeriod"/>
            </a:pPr>
            <a:r>
              <a:rPr lang="en-IE" sz="2800" dirty="0"/>
              <a:t>Close </a:t>
            </a:r>
            <a:r>
              <a:rPr lang="en-IE" sz="2800" dirty="0" err="1"/>
              <a:t>JavaDoc</a:t>
            </a:r>
            <a:r>
              <a:rPr lang="en-IE" sz="2800" dirty="0"/>
              <a:t> block using */</a:t>
            </a:r>
          </a:p>
          <a:p>
            <a:pPr marL="898398" lvl="2" indent="-514350">
              <a:buFont typeface="+mj-lt"/>
              <a:buAutoNum type="arabicPeriod"/>
            </a:pPr>
            <a:endParaRPr lang="en-IE" sz="2800" dirty="0"/>
          </a:p>
          <a:p>
            <a:pPr lvl="1"/>
            <a:r>
              <a:rPr lang="en-IE" sz="3200" dirty="0"/>
              <a:t>Style note: To avoid line wrapping interfering with your comment formatting, make sure to break lines at the 80 character mark.</a:t>
            </a:r>
          </a:p>
        </p:txBody>
      </p:sp>
    </p:spTree>
    <p:extLst>
      <p:ext uri="{BB962C8B-B14F-4D97-AF65-F5344CB8AC3E}">
        <p14:creationId xmlns:p14="http://schemas.microsoft.com/office/powerpoint/2010/main" val="118495621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Example of a </a:t>
            </a:r>
            <a:r>
              <a:rPr lang="en-IE" dirty="0" err="1"/>
              <a:t>JavaDoc</a:t>
            </a:r>
            <a:r>
              <a:rPr lang="en-IE" dirty="0"/>
              <a:t> Method Comment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97280" y="1845734"/>
            <a:ext cx="8290068" cy="4023360"/>
          </a:xfrm>
        </p:spPr>
        <p:txBody>
          <a:bodyPr>
            <a:normAutofit fontScale="62500" lnSpcReduction="20000"/>
          </a:bodyPr>
          <a:lstStyle/>
          <a:p>
            <a:r>
              <a:rPr lang="en-IE" sz="2800" dirty="0">
                <a:latin typeface="Consolas" panose="020B0609020204030204" pitchFamily="49" charset="0"/>
              </a:rPr>
              <a:t>/**</a:t>
            </a:r>
          </a:p>
          <a:p>
            <a:pPr marL="201168" lvl="1" indent="0">
              <a:buNone/>
            </a:pPr>
            <a:r>
              <a:rPr lang="en-IE" sz="2600" dirty="0">
                <a:latin typeface="Consolas" panose="020B0609020204030204" pitchFamily="49" charset="0"/>
              </a:rPr>
              <a:t>*	Retrieves the Customer matching a supplied name.</a:t>
            </a:r>
          </a:p>
          <a:p>
            <a:pPr marL="201168" lvl="1" indent="0">
              <a:buNone/>
            </a:pPr>
            <a:r>
              <a:rPr lang="en-IE" sz="2600" dirty="0">
                <a:latin typeface="Consolas" panose="020B0609020204030204" pitchFamily="49" charset="0"/>
              </a:rPr>
              <a:t>*</a:t>
            </a:r>
          </a:p>
          <a:p>
            <a:pPr marL="201168" lvl="1" indent="0">
              <a:buNone/>
            </a:pPr>
            <a:r>
              <a:rPr lang="en-IE" sz="2600" dirty="0">
                <a:latin typeface="Consolas" panose="020B0609020204030204" pitchFamily="49" charset="0"/>
              </a:rPr>
              <a:t>*	Iterates through the supplied array to find the customer with </a:t>
            </a:r>
            <a:br>
              <a:rPr lang="en-IE" sz="2600" dirty="0">
                <a:latin typeface="Consolas" panose="020B0609020204030204" pitchFamily="49" charset="0"/>
              </a:rPr>
            </a:br>
            <a:r>
              <a:rPr lang="en-IE" sz="2600" dirty="0">
                <a:latin typeface="Consolas" panose="020B0609020204030204" pitchFamily="49" charset="0"/>
              </a:rPr>
              <a:t>* 	the same name as that supplied as a parameter. </a:t>
            </a:r>
          </a:p>
          <a:p>
            <a:pPr marL="201168" lvl="1" indent="0">
              <a:buNone/>
            </a:pPr>
            <a:r>
              <a:rPr lang="en-IE" sz="2600" dirty="0">
                <a:latin typeface="Consolas" panose="020B0609020204030204" pitchFamily="49" charset="0"/>
              </a:rPr>
              <a:t>*</a:t>
            </a:r>
          </a:p>
          <a:p>
            <a:pPr marL="201168" lvl="1" indent="0">
              <a:buNone/>
            </a:pPr>
            <a:r>
              <a:rPr lang="en-IE" sz="2600" dirty="0">
                <a:latin typeface="Consolas" panose="020B0609020204030204" pitchFamily="49" charset="0"/>
              </a:rPr>
              <a:t>*	@</a:t>
            </a:r>
            <a:r>
              <a:rPr lang="en-IE" sz="2600" dirty="0" err="1">
                <a:latin typeface="Consolas" panose="020B0609020204030204" pitchFamily="49" charset="0"/>
              </a:rPr>
              <a:t>param</a:t>
            </a:r>
            <a:r>
              <a:rPr lang="en-IE" sz="2600" dirty="0">
                <a:latin typeface="Consolas" panose="020B0609020204030204" pitchFamily="49" charset="0"/>
              </a:rPr>
              <a:t> Customer [] </a:t>
            </a:r>
            <a:r>
              <a:rPr lang="en-IE" sz="2600" dirty="0" err="1">
                <a:latin typeface="Consolas" panose="020B0609020204030204" pitchFamily="49" charset="0"/>
              </a:rPr>
              <a:t>custList</a:t>
            </a:r>
            <a:r>
              <a:rPr lang="en-IE" sz="2600" dirty="0">
                <a:latin typeface="Consolas" panose="020B0609020204030204" pitchFamily="49" charset="0"/>
              </a:rPr>
              <a:t> An array of Customers to be searched</a:t>
            </a:r>
          </a:p>
          <a:p>
            <a:pPr marL="201168" lvl="1" indent="0">
              <a:buNone/>
            </a:pPr>
            <a:r>
              <a:rPr lang="en-IE" sz="2600" dirty="0">
                <a:latin typeface="Consolas" panose="020B0609020204030204" pitchFamily="49" charset="0"/>
              </a:rPr>
              <a:t>*	@</a:t>
            </a:r>
            <a:r>
              <a:rPr lang="en-IE" sz="2600" dirty="0" err="1">
                <a:latin typeface="Consolas" panose="020B0609020204030204" pitchFamily="49" charset="0"/>
              </a:rPr>
              <a:t>param</a:t>
            </a:r>
            <a:r>
              <a:rPr lang="en-IE" sz="2600" dirty="0">
                <a:latin typeface="Consolas" panose="020B0609020204030204" pitchFamily="49" charset="0"/>
              </a:rPr>
              <a:t> String </a:t>
            </a:r>
            <a:r>
              <a:rPr lang="en-IE" sz="2600" dirty="0" err="1">
                <a:latin typeface="Consolas" panose="020B0609020204030204" pitchFamily="49" charset="0"/>
              </a:rPr>
              <a:t>nameToLookFor</a:t>
            </a:r>
            <a:r>
              <a:rPr lang="en-IE" sz="2600" dirty="0">
                <a:latin typeface="Consolas" panose="020B0609020204030204" pitchFamily="49" charset="0"/>
              </a:rPr>
              <a:t> The name of the Customer being </a:t>
            </a:r>
            <a:br>
              <a:rPr lang="en-IE" sz="2600" dirty="0">
                <a:latin typeface="Consolas" panose="020B0609020204030204" pitchFamily="49" charset="0"/>
              </a:rPr>
            </a:br>
            <a:r>
              <a:rPr lang="en-IE" sz="2600" dirty="0">
                <a:latin typeface="Consolas" panose="020B0609020204030204" pitchFamily="49" charset="0"/>
              </a:rPr>
              <a:t>*	searched for</a:t>
            </a:r>
          </a:p>
          <a:p>
            <a:pPr marL="201168" lvl="1" indent="0">
              <a:buNone/>
            </a:pPr>
            <a:r>
              <a:rPr lang="en-IE" sz="2600" dirty="0">
                <a:latin typeface="Consolas" panose="020B0609020204030204" pitchFamily="49" charset="0"/>
              </a:rPr>
              <a:t>*</a:t>
            </a:r>
          </a:p>
          <a:p>
            <a:pPr marL="201168" lvl="1" indent="0">
              <a:buNone/>
            </a:pPr>
            <a:r>
              <a:rPr lang="en-IE" sz="2600" dirty="0">
                <a:latin typeface="Consolas" panose="020B0609020204030204" pitchFamily="49" charset="0"/>
              </a:rPr>
              <a:t>*	@return A Customer object matching that name, or null if no</a:t>
            </a:r>
            <a:br>
              <a:rPr lang="en-IE" sz="2600" dirty="0">
                <a:latin typeface="Consolas" panose="020B0609020204030204" pitchFamily="49" charset="0"/>
              </a:rPr>
            </a:br>
            <a:r>
              <a:rPr lang="en-IE" sz="2600" dirty="0">
                <a:latin typeface="Consolas" panose="020B0609020204030204" pitchFamily="49" charset="0"/>
              </a:rPr>
              <a:t>*	match was found</a:t>
            </a:r>
          </a:p>
          <a:p>
            <a:pPr marL="201168" lvl="1" indent="0">
              <a:buNone/>
            </a:pPr>
            <a:r>
              <a:rPr lang="en-IE" sz="2600" dirty="0">
                <a:latin typeface="Consolas" panose="020B0609020204030204" pitchFamily="49" charset="0"/>
              </a:rPr>
              <a:t>*/</a:t>
            </a:r>
          </a:p>
          <a:p>
            <a:pPr marL="201168" lvl="1" indent="0">
              <a:buNone/>
            </a:pPr>
            <a:endParaRPr lang="en-IE" sz="2600" dirty="0">
              <a:latin typeface="Consolas" panose="020B0609020204030204" pitchFamily="49" charset="0"/>
            </a:endParaRPr>
          </a:p>
          <a:p>
            <a:pPr marL="201168" lvl="1" indent="0">
              <a:buNone/>
            </a:pPr>
            <a:r>
              <a:rPr lang="en-IE" sz="2600" dirty="0">
                <a:latin typeface="Consolas" panose="020B0609020204030204" pitchFamily="49" charset="0"/>
              </a:rPr>
              <a:t>public Customer </a:t>
            </a:r>
            <a:r>
              <a:rPr lang="en-IE" sz="2600" dirty="0" err="1">
                <a:latin typeface="Consolas" panose="020B0609020204030204" pitchFamily="49" charset="0"/>
              </a:rPr>
              <a:t>searchByName</a:t>
            </a:r>
            <a:r>
              <a:rPr lang="en-IE" sz="2600" dirty="0">
                <a:latin typeface="Consolas" panose="020B0609020204030204" pitchFamily="49" charset="0"/>
              </a:rPr>
              <a:t>(Customer[] </a:t>
            </a:r>
            <a:r>
              <a:rPr lang="en-IE" sz="2600" dirty="0" err="1">
                <a:latin typeface="Consolas" panose="020B0609020204030204" pitchFamily="49" charset="0"/>
              </a:rPr>
              <a:t>custList</a:t>
            </a:r>
            <a:r>
              <a:rPr lang="en-IE" sz="2600" dirty="0">
                <a:latin typeface="Consolas" panose="020B0609020204030204" pitchFamily="49" charset="0"/>
              </a:rPr>
              <a:t>, String </a:t>
            </a:r>
            <a:r>
              <a:rPr lang="en-IE" sz="2600" dirty="0" err="1">
                <a:latin typeface="Consolas" panose="020B0609020204030204" pitchFamily="49" charset="0"/>
              </a:rPr>
              <a:t>nameToLookFor</a:t>
            </a:r>
            <a:r>
              <a:rPr lang="en-IE" sz="2600" dirty="0">
                <a:latin typeface="Consolas" panose="020B0609020204030204" pitchFamily="49" charset="0"/>
              </a:rPr>
              <a:t>){</a:t>
            </a:r>
          </a:p>
        </p:txBody>
      </p:sp>
      <p:cxnSp>
        <p:nvCxnSpPr>
          <p:cNvPr id="5" name="Straight Arrow Connector 4"/>
          <p:cNvCxnSpPr>
            <a:stCxn id="7" idx="1"/>
          </p:cNvCxnSpPr>
          <p:nvPr/>
        </p:nvCxnSpPr>
        <p:spPr>
          <a:xfrm flipH="1">
            <a:off x="2123770" y="1968910"/>
            <a:ext cx="726357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Rectangle 6"/>
          <p:cNvSpPr/>
          <p:nvPr/>
        </p:nvSpPr>
        <p:spPr>
          <a:xfrm>
            <a:off x="9387348" y="1661406"/>
            <a:ext cx="2433484" cy="61500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E" dirty="0"/>
              <a:t>Notation to begin a </a:t>
            </a:r>
            <a:r>
              <a:rPr lang="en-IE" dirty="0" err="1"/>
              <a:t>JavaDoc</a:t>
            </a:r>
            <a:r>
              <a:rPr lang="en-IE" dirty="0"/>
              <a:t> comment</a:t>
            </a:r>
          </a:p>
        </p:txBody>
      </p:sp>
      <p:cxnSp>
        <p:nvCxnSpPr>
          <p:cNvPr id="9" name="Straight Arrow Connector 8"/>
          <p:cNvCxnSpPr>
            <a:stCxn id="10" idx="1"/>
          </p:cNvCxnSpPr>
          <p:nvPr/>
        </p:nvCxnSpPr>
        <p:spPr>
          <a:xfrm flipH="1" flipV="1">
            <a:off x="6902245" y="2367116"/>
            <a:ext cx="2485103" cy="37166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Rectangle 9"/>
          <p:cNvSpPr/>
          <p:nvPr/>
        </p:nvSpPr>
        <p:spPr>
          <a:xfrm>
            <a:off x="9387348" y="2431272"/>
            <a:ext cx="2433484" cy="61500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E" dirty="0"/>
              <a:t>Summary of the method’s functionality</a:t>
            </a:r>
          </a:p>
        </p:txBody>
      </p:sp>
      <p:cxnSp>
        <p:nvCxnSpPr>
          <p:cNvPr id="14" name="Straight Arrow Connector 13"/>
          <p:cNvCxnSpPr>
            <a:cxnSpLocks/>
            <a:stCxn id="15" idx="1"/>
          </p:cNvCxnSpPr>
          <p:nvPr/>
        </p:nvCxnSpPr>
        <p:spPr>
          <a:xfrm flipH="1" flipV="1">
            <a:off x="7015843" y="2950029"/>
            <a:ext cx="2895073" cy="95645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Rectangle 14"/>
          <p:cNvSpPr/>
          <p:nvPr/>
        </p:nvSpPr>
        <p:spPr>
          <a:xfrm>
            <a:off x="9910916" y="3451123"/>
            <a:ext cx="1909916" cy="91071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E" dirty="0"/>
              <a:t>Expanded explanation of functionality</a:t>
            </a:r>
          </a:p>
        </p:txBody>
      </p:sp>
      <p:cxnSp>
        <p:nvCxnSpPr>
          <p:cNvPr id="21" name="Straight Arrow Connector 20"/>
          <p:cNvCxnSpPr>
            <a:cxnSpLocks/>
            <a:stCxn id="22" idx="1"/>
          </p:cNvCxnSpPr>
          <p:nvPr/>
        </p:nvCxnSpPr>
        <p:spPr>
          <a:xfrm flipH="1" flipV="1">
            <a:off x="8714014" y="4361835"/>
            <a:ext cx="1770614" cy="57514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Rectangle 21"/>
          <p:cNvSpPr/>
          <p:nvPr/>
        </p:nvSpPr>
        <p:spPr>
          <a:xfrm>
            <a:off x="10484628" y="4629477"/>
            <a:ext cx="1342103" cy="61500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E" dirty="0"/>
              <a:t>Tag information</a:t>
            </a:r>
          </a:p>
        </p:txBody>
      </p:sp>
      <p:cxnSp>
        <p:nvCxnSpPr>
          <p:cNvPr id="28" name="Straight Arrow Connector 27"/>
          <p:cNvCxnSpPr>
            <a:cxnSpLocks/>
            <a:stCxn id="29" idx="1"/>
          </p:cNvCxnSpPr>
          <p:nvPr/>
        </p:nvCxnSpPr>
        <p:spPr>
          <a:xfrm flipH="1" flipV="1">
            <a:off x="9105900" y="5312229"/>
            <a:ext cx="1378728" cy="58522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Rectangle 28"/>
          <p:cNvSpPr/>
          <p:nvPr/>
        </p:nvSpPr>
        <p:spPr>
          <a:xfrm>
            <a:off x="10484628" y="5589951"/>
            <a:ext cx="1342103" cy="61500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E" dirty="0"/>
              <a:t>Method begins</a:t>
            </a:r>
          </a:p>
        </p:txBody>
      </p:sp>
      <p:sp>
        <p:nvSpPr>
          <p:cNvPr id="31" name="Left Brace 30"/>
          <p:cNvSpPr/>
          <p:nvPr/>
        </p:nvSpPr>
        <p:spPr>
          <a:xfrm>
            <a:off x="811161" y="2276414"/>
            <a:ext cx="376084" cy="2490264"/>
          </a:xfrm>
          <a:prstGeom prst="lef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  <p:sp>
        <p:nvSpPr>
          <p:cNvPr id="32" name="Rectangle 31"/>
          <p:cNvSpPr/>
          <p:nvPr/>
        </p:nvSpPr>
        <p:spPr>
          <a:xfrm>
            <a:off x="207952" y="3200756"/>
            <a:ext cx="986667" cy="79567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E" dirty="0"/>
              <a:t>Auto-inserted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10613" y="5691020"/>
            <a:ext cx="1143000" cy="60427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E" dirty="0"/>
              <a:t>End of Comment</a:t>
            </a:r>
          </a:p>
        </p:txBody>
      </p:sp>
      <p:cxnSp>
        <p:nvCxnSpPr>
          <p:cNvPr id="36" name="Elbow Connector 35"/>
          <p:cNvCxnSpPr>
            <a:cxnSpLocks/>
            <a:stCxn id="34" idx="0"/>
          </p:cNvCxnSpPr>
          <p:nvPr/>
        </p:nvCxnSpPr>
        <p:spPr>
          <a:xfrm rot="5400000" flipH="1" flipV="1">
            <a:off x="462783" y="4900188"/>
            <a:ext cx="1010163" cy="571502"/>
          </a:xfrm>
          <a:prstGeom prst="bentConnector3">
            <a:avLst>
              <a:gd name="adj1" fmla="val 99571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/>
          <p:cNvCxnSpPr>
            <a:cxnSpLocks/>
            <a:stCxn id="22" idx="1"/>
          </p:cNvCxnSpPr>
          <p:nvPr/>
        </p:nvCxnSpPr>
        <p:spPr>
          <a:xfrm flipH="1" flipV="1">
            <a:off x="8365671" y="3799114"/>
            <a:ext cx="2118957" cy="113786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5170137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Tag Types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97280" y="1845734"/>
            <a:ext cx="10058400" cy="4422332"/>
          </a:xfrm>
        </p:spPr>
        <p:txBody>
          <a:bodyPr>
            <a:normAutofit fontScale="70000" lnSpcReduction="20000"/>
          </a:bodyPr>
          <a:lstStyle/>
          <a:p>
            <a:pPr lvl="1"/>
            <a:r>
              <a:rPr lang="en-IE" sz="3200" dirty="0"/>
              <a:t>Tags are included to explain a specific entity involved in the code in more detail, for example:</a:t>
            </a:r>
          </a:p>
          <a:p>
            <a:pPr lvl="2"/>
            <a:r>
              <a:rPr lang="en-IE" sz="2800" dirty="0"/>
              <a:t>Explain what a specific parameter is used for</a:t>
            </a:r>
          </a:p>
          <a:p>
            <a:pPr lvl="2"/>
            <a:r>
              <a:rPr lang="en-IE" sz="2800" dirty="0"/>
              <a:t>Explain what the possible return values are and what they mean</a:t>
            </a:r>
          </a:p>
          <a:p>
            <a:pPr lvl="1"/>
            <a:endParaRPr lang="en-IE" sz="3200" dirty="0"/>
          </a:p>
          <a:p>
            <a:pPr lvl="1"/>
            <a:r>
              <a:rPr lang="en-IE" sz="3200" dirty="0"/>
              <a:t>We will focus on a subset of tags</a:t>
            </a:r>
          </a:p>
          <a:p>
            <a:pPr lvl="2"/>
            <a:r>
              <a:rPr lang="en-IE" sz="2800" dirty="0"/>
              <a:t>@</a:t>
            </a:r>
            <a:r>
              <a:rPr lang="en-IE" sz="2800" dirty="0" err="1">
                <a:solidFill>
                  <a:srgbClr val="FF0000"/>
                </a:solidFill>
              </a:rPr>
              <a:t>param</a:t>
            </a:r>
            <a:r>
              <a:rPr lang="en-IE" sz="2800" dirty="0"/>
              <a:t> : Indicates that the line of text is discussing one of the method’s parameter.</a:t>
            </a:r>
          </a:p>
          <a:p>
            <a:pPr lvl="3"/>
            <a:r>
              <a:rPr lang="en-IE" sz="2400" dirty="0"/>
              <a:t>You should include one for each parameter taken in by the method (in the order they appear in the method’s brackets)</a:t>
            </a:r>
          </a:p>
          <a:p>
            <a:pPr lvl="3"/>
            <a:r>
              <a:rPr lang="en-IE" sz="2400" dirty="0"/>
              <a:t>These define your algorithm’s INPUTS</a:t>
            </a:r>
          </a:p>
          <a:p>
            <a:pPr lvl="2"/>
            <a:r>
              <a:rPr lang="en-IE" sz="2800" dirty="0"/>
              <a:t>@</a:t>
            </a:r>
            <a:r>
              <a:rPr lang="en-IE" sz="2800" dirty="0">
                <a:solidFill>
                  <a:srgbClr val="FF0000"/>
                </a:solidFill>
              </a:rPr>
              <a:t>return</a:t>
            </a:r>
            <a:r>
              <a:rPr lang="en-IE" sz="2800" dirty="0"/>
              <a:t>: Indicates that the line of text is discussing the method’s return value</a:t>
            </a:r>
          </a:p>
          <a:p>
            <a:pPr lvl="3"/>
            <a:r>
              <a:rPr lang="en-IE" sz="2800" dirty="0"/>
              <a:t>This is </a:t>
            </a:r>
            <a:r>
              <a:rPr lang="en-IE" sz="2800" b="1" u="sng" dirty="0"/>
              <a:t>usually</a:t>
            </a:r>
            <a:r>
              <a:rPr lang="en-IE" sz="2800" dirty="0"/>
              <a:t> defining, and explaining, your algorithm’s OUTPUT</a:t>
            </a:r>
          </a:p>
          <a:p>
            <a:pPr lvl="2"/>
            <a:r>
              <a:rPr lang="en-IE" sz="2800" dirty="0"/>
              <a:t>@</a:t>
            </a:r>
            <a:r>
              <a:rPr lang="en-IE" sz="2800" dirty="0">
                <a:solidFill>
                  <a:srgbClr val="FF0000"/>
                </a:solidFill>
              </a:rPr>
              <a:t>throws</a:t>
            </a:r>
            <a:r>
              <a:rPr lang="en-IE" sz="2800" dirty="0"/>
              <a:t>: Indicates that the line of text is discussing an exception that can be thrown by the method</a:t>
            </a:r>
          </a:p>
          <a:p>
            <a:pPr lvl="3"/>
            <a:r>
              <a:rPr lang="en-IE" sz="2400" dirty="0"/>
              <a:t>You should include one for each possible exception that can be thrown (in alphabetical order)</a:t>
            </a:r>
            <a:endParaRPr lang="en-IE" sz="2800" dirty="0"/>
          </a:p>
        </p:txBody>
      </p:sp>
    </p:spTree>
    <p:extLst>
      <p:ext uri="{BB962C8B-B14F-4D97-AF65-F5344CB8AC3E}">
        <p14:creationId xmlns:p14="http://schemas.microsoft.com/office/powerpoint/2010/main" val="277082436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Using Tags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pPr lvl="1"/>
            <a:r>
              <a:rPr lang="en-IE" sz="3200" dirty="0"/>
              <a:t>When using tags, the correct format is:</a:t>
            </a:r>
          </a:p>
          <a:p>
            <a:pPr lvl="2"/>
            <a:r>
              <a:rPr lang="en-IE" sz="2800" dirty="0"/>
              <a:t>@</a:t>
            </a:r>
            <a:r>
              <a:rPr lang="en-IE" sz="2800" dirty="0" err="1">
                <a:solidFill>
                  <a:srgbClr val="FF0000"/>
                </a:solidFill>
              </a:rPr>
              <a:t>tagName</a:t>
            </a:r>
            <a:r>
              <a:rPr lang="en-IE" sz="2800" dirty="0"/>
              <a:t>	</a:t>
            </a:r>
            <a:r>
              <a:rPr lang="en-IE" sz="2800" dirty="0">
                <a:solidFill>
                  <a:schemeClr val="accent5"/>
                </a:solidFill>
              </a:rPr>
              <a:t>entity name </a:t>
            </a:r>
            <a:r>
              <a:rPr lang="en-IE" sz="2800" dirty="0">
                <a:solidFill>
                  <a:srgbClr val="00B0F0"/>
                </a:solidFill>
              </a:rPr>
              <a:t>explanation of entity</a:t>
            </a:r>
          </a:p>
          <a:p>
            <a:pPr lvl="2"/>
            <a:endParaRPr lang="en-IE" sz="2800" dirty="0"/>
          </a:p>
          <a:p>
            <a:pPr lvl="1"/>
            <a:r>
              <a:rPr lang="en-IE" sz="3200" dirty="0"/>
              <a:t>Component explanations:</a:t>
            </a:r>
          </a:p>
          <a:p>
            <a:pPr lvl="2"/>
            <a:r>
              <a:rPr lang="en-IE" sz="2800" dirty="0" err="1">
                <a:solidFill>
                  <a:srgbClr val="FF0000"/>
                </a:solidFill>
              </a:rPr>
              <a:t>tagName</a:t>
            </a:r>
            <a:r>
              <a:rPr lang="en-IE" sz="2800" dirty="0"/>
              <a:t>: The tag you are using (e.g. </a:t>
            </a:r>
            <a:r>
              <a:rPr lang="en-IE" sz="2800" dirty="0" err="1"/>
              <a:t>param</a:t>
            </a:r>
            <a:r>
              <a:rPr lang="en-IE" sz="2800" dirty="0"/>
              <a:t>, return etc.)</a:t>
            </a:r>
          </a:p>
          <a:p>
            <a:pPr lvl="2"/>
            <a:r>
              <a:rPr lang="en-IE" sz="2800" dirty="0">
                <a:solidFill>
                  <a:schemeClr val="accent5"/>
                </a:solidFill>
              </a:rPr>
              <a:t>Entity name</a:t>
            </a:r>
            <a:r>
              <a:rPr lang="en-IE" sz="2800" dirty="0"/>
              <a:t>: the name of entity being discussed (e.g. the name of the parameter you are explaining)</a:t>
            </a:r>
          </a:p>
          <a:p>
            <a:pPr lvl="2"/>
            <a:r>
              <a:rPr lang="en-IE" sz="2800" dirty="0">
                <a:solidFill>
                  <a:srgbClr val="00B0F0"/>
                </a:solidFill>
              </a:rPr>
              <a:t>Explanation of entity</a:t>
            </a:r>
            <a:r>
              <a:rPr lang="en-IE" sz="2800" dirty="0"/>
              <a:t>: Your explanation of that entity (e.g. what the parameter you are explaining does)</a:t>
            </a:r>
          </a:p>
          <a:p>
            <a:pPr lvl="2"/>
            <a:endParaRPr lang="en-IE" sz="2800" dirty="0"/>
          </a:p>
          <a:p>
            <a:pPr lvl="1"/>
            <a:r>
              <a:rPr lang="en-IE" sz="3200" dirty="0"/>
              <a:t>Examples:</a:t>
            </a:r>
          </a:p>
          <a:p>
            <a:pPr lvl="2"/>
            <a:r>
              <a:rPr lang="en-IE" sz="2800" dirty="0"/>
              <a:t>@</a:t>
            </a:r>
            <a:r>
              <a:rPr lang="en-IE" sz="2800" dirty="0" err="1"/>
              <a:t>param</a:t>
            </a:r>
            <a:r>
              <a:rPr lang="en-IE" sz="2800" dirty="0"/>
              <a:t> </a:t>
            </a:r>
            <a:r>
              <a:rPr lang="en-IE" sz="2800" dirty="0" err="1"/>
              <a:t>productCode</a:t>
            </a:r>
            <a:r>
              <a:rPr lang="en-IE" sz="2800" dirty="0"/>
              <a:t> The code of the product to be amended in the database</a:t>
            </a:r>
          </a:p>
          <a:p>
            <a:pPr lvl="2"/>
            <a:r>
              <a:rPr lang="en-IE" sz="2800" dirty="0"/>
              <a:t>@throws </a:t>
            </a:r>
            <a:r>
              <a:rPr lang="en-IE" sz="2800" dirty="0" err="1"/>
              <a:t>SQLException</a:t>
            </a:r>
            <a:r>
              <a:rPr lang="en-IE" sz="2800" dirty="0"/>
              <a:t> Thrown if the database has not been loaded onto the server, the server has not been started or the product table’s structure has changed</a:t>
            </a:r>
          </a:p>
        </p:txBody>
      </p:sp>
    </p:spTree>
    <p:extLst>
      <p:ext uri="{BB962C8B-B14F-4D97-AF65-F5344CB8AC3E}">
        <p14:creationId xmlns:p14="http://schemas.microsoft.com/office/powerpoint/2010/main" val="170345126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Another Example of a </a:t>
            </a:r>
            <a:r>
              <a:rPr lang="en-IE" dirty="0" err="1"/>
              <a:t>JavaDoc</a:t>
            </a:r>
            <a:r>
              <a:rPr lang="en-IE" dirty="0"/>
              <a:t> Method Comment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97280" y="1845734"/>
            <a:ext cx="10058400" cy="4023360"/>
          </a:xfrm>
        </p:spPr>
        <p:txBody>
          <a:bodyPr>
            <a:normAutofit fontScale="70000" lnSpcReduction="20000"/>
          </a:bodyPr>
          <a:lstStyle/>
          <a:p>
            <a:r>
              <a:rPr lang="en-IE" sz="2800" dirty="0">
                <a:latin typeface="Consolas" panose="020B0609020204030204" pitchFamily="49" charset="0"/>
              </a:rPr>
              <a:t>/**</a:t>
            </a:r>
          </a:p>
          <a:p>
            <a:pPr marL="201168" lvl="1" indent="0">
              <a:buNone/>
            </a:pPr>
            <a:r>
              <a:rPr lang="en-IE" sz="2600" dirty="0">
                <a:latin typeface="Consolas" panose="020B0609020204030204" pitchFamily="49" charset="0"/>
              </a:rPr>
              <a:t>*	Amends the name of any product in the database matching the supplied </a:t>
            </a:r>
            <a:br>
              <a:rPr lang="en-IE" sz="2600" dirty="0">
                <a:latin typeface="Consolas" panose="020B0609020204030204" pitchFamily="49" charset="0"/>
              </a:rPr>
            </a:br>
            <a:r>
              <a:rPr lang="en-IE" sz="2600" dirty="0">
                <a:latin typeface="Consolas" panose="020B0609020204030204" pitchFamily="49" charset="0"/>
              </a:rPr>
              <a:t>*	code.</a:t>
            </a:r>
          </a:p>
          <a:p>
            <a:pPr marL="201168" lvl="1" indent="0">
              <a:buNone/>
            </a:pPr>
            <a:r>
              <a:rPr lang="en-IE" sz="2600" dirty="0">
                <a:latin typeface="Consolas" panose="020B0609020204030204" pitchFamily="49" charset="0"/>
              </a:rPr>
              <a:t>*</a:t>
            </a:r>
          </a:p>
          <a:p>
            <a:pPr marL="201168" lvl="1" indent="0">
              <a:buNone/>
            </a:pPr>
            <a:r>
              <a:rPr lang="en-IE" sz="2600" dirty="0">
                <a:latin typeface="Consolas" panose="020B0609020204030204" pitchFamily="49" charset="0"/>
              </a:rPr>
              <a:t>*	Updates all products in the database matching the supplied </a:t>
            </a:r>
            <a:r>
              <a:rPr lang="en-IE" sz="2600" dirty="0" err="1">
                <a:latin typeface="Consolas" panose="020B0609020204030204" pitchFamily="49" charset="0"/>
              </a:rPr>
              <a:t>productCode</a:t>
            </a:r>
            <a:r>
              <a:rPr lang="en-IE" sz="2600" dirty="0">
                <a:latin typeface="Consolas" panose="020B0609020204030204" pitchFamily="49" charset="0"/>
              </a:rPr>
              <a:t>, </a:t>
            </a:r>
            <a:br>
              <a:rPr lang="en-IE" sz="2600" dirty="0">
                <a:latin typeface="Consolas" panose="020B0609020204030204" pitchFamily="49" charset="0"/>
              </a:rPr>
            </a:br>
            <a:r>
              <a:rPr lang="en-IE" sz="2600" dirty="0">
                <a:latin typeface="Consolas" panose="020B0609020204030204" pitchFamily="49" charset="0"/>
              </a:rPr>
              <a:t>*	where </a:t>
            </a:r>
            <a:r>
              <a:rPr lang="en-IE" sz="2600" dirty="0" err="1">
                <a:latin typeface="Consolas" panose="020B0609020204030204" pitchFamily="49" charset="0"/>
              </a:rPr>
              <a:t>productCode</a:t>
            </a:r>
            <a:r>
              <a:rPr lang="en-IE" sz="2600" dirty="0">
                <a:latin typeface="Consolas" panose="020B0609020204030204" pitchFamily="49" charset="0"/>
              </a:rPr>
              <a:t> is the primary key. This method should update at most </a:t>
            </a:r>
            <a:br>
              <a:rPr lang="en-IE" sz="2600" dirty="0">
                <a:latin typeface="Consolas" panose="020B0609020204030204" pitchFamily="49" charset="0"/>
              </a:rPr>
            </a:br>
            <a:r>
              <a:rPr lang="en-IE" sz="2600" dirty="0">
                <a:latin typeface="Consolas" panose="020B0609020204030204" pitchFamily="49" charset="0"/>
              </a:rPr>
              <a:t>*	one row in the database.</a:t>
            </a:r>
          </a:p>
          <a:p>
            <a:pPr marL="201168" lvl="1" indent="0">
              <a:buNone/>
            </a:pPr>
            <a:r>
              <a:rPr lang="en-IE" sz="2600" dirty="0">
                <a:latin typeface="Consolas" panose="020B0609020204030204" pitchFamily="49" charset="0"/>
              </a:rPr>
              <a:t>*</a:t>
            </a:r>
          </a:p>
          <a:p>
            <a:pPr marL="201168" lvl="1" indent="0">
              <a:buNone/>
            </a:pPr>
            <a:r>
              <a:rPr lang="en-IE" sz="2600" dirty="0">
                <a:latin typeface="Consolas" panose="020B0609020204030204" pitchFamily="49" charset="0"/>
              </a:rPr>
              <a:t>*	@</a:t>
            </a:r>
            <a:r>
              <a:rPr lang="en-IE" sz="2600" dirty="0" err="1">
                <a:solidFill>
                  <a:srgbClr val="FF0000"/>
                </a:solidFill>
                <a:latin typeface="Consolas" panose="020B0609020204030204" pitchFamily="49" charset="0"/>
              </a:rPr>
              <a:t>param</a:t>
            </a:r>
            <a:r>
              <a:rPr lang="en-IE" sz="2600" dirty="0">
                <a:latin typeface="Consolas" panose="020B0609020204030204" pitchFamily="49" charset="0"/>
              </a:rPr>
              <a:t> </a:t>
            </a:r>
            <a:r>
              <a:rPr lang="en-IE" sz="2600" dirty="0" err="1">
                <a:latin typeface="Consolas" panose="020B0609020204030204" pitchFamily="49" charset="0"/>
              </a:rPr>
              <a:t>productCode</a:t>
            </a:r>
            <a:r>
              <a:rPr lang="en-IE" sz="2600" dirty="0">
                <a:latin typeface="Consolas" panose="020B0609020204030204" pitchFamily="49" charset="0"/>
              </a:rPr>
              <a:t> The </a:t>
            </a:r>
            <a:r>
              <a:rPr lang="en-IE" sz="2600" dirty="0" err="1">
                <a:latin typeface="Consolas" panose="020B0609020204030204" pitchFamily="49" charset="0"/>
              </a:rPr>
              <a:t>productCode</a:t>
            </a:r>
            <a:r>
              <a:rPr lang="en-IE" sz="2600" dirty="0">
                <a:latin typeface="Consolas" panose="020B0609020204030204" pitchFamily="49" charset="0"/>
              </a:rPr>
              <a:t> of the product to be amended</a:t>
            </a:r>
          </a:p>
          <a:p>
            <a:pPr marL="201168" lvl="1" indent="0">
              <a:buNone/>
            </a:pPr>
            <a:r>
              <a:rPr lang="en-IE" sz="2600" dirty="0">
                <a:latin typeface="Consolas" panose="020B0609020204030204" pitchFamily="49" charset="0"/>
              </a:rPr>
              <a:t>*	@</a:t>
            </a:r>
            <a:r>
              <a:rPr lang="en-IE" sz="2600" dirty="0" err="1">
                <a:solidFill>
                  <a:srgbClr val="FF0000"/>
                </a:solidFill>
                <a:latin typeface="Consolas" panose="020B0609020204030204" pitchFamily="49" charset="0"/>
              </a:rPr>
              <a:t>param</a:t>
            </a:r>
            <a:r>
              <a:rPr lang="en-IE" sz="2600" dirty="0">
                <a:latin typeface="Consolas" panose="020B0609020204030204" pitchFamily="49" charset="0"/>
              </a:rPr>
              <a:t> </a:t>
            </a:r>
            <a:r>
              <a:rPr lang="en-IE" sz="2600" dirty="0" err="1">
                <a:latin typeface="Consolas" panose="020B0609020204030204" pitchFamily="49" charset="0"/>
              </a:rPr>
              <a:t>newProductName</a:t>
            </a:r>
            <a:r>
              <a:rPr lang="en-IE" sz="2600" dirty="0">
                <a:latin typeface="Consolas" panose="020B0609020204030204" pitchFamily="49" charset="0"/>
              </a:rPr>
              <a:t> The name to which this product entry should be </a:t>
            </a:r>
            <a:br>
              <a:rPr lang="en-IE" sz="2600" dirty="0">
                <a:latin typeface="Consolas" panose="020B0609020204030204" pitchFamily="49" charset="0"/>
              </a:rPr>
            </a:br>
            <a:r>
              <a:rPr lang="en-IE" sz="2600" dirty="0">
                <a:latin typeface="Consolas" panose="020B0609020204030204" pitchFamily="49" charset="0"/>
              </a:rPr>
              <a:t>*	changed.</a:t>
            </a:r>
          </a:p>
          <a:p>
            <a:pPr marL="201168" lvl="1" indent="0">
              <a:buNone/>
            </a:pPr>
            <a:r>
              <a:rPr lang="en-IE" sz="2600" dirty="0">
                <a:latin typeface="Consolas" panose="020B0609020204030204" pitchFamily="49" charset="0"/>
              </a:rPr>
              <a:t>*	@</a:t>
            </a:r>
            <a:r>
              <a:rPr lang="en-IE" sz="2600" dirty="0">
                <a:solidFill>
                  <a:srgbClr val="FF0000"/>
                </a:solidFill>
                <a:latin typeface="Consolas" panose="020B0609020204030204" pitchFamily="49" charset="0"/>
              </a:rPr>
              <a:t>return</a:t>
            </a:r>
            <a:r>
              <a:rPr lang="en-IE" sz="2600" dirty="0">
                <a:latin typeface="Consolas" panose="020B0609020204030204" pitchFamily="49" charset="0"/>
              </a:rPr>
              <a:t> The number of product entries changed in the Product table. </a:t>
            </a:r>
          </a:p>
          <a:p>
            <a:pPr marL="201168" lvl="1" indent="0">
              <a:buNone/>
            </a:pPr>
            <a:r>
              <a:rPr lang="en-IE" sz="2600" dirty="0">
                <a:latin typeface="Consolas" panose="020B0609020204030204" pitchFamily="49" charset="0"/>
              </a:rPr>
              <a:t>*/</a:t>
            </a:r>
          </a:p>
          <a:p>
            <a:pPr marL="201168" lvl="1" indent="0">
              <a:buNone/>
            </a:pPr>
            <a:r>
              <a:rPr lang="en-IE" sz="2600" dirty="0">
                <a:latin typeface="Consolas" panose="020B0609020204030204" pitchFamily="49" charset="0"/>
              </a:rPr>
              <a:t>public </a:t>
            </a:r>
            <a:r>
              <a:rPr lang="en-IE" sz="2600" dirty="0" err="1">
                <a:latin typeface="Consolas" panose="020B0609020204030204" pitchFamily="49" charset="0"/>
              </a:rPr>
              <a:t>int</a:t>
            </a:r>
            <a:r>
              <a:rPr lang="en-IE" sz="2600" dirty="0">
                <a:latin typeface="Consolas" panose="020B0609020204030204" pitchFamily="49" charset="0"/>
              </a:rPr>
              <a:t> </a:t>
            </a:r>
            <a:r>
              <a:rPr lang="en-IE" sz="2600" dirty="0" err="1">
                <a:latin typeface="Consolas" panose="020B0609020204030204" pitchFamily="49" charset="0"/>
              </a:rPr>
              <a:t>updateProductName</a:t>
            </a:r>
            <a:r>
              <a:rPr lang="en-IE" sz="2600" dirty="0">
                <a:latin typeface="Consolas" panose="020B0609020204030204" pitchFamily="49" charset="0"/>
              </a:rPr>
              <a:t>(String </a:t>
            </a:r>
            <a:r>
              <a:rPr lang="en-IE" sz="2600" dirty="0" err="1">
                <a:latin typeface="Consolas" panose="020B0609020204030204" pitchFamily="49" charset="0"/>
              </a:rPr>
              <a:t>productCode</a:t>
            </a:r>
            <a:r>
              <a:rPr lang="en-IE" sz="2600" dirty="0">
                <a:latin typeface="Consolas" panose="020B0609020204030204" pitchFamily="49" charset="0"/>
              </a:rPr>
              <a:t>, String </a:t>
            </a:r>
            <a:r>
              <a:rPr lang="en-IE" sz="2600" dirty="0" err="1">
                <a:latin typeface="Consolas" panose="020B0609020204030204" pitchFamily="49" charset="0"/>
              </a:rPr>
              <a:t>newProductName</a:t>
            </a:r>
            <a:r>
              <a:rPr lang="en-IE" sz="2600" dirty="0">
                <a:latin typeface="Consolas" panose="020B0609020204030204" pitchFamily="49" charset="0"/>
              </a:rPr>
              <a:t>){</a:t>
            </a:r>
          </a:p>
        </p:txBody>
      </p:sp>
    </p:spTree>
    <p:extLst>
      <p:ext uri="{BB962C8B-B14F-4D97-AF65-F5344CB8AC3E}">
        <p14:creationId xmlns:p14="http://schemas.microsoft.com/office/powerpoint/2010/main" val="263189097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Corresponding </a:t>
            </a:r>
            <a:r>
              <a:rPr lang="en-IE" dirty="0" err="1"/>
              <a:t>JavaDoc</a:t>
            </a:r>
            <a:r>
              <a:rPr lang="en-IE" dirty="0"/>
              <a:t> API Entry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9898" y="1798233"/>
            <a:ext cx="7187382" cy="4485650"/>
          </a:xfrm>
          <a:prstGeom prst="rect">
            <a:avLst/>
          </a:prstGeom>
        </p:spPr>
      </p:pic>
      <p:cxnSp>
        <p:nvCxnSpPr>
          <p:cNvPr id="8" name="Straight Arrow Connector 7"/>
          <p:cNvCxnSpPr>
            <a:stCxn id="9" idx="1"/>
          </p:cNvCxnSpPr>
          <p:nvPr/>
        </p:nvCxnSpPr>
        <p:spPr>
          <a:xfrm flipH="1">
            <a:off x="6740013" y="4081617"/>
            <a:ext cx="2271252" cy="35027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Rectangle 8"/>
          <p:cNvSpPr/>
          <p:nvPr/>
        </p:nvSpPr>
        <p:spPr>
          <a:xfrm>
            <a:off x="9011265" y="3487994"/>
            <a:ext cx="2971800" cy="118724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E" dirty="0"/>
              <a:t>Auto-Generated by </a:t>
            </a:r>
            <a:r>
              <a:rPr lang="en-IE" dirty="0" err="1"/>
              <a:t>JavaDoc</a:t>
            </a:r>
            <a:r>
              <a:rPr lang="en-IE" dirty="0"/>
              <a:t> compiler due to method appearing in implemented interface</a:t>
            </a:r>
          </a:p>
        </p:txBody>
      </p:sp>
    </p:spTree>
    <p:extLst>
      <p:ext uri="{BB962C8B-B14F-4D97-AF65-F5344CB8AC3E}">
        <p14:creationId xmlns:p14="http://schemas.microsoft.com/office/powerpoint/2010/main" val="101822400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Generating </a:t>
            </a:r>
            <a:r>
              <a:rPr lang="en-IE" dirty="0" err="1"/>
              <a:t>JavaDoc</a:t>
            </a:r>
            <a:r>
              <a:rPr lang="en-IE" dirty="0"/>
              <a:t> APIs in </a:t>
            </a:r>
            <a:r>
              <a:rPr lang="en-IE" dirty="0" err="1"/>
              <a:t>Netbeans</a:t>
            </a:r>
            <a:endParaRPr lang="en-IE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1"/>
            <a:r>
              <a:rPr lang="en-IE" sz="3200" dirty="0" err="1"/>
              <a:t>Netbeans</a:t>
            </a:r>
            <a:r>
              <a:rPr lang="en-IE" sz="3200" dirty="0"/>
              <a:t> contains a built-in </a:t>
            </a:r>
            <a:r>
              <a:rPr lang="en-IE" sz="3200" dirty="0" err="1"/>
              <a:t>JavaDoc</a:t>
            </a:r>
            <a:r>
              <a:rPr lang="en-IE" sz="3200" dirty="0"/>
              <a:t> API generator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48435" y="2502688"/>
            <a:ext cx="7556090" cy="3784662"/>
          </a:xfrm>
          <a:prstGeom prst="rect">
            <a:avLst/>
          </a:prstGeom>
        </p:spPr>
      </p:pic>
      <p:sp>
        <p:nvSpPr>
          <p:cNvPr id="4" name="Oval 3">
            <a:extLst>
              <a:ext uri="{FF2B5EF4-FFF2-40B4-BE49-F238E27FC236}">
                <a16:creationId xmlns:a16="http://schemas.microsoft.com/office/drawing/2014/main" id="{A135C173-EB3A-36CD-6BB2-43F7EFD200D8}"/>
              </a:ext>
            </a:extLst>
          </p:cNvPr>
          <p:cNvSpPr/>
          <p:nvPr/>
        </p:nvSpPr>
        <p:spPr>
          <a:xfrm>
            <a:off x="4936672" y="2502688"/>
            <a:ext cx="304800" cy="284055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67EC07AD-4037-D22F-48A1-A96766C75D1E}"/>
              </a:ext>
            </a:extLst>
          </p:cNvPr>
          <p:cNvCxnSpPr>
            <a:cxnSpLocks/>
            <a:stCxn id="9" idx="1"/>
            <a:endCxn id="4" idx="6"/>
          </p:cNvCxnSpPr>
          <p:nvPr/>
        </p:nvCxnSpPr>
        <p:spPr>
          <a:xfrm flipH="1" flipV="1">
            <a:off x="5241472" y="2644716"/>
            <a:ext cx="4739344" cy="16454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E34E66E4-C4F1-70F4-9FAC-005CB0200444}"/>
              </a:ext>
            </a:extLst>
          </p:cNvPr>
          <p:cNvSpPr txBox="1"/>
          <p:nvPr/>
        </p:nvSpPr>
        <p:spPr>
          <a:xfrm>
            <a:off x="9980816" y="2270649"/>
            <a:ext cx="1756755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E" sz="1600" dirty="0"/>
              <a:t>This is from an old version, but it’s in the same place in </a:t>
            </a:r>
            <a:r>
              <a:rPr lang="en-IE" sz="1600" dirty="0" err="1"/>
              <a:t>Netbeans</a:t>
            </a:r>
            <a:r>
              <a:rPr lang="en-IE" sz="1600" dirty="0"/>
              <a:t> 15!</a:t>
            </a:r>
          </a:p>
        </p:txBody>
      </p:sp>
    </p:spTree>
    <p:extLst>
      <p:ext uri="{BB962C8B-B14F-4D97-AF65-F5344CB8AC3E}">
        <p14:creationId xmlns:p14="http://schemas.microsoft.com/office/powerpoint/2010/main" val="37270977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Expectations With Regard to JavaDocs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lvl="1"/>
            <a:r>
              <a:rPr lang="en-IE" sz="3200" dirty="0"/>
              <a:t>You are expected to provide JavaDocs in </a:t>
            </a:r>
            <a:r>
              <a:rPr lang="en-IE" sz="3200" b="1" u="sng" dirty="0"/>
              <a:t>any</a:t>
            </a:r>
            <a:r>
              <a:rPr lang="en-IE" sz="3200" dirty="0"/>
              <a:t> submitted code</a:t>
            </a:r>
          </a:p>
          <a:p>
            <a:pPr lvl="2"/>
            <a:endParaRPr lang="en-IE" sz="2800" dirty="0"/>
          </a:p>
          <a:p>
            <a:pPr lvl="1"/>
            <a:r>
              <a:rPr lang="en-IE" sz="3200" dirty="0"/>
              <a:t>Your JavaDocs should be reasonably detailed</a:t>
            </a:r>
          </a:p>
          <a:p>
            <a:pPr lvl="2"/>
            <a:r>
              <a:rPr lang="en-IE" sz="2800" dirty="0"/>
              <a:t>Include a brief, 1 line explanation of what the method does</a:t>
            </a:r>
          </a:p>
          <a:p>
            <a:pPr lvl="2"/>
            <a:r>
              <a:rPr lang="en-IE" sz="2800" dirty="0"/>
              <a:t>Include a longer explanation where the method has some subtleties</a:t>
            </a:r>
          </a:p>
          <a:p>
            <a:pPr lvl="2"/>
            <a:endParaRPr lang="en-IE" sz="2800" dirty="0"/>
          </a:p>
          <a:p>
            <a:pPr lvl="1"/>
            <a:r>
              <a:rPr lang="en-IE" sz="3200" dirty="0"/>
              <a:t>Your JavaDocs should use tags (and include explanations)</a:t>
            </a:r>
          </a:p>
          <a:p>
            <a:pPr lvl="2"/>
            <a:r>
              <a:rPr lang="en-IE" sz="2800" dirty="0"/>
              <a:t>@</a:t>
            </a:r>
            <a:r>
              <a:rPr lang="en-IE" sz="2800" dirty="0" err="1"/>
              <a:t>param</a:t>
            </a:r>
            <a:r>
              <a:rPr lang="en-IE" sz="2800" dirty="0"/>
              <a:t> where parameters appear in your method</a:t>
            </a:r>
          </a:p>
          <a:p>
            <a:pPr lvl="2"/>
            <a:r>
              <a:rPr lang="en-IE" sz="2800" dirty="0"/>
              <a:t>@returns where the method returns something</a:t>
            </a:r>
          </a:p>
          <a:p>
            <a:pPr lvl="2"/>
            <a:r>
              <a:rPr lang="en-IE" sz="2800" dirty="0"/>
              <a:t>@throws where the method throws an exception (will see more of this later)</a:t>
            </a:r>
          </a:p>
          <a:p>
            <a:pPr lvl="2"/>
            <a:endParaRPr lang="en-IE" sz="2800" dirty="0"/>
          </a:p>
          <a:p>
            <a:pPr lvl="2"/>
            <a:endParaRPr lang="en-IE" sz="2800" dirty="0"/>
          </a:p>
        </p:txBody>
      </p:sp>
    </p:spTree>
    <p:extLst>
      <p:ext uri="{BB962C8B-B14F-4D97-AF65-F5344CB8AC3E}">
        <p14:creationId xmlns:p14="http://schemas.microsoft.com/office/powerpoint/2010/main" val="38564192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This isn’t Ok – Why?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IE" sz="2800" dirty="0">
                <a:latin typeface="Consolas" panose="020B0609020204030204" pitchFamily="49" charset="0"/>
              </a:rPr>
              <a:t>/**</a:t>
            </a:r>
          </a:p>
          <a:p>
            <a:pPr marL="201168" lvl="1" indent="0">
              <a:buNone/>
            </a:pPr>
            <a:r>
              <a:rPr lang="en-IE" sz="2600" dirty="0">
                <a:latin typeface="Consolas" panose="020B0609020204030204" pitchFamily="49" charset="0"/>
              </a:rPr>
              <a:t>*	Searches for a Customer</a:t>
            </a:r>
          </a:p>
          <a:p>
            <a:pPr marL="201168" lvl="1" indent="0">
              <a:buNone/>
            </a:pPr>
            <a:r>
              <a:rPr lang="en-IE" sz="2600" dirty="0">
                <a:latin typeface="Consolas" panose="020B0609020204030204" pitchFamily="49" charset="0"/>
              </a:rPr>
              <a:t>*</a:t>
            </a:r>
          </a:p>
          <a:p>
            <a:pPr marL="201168" lvl="1" indent="0">
              <a:buNone/>
            </a:pPr>
            <a:r>
              <a:rPr lang="en-IE" sz="2600" dirty="0">
                <a:latin typeface="Consolas" panose="020B0609020204030204" pitchFamily="49" charset="0"/>
              </a:rPr>
              <a:t>*	@</a:t>
            </a:r>
            <a:r>
              <a:rPr lang="en-IE" sz="2600" dirty="0" err="1">
                <a:latin typeface="Consolas" panose="020B0609020204030204" pitchFamily="49" charset="0"/>
              </a:rPr>
              <a:t>param</a:t>
            </a:r>
            <a:r>
              <a:rPr lang="en-IE" sz="2600" dirty="0">
                <a:latin typeface="Consolas" panose="020B0609020204030204" pitchFamily="49" charset="0"/>
              </a:rPr>
              <a:t> Customer [] </a:t>
            </a:r>
            <a:r>
              <a:rPr lang="en-IE" sz="2600" dirty="0" err="1">
                <a:latin typeface="Consolas" panose="020B0609020204030204" pitchFamily="49" charset="0"/>
              </a:rPr>
              <a:t>custList</a:t>
            </a:r>
            <a:endParaRPr lang="en-IE" sz="2600" dirty="0">
              <a:latin typeface="Consolas" panose="020B0609020204030204" pitchFamily="49" charset="0"/>
            </a:endParaRPr>
          </a:p>
          <a:p>
            <a:pPr marL="201168" lvl="1" indent="0">
              <a:buNone/>
            </a:pPr>
            <a:r>
              <a:rPr lang="en-IE" sz="2600" dirty="0">
                <a:latin typeface="Consolas" panose="020B0609020204030204" pitchFamily="49" charset="0"/>
              </a:rPr>
              <a:t>*	@</a:t>
            </a:r>
            <a:r>
              <a:rPr lang="en-IE" sz="2600" dirty="0" err="1">
                <a:latin typeface="Consolas" panose="020B0609020204030204" pitchFamily="49" charset="0"/>
              </a:rPr>
              <a:t>param</a:t>
            </a:r>
            <a:r>
              <a:rPr lang="en-IE" sz="2600" dirty="0">
                <a:latin typeface="Consolas" panose="020B0609020204030204" pitchFamily="49" charset="0"/>
              </a:rPr>
              <a:t> String </a:t>
            </a:r>
            <a:r>
              <a:rPr lang="en-IE" sz="2600" dirty="0" err="1">
                <a:latin typeface="Consolas" panose="020B0609020204030204" pitchFamily="49" charset="0"/>
              </a:rPr>
              <a:t>nameToLookFor</a:t>
            </a:r>
            <a:r>
              <a:rPr lang="en-IE" sz="2600" dirty="0">
                <a:latin typeface="Consolas" panose="020B0609020204030204" pitchFamily="49" charset="0"/>
              </a:rPr>
              <a:t> </a:t>
            </a:r>
          </a:p>
          <a:p>
            <a:pPr marL="201168" lvl="1" indent="0">
              <a:buNone/>
            </a:pPr>
            <a:r>
              <a:rPr lang="en-IE" sz="2600" dirty="0">
                <a:latin typeface="Consolas" panose="020B0609020204030204" pitchFamily="49" charset="0"/>
              </a:rPr>
              <a:t>*</a:t>
            </a:r>
          </a:p>
          <a:p>
            <a:pPr marL="201168" lvl="1" indent="0">
              <a:buNone/>
            </a:pPr>
            <a:r>
              <a:rPr lang="en-IE" sz="2600" dirty="0">
                <a:latin typeface="Consolas" panose="020B0609020204030204" pitchFamily="49" charset="0"/>
              </a:rPr>
              <a:t>*	@return Customer</a:t>
            </a:r>
          </a:p>
          <a:p>
            <a:pPr marL="201168" lvl="1" indent="0">
              <a:buNone/>
            </a:pPr>
            <a:r>
              <a:rPr lang="en-IE" sz="2600" dirty="0">
                <a:latin typeface="Consolas" panose="020B0609020204030204" pitchFamily="49" charset="0"/>
              </a:rPr>
              <a:t>*/</a:t>
            </a:r>
          </a:p>
          <a:p>
            <a:pPr marL="201168" lvl="1" indent="0">
              <a:buNone/>
            </a:pPr>
            <a:r>
              <a:rPr lang="en-IE" sz="2600" dirty="0">
                <a:latin typeface="Consolas" panose="020B0609020204030204" pitchFamily="49" charset="0"/>
              </a:rPr>
              <a:t>public Customer </a:t>
            </a:r>
            <a:r>
              <a:rPr lang="en-IE" sz="2600" dirty="0" err="1">
                <a:latin typeface="Consolas" panose="020B0609020204030204" pitchFamily="49" charset="0"/>
              </a:rPr>
              <a:t>searchByName</a:t>
            </a:r>
            <a:r>
              <a:rPr lang="en-IE" sz="2600" dirty="0">
                <a:latin typeface="Consolas" panose="020B0609020204030204" pitchFamily="49" charset="0"/>
              </a:rPr>
              <a:t>(Customer[] </a:t>
            </a:r>
            <a:br>
              <a:rPr lang="en-IE" sz="2600" dirty="0">
                <a:latin typeface="Consolas" panose="020B0609020204030204" pitchFamily="49" charset="0"/>
              </a:rPr>
            </a:br>
            <a:r>
              <a:rPr lang="en-IE" sz="2600" dirty="0">
                <a:latin typeface="Consolas" panose="020B0609020204030204" pitchFamily="49" charset="0"/>
              </a:rPr>
              <a:t>			</a:t>
            </a:r>
            <a:r>
              <a:rPr lang="en-IE" sz="2600" dirty="0" err="1">
                <a:latin typeface="Consolas" panose="020B0609020204030204" pitchFamily="49" charset="0"/>
              </a:rPr>
              <a:t>custList</a:t>
            </a:r>
            <a:r>
              <a:rPr lang="en-IE" sz="2600" dirty="0">
                <a:latin typeface="Consolas" panose="020B0609020204030204" pitchFamily="49" charset="0"/>
              </a:rPr>
              <a:t>, String </a:t>
            </a:r>
            <a:r>
              <a:rPr lang="en-IE" sz="2600" dirty="0" err="1">
                <a:latin typeface="Consolas" panose="020B0609020204030204" pitchFamily="49" charset="0"/>
              </a:rPr>
              <a:t>nameToLookFor</a:t>
            </a:r>
            <a:r>
              <a:rPr lang="en-IE" sz="2600" dirty="0">
                <a:latin typeface="Consolas" panose="020B0609020204030204" pitchFamily="49" charset="0"/>
              </a:rPr>
              <a:t>){</a:t>
            </a:r>
          </a:p>
          <a:p>
            <a:pPr lvl="1"/>
            <a:endParaRPr lang="en-IE" sz="3200" dirty="0"/>
          </a:p>
        </p:txBody>
      </p:sp>
    </p:spTree>
    <p:extLst>
      <p:ext uri="{BB962C8B-B14F-4D97-AF65-F5344CB8AC3E}">
        <p14:creationId xmlns:p14="http://schemas.microsoft.com/office/powerpoint/2010/main" val="2616706910"/>
      </p:ext>
    </p:extLst>
  </p:cSld>
  <p:clrMapOvr>
    <a:masterClrMapping/>
  </p:clrMapOvr>
</p:sld>
</file>

<file path=ppt/theme/theme1.xml><?xml version="1.0" encoding="utf-8"?>
<a:theme xmlns:a="http://schemas.openxmlformats.org/drawingml/2006/main" name="Default Theme">
  <a:themeElements>
    <a:clrScheme name="Retrospect">
      <a:dk1>
        <a:sysClr val="windowText" lastClr="000000"/>
      </a:dk1>
      <a:lt1>
        <a:sysClr val="window" lastClr="FFFFFF"/>
      </a:lt1>
      <a:dk2>
        <a:srgbClr val="344068"/>
      </a:dk2>
      <a:lt2>
        <a:srgbClr val="D9E0E6"/>
      </a:lt2>
      <a:accent1>
        <a:srgbClr val="1CADE4"/>
      </a:accent1>
      <a:accent2>
        <a:srgbClr val="2683C6"/>
      </a:accent2>
      <a:accent3>
        <a:srgbClr val="28C4CC"/>
      </a:accent3>
      <a:accent4>
        <a:srgbClr val="42BA97"/>
      </a:accent4>
      <a:accent5>
        <a:srgbClr val="3E8853"/>
      </a:accent5>
      <a:accent6>
        <a:srgbClr val="62A39F"/>
      </a:accent6>
      <a:hlink>
        <a:srgbClr val="6EAC1C"/>
      </a:hlink>
      <a:folHlink>
        <a:srgbClr val="B26B02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efault Theme" id="{060A139A-D62C-4E51-99D9-5BBA43872587}" vid="{4CEDBC7D-39AC-4B45-A5EA-87DB4DFF3D4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Default Theme</Template>
  <TotalTime>101</TotalTime>
  <Words>920</Words>
  <Application>Microsoft Office PowerPoint</Application>
  <PresentationFormat>Widescreen</PresentationFormat>
  <Paragraphs>107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Calibri</vt:lpstr>
      <vt:lpstr>Calibri Light</vt:lpstr>
      <vt:lpstr>Consolas</vt:lpstr>
      <vt:lpstr>Default Theme</vt:lpstr>
      <vt:lpstr>JavaDocs</vt:lpstr>
      <vt:lpstr>What are JavaDocs?</vt:lpstr>
      <vt:lpstr>Where are JavaDocs Written?</vt:lpstr>
      <vt:lpstr>What is the Format of a JavaDoc Comment?</vt:lpstr>
      <vt:lpstr>Example of a JavaDoc Method Comment</vt:lpstr>
      <vt:lpstr>Tag Types</vt:lpstr>
      <vt:lpstr>Using Tags</vt:lpstr>
      <vt:lpstr>Another Example of a JavaDoc Method Comment</vt:lpstr>
      <vt:lpstr>Corresponding JavaDoc API Entry</vt:lpstr>
      <vt:lpstr>Generating JavaDoc APIs in Netbeans</vt:lpstr>
      <vt:lpstr>Expectations With Regard to JavaDocs</vt:lpstr>
      <vt:lpstr>This isn’t Ok – Why?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JavaDocs</dc:title>
  <dc:creator>michelle</dc:creator>
  <cp:lastModifiedBy>Michelle Graham</cp:lastModifiedBy>
  <cp:revision>14</cp:revision>
  <dcterms:created xsi:type="dcterms:W3CDTF">2017-09-25T22:25:34Z</dcterms:created>
  <dcterms:modified xsi:type="dcterms:W3CDTF">2022-09-20T16:13:46Z</dcterms:modified>
</cp:coreProperties>
</file>