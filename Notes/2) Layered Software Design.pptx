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9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345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522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359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435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825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3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518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880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35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010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83FB72-47A2-443C-ACA1-F30F8DB5C4A9}" type="datetimeFigureOut">
              <a:rPr lang="en-IE" smtClean="0"/>
              <a:t>08/09/2026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8DEBCF-19DE-4E43-BDB2-3E8E7968C15B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22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355D-66AB-8C0B-CFC4-8DAA7906D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Layered Software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0D4DE-0254-FFBC-67B0-E6911F5CB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9742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314C-0B8B-5551-B192-BC191EFE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Layered Software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7C2C-7034-5AA6-AE54-0D2F57F6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sz="3200" dirty="0"/>
              <a:t>A software architecture approach that separates a system into different layers</a:t>
            </a:r>
          </a:p>
          <a:p>
            <a:pPr lvl="2"/>
            <a:r>
              <a:rPr lang="en-US" sz="2800" dirty="0"/>
              <a:t>Built on the core SE principle of </a:t>
            </a:r>
            <a:r>
              <a:rPr lang="en-US" sz="2800" dirty="0">
                <a:solidFill>
                  <a:srgbClr val="FF0000"/>
                </a:solidFill>
              </a:rPr>
              <a:t>Separation of Concerns</a:t>
            </a:r>
          </a:p>
          <a:p>
            <a:pPr lvl="2"/>
            <a:r>
              <a:rPr lang="en-US" sz="2800" dirty="0"/>
              <a:t>Each layer is responsible for a specific aspect of functionality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Each layer has a distinct role and communicates only with adjacent layers</a:t>
            </a:r>
          </a:p>
          <a:p>
            <a:pPr lvl="2"/>
            <a:r>
              <a:rPr lang="en-US" sz="2800" dirty="0"/>
              <a:t>Can only interact with the one above and the one below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Promotes better organization, maintainability, and scalability in software development</a:t>
            </a:r>
          </a:p>
          <a:p>
            <a:pPr lvl="2"/>
            <a:r>
              <a:rPr lang="en-US" sz="2800" dirty="0"/>
              <a:t>Modular design!</a:t>
            </a:r>
          </a:p>
          <a:p>
            <a:pPr lvl="2"/>
            <a:r>
              <a:rPr lang="en-US" sz="2800" dirty="0"/>
              <a:t>Fewer connection points!</a:t>
            </a:r>
          </a:p>
          <a:p>
            <a:pPr lvl="2"/>
            <a:r>
              <a:rPr lang="en-US" sz="2800" dirty="0"/>
              <a:t>Lower coupling!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29401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FDC5-58FE-7937-CDC2-DFE73DC8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is this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CEB0E-E414-5C95-C38D-13F48198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US" sz="3200" dirty="0"/>
              <a:t>Improves </a:t>
            </a:r>
            <a:r>
              <a:rPr lang="en-US" sz="3200" dirty="0">
                <a:solidFill>
                  <a:srgbClr val="FF0000"/>
                </a:solidFill>
              </a:rPr>
              <a:t>maintainability</a:t>
            </a:r>
            <a:r>
              <a:rPr lang="en-US" sz="3200" dirty="0"/>
              <a:t> : Changes are isolated to specific layers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Enhances </a:t>
            </a:r>
            <a:r>
              <a:rPr lang="en-US" sz="3200" dirty="0">
                <a:solidFill>
                  <a:srgbClr val="FF0000"/>
                </a:solidFill>
              </a:rPr>
              <a:t>scalability</a:t>
            </a:r>
            <a:r>
              <a:rPr lang="en-US" sz="3200" dirty="0"/>
              <a:t> : Each layer can be modified or extended </a:t>
            </a:r>
            <a:r>
              <a:rPr lang="en-US" sz="3200" i="1" dirty="0"/>
              <a:t>independently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Encourages </a:t>
            </a:r>
            <a:r>
              <a:rPr lang="en-US" sz="3200" dirty="0">
                <a:solidFill>
                  <a:srgbClr val="FF0000"/>
                </a:solidFill>
              </a:rPr>
              <a:t>reusability</a:t>
            </a:r>
            <a:r>
              <a:rPr lang="en-US" sz="3200" dirty="0"/>
              <a:t> : Common functionalities can be shared across layers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Increases </a:t>
            </a:r>
            <a:r>
              <a:rPr lang="en-US" sz="3200" dirty="0">
                <a:solidFill>
                  <a:srgbClr val="FF0000"/>
                </a:solidFill>
              </a:rPr>
              <a:t>security</a:t>
            </a:r>
            <a:r>
              <a:rPr lang="en-US" sz="3200" dirty="0"/>
              <a:t> : Prevents direct access to sensitive data by limiting layer interactions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53499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8982-A59B-BBA1-395D-A9B0380A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Common Use-Cases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E598-1DC8-EB18-9B8E-C8955627D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Web</a:t>
            </a:r>
            <a:r>
              <a:rPr lang="en-IE" sz="3200" dirty="0"/>
              <a:t> applications: Separates frontend (UI) from backend logic and databases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Enterprise</a:t>
            </a:r>
            <a:r>
              <a:rPr lang="en-IE" sz="3200" dirty="0"/>
              <a:t> systems: Helps in managing complex business processes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Mobile</a:t>
            </a:r>
            <a:r>
              <a:rPr lang="en-IE" sz="3200" dirty="0"/>
              <a:t> applications: Organizes UI, application logic, and data management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Microservices</a:t>
            </a:r>
            <a:r>
              <a:rPr lang="en-IE" sz="3200" dirty="0"/>
              <a:t>: Allows modular services with well-defined layer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300799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16D5-4F45-6794-1809-A0CFBCF1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Typical Layers in 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A9A7F-1045-FFD0-C440-14B88644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913784" cy="402336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Presentation</a:t>
            </a:r>
            <a:r>
              <a:rPr lang="en-IE" sz="3200" dirty="0"/>
              <a:t> layer - User interface, handles user interactions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Application</a:t>
            </a:r>
            <a:r>
              <a:rPr lang="en-IE" sz="3200" dirty="0"/>
              <a:t> layer - Business logic, workflows, services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Data</a:t>
            </a:r>
            <a:r>
              <a:rPr lang="en-IE" sz="3200" dirty="0"/>
              <a:t> </a:t>
            </a:r>
            <a:r>
              <a:rPr lang="en-IE" sz="3200" dirty="0">
                <a:solidFill>
                  <a:srgbClr val="FF0000"/>
                </a:solidFill>
              </a:rPr>
              <a:t>access</a:t>
            </a:r>
            <a:r>
              <a:rPr lang="en-IE" sz="3200" dirty="0"/>
              <a:t> layer - Manages database interactions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Database</a:t>
            </a:r>
            <a:r>
              <a:rPr lang="en-IE" sz="3200" dirty="0"/>
              <a:t> layer - Stores persistent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1F2E2E-25E0-4F76-10C0-4EFAE84DCBE4}"/>
              </a:ext>
            </a:extLst>
          </p:cNvPr>
          <p:cNvGrpSpPr/>
          <p:nvPr/>
        </p:nvGrpSpPr>
        <p:grpSpPr>
          <a:xfrm>
            <a:off x="8011061" y="1822730"/>
            <a:ext cx="3144616" cy="4445491"/>
            <a:chOff x="8011061" y="1822730"/>
            <a:chExt cx="3144616" cy="444549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A7C9BE-FB16-5A5E-D5CF-9C08DDD31BDE}"/>
                </a:ext>
              </a:extLst>
            </p:cNvPr>
            <p:cNvGrpSpPr/>
            <p:nvPr/>
          </p:nvGrpSpPr>
          <p:grpSpPr>
            <a:xfrm>
              <a:off x="8011061" y="1822730"/>
              <a:ext cx="3144616" cy="4445491"/>
              <a:chOff x="8011064" y="1863301"/>
              <a:chExt cx="3144616" cy="444549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142E66B-40A7-8056-E242-F58980F7A97F}"/>
                  </a:ext>
                </a:extLst>
              </p:cNvPr>
              <p:cNvSpPr/>
              <p:nvPr/>
            </p:nvSpPr>
            <p:spPr>
              <a:xfrm>
                <a:off x="8011064" y="1863301"/>
                <a:ext cx="3144616" cy="82813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dirty="0"/>
                  <a:t>Presentation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FE3CA94-B55B-61F7-5A05-00C6D5EE64BE}"/>
                  </a:ext>
                </a:extLst>
              </p:cNvPr>
              <p:cNvSpPr/>
              <p:nvPr/>
            </p:nvSpPr>
            <p:spPr>
              <a:xfrm>
                <a:off x="8011064" y="3071003"/>
                <a:ext cx="3144616" cy="82813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dirty="0"/>
                  <a:t>Application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64550AB-34B8-3985-8D6D-F0EFB5D168BF}"/>
                  </a:ext>
                </a:extLst>
              </p:cNvPr>
              <p:cNvSpPr/>
              <p:nvPr/>
            </p:nvSpPr>
            <p:spPr>
              <a:xfrm>
                <a:off x="8011064" y="4261450"/>
                <a:ext cx="3144616" cy="82813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dirty="0"/>
                  <a:t>Data Access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EDE469-C57A-EB31-A1F1-D064BFFC9342}"/>
                  </a:ext>
                </a:extLst>
              </p:cNvPr>
              <p:cNvSpPr/>
              <p:nvPr/>
            </p:nvSpPr>
            <p:spPr>
              <a:xfrm>
                <a:off x="8011064" y="5480656"/>
                <a:ext cx="3144616" cy="8281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dirty="0"/>
                  <a:t>Database</a:t>
                </a:r>
              </a:p>
            </p:txBody>
          </p:sp>
        </p:grpSp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7EDA1900-9C11-765A-02F3-959EAEF39BF9}"/>
                </a:ext>
              </a:extLst>
            </p:cNvPr>
            <p:cNvSpPr/>
            <p:nvPr/>
          </p:nvSpPr>
          <p:spPr>
            <a:xfrm>
              <a:off x="9463177" y="2674184"/>
              <a:ext cx="240389" cy="350805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Arrow: Up-Down 9">
              <a:extLst>
                <a:ext uri="{FF2B5EF4-FFF2-40B4-BE49-F238E27FC236}">
                  <a16:creationId xmlns:a16="http://schemas.microsoft.com/office/drawing/2014/main" id="{0110904C-3571-F45B-EDE4-A26931BFC96A}"/>
                </a:ext>
              </a:extLst>
            </p:cNvPr>
            <p:cNvSpPr/>
            <p:nvPr/>
          </p:nvSpPr>
          <p:spPr>
            <a:xfrm>
              <a:off x="9463176" y="3857414"/>
              <a:ext cx="240389" cy="350805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Arrow: Up-Down 10">
              <a:extLst>
                <a:ext uri="{FF2B5EF4-FFF2-40B4-BE49-F238E27FC236}">
                  <a16:creationId xmlns:a16="http://schemas.microsoft.com/office/drawing/2014/main" id="{34772A50-1F93-0CCF-8C74-AB6AC71AA13E}"/>
                </a:ext>
              </a:extLst>
            </p:cNvPr>
            <p:cNvSpPr/>
            <p:nvPr/>
          </p:nvSpPr>
          <p:spPr>
            <a:xfrm>
              <a:off x="9463174" y="5086397"/>
              <a:ext cx="240389" cy="350805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72039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C007-987F-82D5-D032-CDA32D81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Best Practices for Layered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B383-7DE1-90DE-0B65-D06B1B1C1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US" sz="3200" dirty="0"/>
              <a:t>Follow the </a:t>
            </a:r>
            <a:r>
              <a:rPr lang="en-US" sz="3200" dirty="0">
                <a:solidFill>
                  <a:srgbClr val="FF0000"/>
                </a:solidFill>
              </a:rPr>
              <a:t>Single Responsibility Principle </a:t>
            </a:r>
            <a:r>
              <a:rPr lang="en-US" sz="3200" dirty="0"/>
              <a:t>(SRP) – ONE focus per layer!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Use </a:t>
            </a:r>
            <a:r>
              <a:rPr lang="en-US" sz="3200" dirty="0">
                <a:solidFill>
                  <a:srgbClr val="FF0000"/>
                </a:solidFill>
              </a:rPr>
              <a:t>Dependency Injection </a:t>
            </a:r>
            <a:r>
              <a:rPr lang="en-US" sz="3200" dirty="0"/>
              <a:t>for modularity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Keep layers </a:t>
            </a:r>
            <a:r>
              <a:rPr lang="en-US" sz="3200" u="sng" dirty="0"/>
              <a:t>independent</a:t>
            </a:r>
            <a:r>
              <a:rPr lang="en-US" sz="3200" dirty="0"/>
              <a:t> (only interact with adjacent layers)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Define clear </a:t>
            </a:r>
            <a:r>
              <a:rPr lang="en-US" sz="3200" dirty="0">
                <a:solidFill>
                  <a:srgbClr val="FF0000"/>
                </a:solidFill>
              </a:rPr>
              <a:t>contracts</a:t>
            </a:r>
            <a:r>
              <a:rPr lang="en-US" sz="3200" dirty="0"/>
              <a:t> (APIs, interfaces) between layers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Implement </a:t>
            </a:r>
            <a:r>
              <a:rPr lang="en-US" sz="3200" dirty="0">
                <a:solidFill>
                  <a:srgbClr val="FF0000"/>
                </a:solidFill>
              </a:rPr>
              <a:t>caching</a:t>
            </a:r>
            <a:r>
              <a:rPr lang="en-US" sz="3200" dirty="0"/>
              <a:t> in the Data Access Layer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Secure layers with validation, authentication, and encryption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250932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57AD-CFD8-0099-C0FA-D679F660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Common Mistakes!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6ACB-35C9-42F6-DEB0-06553673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3200" dirty="0">
                <a:solidFill>
                  <a:srgbClr val="FF0000"/>
                </a:solidFill>
              </a:rPr>
              <a:t>Mixing</a:t>
            </a:r>
            <a:r>
              <a:rPr lang="en-US" sz="3200" dirty="0"/>
              <a:t> business logic </a:t>
            </a:r>
            <a:r>
              <a:rPr lang="en-US" sz="3200" dirty="0">
                <a:solidFill>
                  <a:srgbClr val="FF0000"/>
                </a:solidFill>
              </a:rPr>
              <a:t>with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UI</a:t>
            </a:r>
            <a:r>
              <a:rPr lang="en-US" sz="3200" dirty="0"/>
              <a:t> components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Allowing </a:t>
            </a:r>
            <a:r>
              <a:rPr lang="en-US" sz="3200" dirty="0">
                <a:solidFill>
                  <a:srgbClr val="FF0000"/>
                </a:solidFill>
              </a:rPr>
              <a:t>direct</a:t>
            </a:r>
            <a:r>
              <a:rPr lang="en-US" sz="3200" dirty="0"/>
              <a:t> database access from the UI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Overcomplicating</a:t>
            </a:r>
            <a:r>
              <a:rPr lang="en-US" sz="3200" dirty="0"/>
              <a:t> the architecture for simple applications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Ignoring</a:t>
            </a:r>
            <a:r>
              <a:rPr lang="en-US" sz="3200" dirty="0"/>
              <a:t> performance </a:t>
            </a:r>
            <a:r>
              <a:rPr lang="en-US" sz="3200" dirty="0">
                <a:solidFill>
                  <a:srgbClr val="FF0000"/>
                </a:solidFill>
              </a:rPr>
              <a:t>optimizations</a:t>
            </a:r>
            <a:r>
              <a:rPr lang="en-US" sz="3200" dirty="0"/>
              <a:t> like caching and async processing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0012713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388</TotalTime>
  <Words>308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Layered Software Design</vt:lpstr>
      <vt:lpstr>What is Layered Software Design?</vt:lpstr>
      <vt:lpstr>Why is this Important?</vt:lpstr>
      <vt:lpstr>Common Use-Cases</vt:lpstr>
      <vt:lpstr>Typical Layers in Software Design</vt:lpstr>
      <vt:lpstr>Best Practices for Layered Design</vt:lpstr>
      <vt:lpstr>Common Mistakes!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Graham</dc:creator>
  <cp:lastModifiedBy>Michelle Graham</cp:lastModifiedBy>
  <cp:revision>3</cp:revision>
  <dcterms:created xsi:type="dcterms:W3CDTF">2025-02-24T14:01:27Z</dcterms:created>
  <dcterms:modified xsi:type="dcterms:W3CDTF">2026-09-08T22:22:02Z</dcterms:modified>
</cp:coreProperties>
</file>