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6" r:id="rId16"/>
    <p:sldId id="270" r:id="rId17"/>
    <p:sldId id="300" r:id="rId18"/>
    <p:sldId id="299" r:id="rId19"/>
    <p:sldId id="271" r:id="rId20"/>
    <p:sldId id="272" r:id="rId21"/>
    <p:sldId id="273" r:id="rId22"/>
    <p:sldId id="277" r:id="rId23"/>
    <p:sldId id="278" r:id="rId24"/>
    <p:sldId id="279" r:id="rId25"/>
    <p:sldId id="280" r:id="rId26"/>
    <p:sldId id="29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805EFD-1F1F-49B4-B7BA-02847BD87876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A3C5A-49AD-442A-AFE1-C0D3FF059ADB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2922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A3C5A-49AD-442A-AFE1-C0D3FF059ADB}" type="slidenum">
              <a:rPr lang="en-IE" smtClean="0"/>
              <a:t>3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88842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ga-IE" dirty="0"/>
              <a:t>executeUpdate can also be used on inserts and deletes, as well as to amend table structures</a:t>
            </a:r>
            <a:r>
              <a:rPr lang="ga-IE" baseline="0" dirty="0"/>
              <a:t> using SQL DDL (Data Definition Language) but is primarily used for updates. It should never be used on anything that may produce a result as this would cause an exception.</a:t>
            </a:r>
            <a:endParaRPr lang="en-IE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2A3C5A-49AD-442A-AFE1-C0D3FF059ADB}" type="slidenum">
              <a:rPr lang="en-IE" smtClean="0"/>
              <a:t>14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417497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974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374158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38038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06316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730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655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37976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42545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6788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4819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7995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2C973CB-AD5F-408A-A223-CDCE850606D1}" type="datetimeFigureOut">
              <a:rPr lang="en-IE" smtClean="0"/>
              <a:t>15/09/2025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616A9DB-9B72-48AF-9BDF-B6F51E009674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1309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C1878-CB20-6535-C18D-229310AF88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Database Connectivity:</a:t>
            </a:r>
            <a:br>
              <a:rPr lang="en-IE" dirty="0"/>
            </a:br>
            <a:r>
              <a:rPr lang="en-IE" dirty="0"/>
              <a:t>JDBC &amp; MySQL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37D59C-50F3-1566-3850-4D6FD82555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06506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4809-6D2D-A1B5-935A-2A203CC9B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Communicating With a Database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4AFA1E4-0BB4-B41A-059D-D7FAA562E1D7}"/>
              </a:ext>
            </a:extLst>
          </p:cNvPr>
          <p:cNvGrpSpPr/>
          <p:nvPr/>
        </p:nvGrpSpPr>
        <p:grpSpPr>
          <a:xfrm>
            <a:off x="1801586" y="2005759"/>
            <a:ext cx="8588828" cy="3798530"/>
            <a:chOff x="683568" y="2494637"/>
            <a:chExt cx="8136904" cy="3598659"/>
          </a:xfrm>
        </p:grpSpPr>
        <p:sp>
          <p:nvSpPr>
            <p:cNvPr id="11" name="Flowchart: Alternate Process 10">
              <a:extLst>
                <a:ext uri="{FF2B5EF4-FFF2-40B4-BE49-F238E27FC236}">
                  <a16:creationId xmlns:a16="http://schemas.microsoft.com/office/drawing/2014/main" id="{E48A7753-63D2-10E7-DFA5-ABE04C4DF90C}"/>
                </a:ext>
              </a:extLst>
            </p:cNvPr>
            <p:cNvSpPr/>
            <p:nvPr/>
          </p:nvSpPr>
          <p:spPr>
            <a:xfrm>
              <a:off x="683568" y="3140968"/>
              <a:ext cx="1440160" cy="1728192"/>
            </a:xfrm>
            <a:prstGeom prst="flowChartAlternateProcess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70BA24D-725B-6D58-AC47-52E5D7D0119E}"/>
                </a:ext>
              </a:extLst>
            </p:cNvPr>
            <p:cNvSpPr txBox="1"/>
            <p:nvPr/>
          </p:nvSpPr>
          <p:spPr>
            <a:xfrm>
              <a:off x="683568" y="2708920"/>
              <a:ext cx="139127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/>
                <a:t>Our program</a:t>
              </a:r>
              <a:endParaRPr lang="en-IE" dirty="0"/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46B8070-02DB-80AC-8A8E-ED73EA1F6784}"/>
                </a:ext>
              </a:extLst>
            </p:cNvPr>
            <p:cNvGrpSpPr/>
            <p:nvPr/>
          </p:nvGrpSpPr>
          <p:grpSpPr>
            <a:xfrm>
              <a:off x="683568" y="2494637"/>
              <a:ext cx="8136904" cy="3598659"/>
              <a:chOff x="683568" y="2492896"/>
              <a:chExt cx="8136904" cy="3598659"/>
            </a:xfrm>
          </p:grpSpPr>
          <p:sp>
            <p:nvSpPr>
              <p:cNvPr id="14" name="Flowchart: Magnetic Disk 13">
                <a:extLst>
                  <a:ext uri="{FF2B5EF4-FFF2-40B4-BE49-F238E27FC236}">
                    <a16:creationId xmlns:a16="http://schemas.microsoft.com/office/drawing/2014/main" id="{C3492120-2EDD-CCF1-5D3A-40E51E67EA40}"/>
                  </a:ext>
                </a:extLst>
              </p:cNvPr>
              <p:cNvSpPr/>
              <p:nvPr/>
            </p:nvSpPr>
            <p:spPr>
              <a:xfrm>
                <a:off x="6588224" y="3140968"/>
                <a:ext cx="1512168" cy="1944216"/>
              </a:xfrm>
              <a:prstGeom prst="flowChartMagneticDisk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CBAEBC5-6697-A16A-8739-4605E59E74E6}"/>
                  </a:ext>
                </a:extLst>
              </p:cNvPr>
              <p:cNvSpPr txBox="1"/>
              <p:nvPr/>
            </p:nvSpPr>
            <p:spPr>
              <a:xfrm>
                <a:off x="6444208" y="2492896"/>
                <a:ext cx="20458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Relational Database</a:t>
                </a:r>
              </a:p>
              <a:p>
                <a:r>
                  <a:rPr lang="en-GB" dirty="0"/>
                  <a:t>e.g. </a:t>
                </a:r>
                <a:r>
                  <a:rPr lang="en-GB" dirty="0" err="1"/>
                  <a:t>MySQL</a:t>
                </a:r>
                <a:endParaRPr lang="en-IE" dirty="0"/>
              </a:p>
            </p:txBody>
          </p:sp>
          <p:sp>
            <p:nvSpPr>
              <p:cNvPr id="16" name="Left-Right Arrow 7">
                <a:extLst>
                  <a:ext uri="{FF2B5EF4-FFF2-40B4-BE49-F238E27FC236}">
                    <a16:creationId xmlns:a16="http://schemas.microsoft.com/office/drawing/2014/main" id="{BB294120-F7EC-8577-04FD-0A1371F7EF03}"/>
                  </a:ext>
                </a:extLst>
              </p:cNvPr>
              <p:cNvSpPr/>
              <p:nvPr/>
            </p:nvSpPr>
            <p:spPr>
              <a:xfrm>
                <a:off x="2771800" y="3933056"/>
                <a:ext cx="3456384" cy="216024"/>
              </a:xfrm>
              <a:prstGeom prst="left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081313-6012-F700-7A67-970C390D416B}"/>
                  </a:ext>
                </a:extLst>
              </p:cNvPr>
              <p:cNvSpPr txBox="1"/>
              <p:nvPr/>
            </p:nvSpPr>
            <p:spPr>
              <a:xfrm>
                <a:off x="3707904" y="3645024"/>
                <a:ext cx="1761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/>
                  <a:t>read / write data</a:t>
                </a:r>
                <a:endParaRPr lang="en-IE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E6F7675-2999-4917-017B-DF158279080A}"/>
                  </a:ext>
                </a:extLst>
              </p:cNvPr>
              <p:cNvGrpSpPr/>
              <p:nvPr/>
            </p:nvGrpSpPr>
            <p:grpSpPr>
              <a:xfrm>
                <a:off x="683568" y="2492896"/>
                <a:ext cx="8136904" cy="3598659"/>
                <a:chOff x="683568" y="2492896"/>
                <a:chExt cx="8136904" cy="3598659"/>
              </a:xfrm>
            </p:grpSpPr>
            <p:sp>
              <p:nvSpPr>
                <p:cNvPr id="19" name="Flowchart: Alternate Process 18">
                  <a:extLst>
                    <a:ext uri="{FF2B5EF4-FFF2-40B4-BE49-F238E27FC236}">
                      <a16:creationId xmlns:a16="http://schemas.microsoft.com/office/drawing/2014/main" id="{07407F13-1551-97E1-FC47-C7485F63EFB7}"/>
                    </a:ext>
                  </a:extLst>
                </p:cNvPr>
                <p:cNvSpPr/>
                <p:nvPr/>
              </p:nvSpPr>
              <p:spPr>
                <a:xfrm>
                  <a:off x="2123728" y="3140968"/>
                  <a:ext cx="288032" cy="1728192"/>
                </a:xfrm>
                <a:prstGeom prst="flowChartAlternate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E"/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3C715A92-8BF3-93F7-287B-F42643996E1B}"/>
                    </a:ext>
                  </a:extLst>
                </p:cNvPr>
                <p:cNvSpPr txBox="1"/>
                <p:nvPr/>
              </p:nvSpPr>
              <p:spPr>
                <a:xfrm>
                  <a:off x="2699792" y="2492896"/>
                  <a:ext cx="1656184" cy="738664"/>
                </a:xfrm>
                <a:prstGeom prst="rect">
                  <a:avLst/>
                </a:prstGeom>
                <a:noFill/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400" dirty="0"/>
                    <a:t>JDBC code layer provided by </a:t>
                  </a:r>
                  <a:r>
                    <a:rPr lang="en-GB" sz="1400" dirty="0" err="1"/>
                    <a:t>MySQL</a:t>
                  </a:r>
                  <a:r>
                    <a:rPr lang="en-GB" sz="1400" dirty="0"/>
                    <a:t> database provider</a:t>
                  </a:r>
                  <a:endParaRPr lang="en-IE" sz="1400" dirty="0"/>
                </a:p>
              </p:txBody>
            </p:sp>
            <p:cxnSp>
              <p:nvCxnSpPr>
                <p:cNvPr id="21" name="Straight Arrow Connector 20">
                  <a:extLst>
                    <a:ext uri="{FF2B5EF4-FFF2-40B4-BE49-F238E27FC236}">
                      <a16:creationId xmlns:a16="http://schemas.microsoft.com/office/drawing/2014/main" id="{25675E64-7F7C-DD63-3724-5E50B7C0B866}"/>
                    </a:ext>
                  </a:extLst>
                </p:cNvPr>
                <p:cNvCxnSpPr/>
                <p:nvPr/>
              </p:nvCxnSpPr>
              <p:spPr>
                <a:xfrm flipH="1">
                  <a:off x="2483768" y="3284984"/>
                  <a:ext cx="216024" cy="216024"/>
                </a:xfrm>
                <a:prstGeom prst="straightConnector1">
                  <a:avLst/>
                </a:prstGeom>
                <a:ln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287E20-2248-5BEE-4CDA-9FCFC22A7A43}"/>
                    </a:ext>
                  </a:extLst>
                </p:cNvPr>
                <p:cNvSpPr txBox="1"/>
                <p:nvPr/>
              </p:nvSpPr>
              <p:spPr>
                <a:xfrm>
                  <a:off x="683568" y="5445224"/>
                  <a:ext cx="813690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dirty="0"/>
                    <a:t>Most major RDBMS providers supply JDBC code libraries to allow java developers to easily connect to their database.</a:t>
                  </a:r>
                  <a:endParaRPr lang="en-IE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253778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B7103-1D66-5DF0-5B5F-39B28631D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Communicating With </a:t>
            </a:r>
            <a:br>
              <a:rPr lang="en-IE" dirty="0"/>
            </a:br>
            <a:r>
              <a:rPr lang="en-IE" dirty="0"/>
              <a:t>Different Databases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BF53E-3705-CF44-430E-74DFC6F61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11" y="4940289"/>
            <a:ext cx="10058400" cy="1096020"/>
          </a:xfrm>
        </p:spPr>
        <p:txBody>
          <a:bodyPr>
            <a:normAutofit fontScale="85000" lnSpcReduction="10000"/>
          </a:bodyPr>
          <a:lstStyle/>
          <a:p>
            <a:pPr lvl="1"/>
            <a:r>
              <a:rPr lang="en-US" sz="3200" dirty="0"/>
              <a:t>Each RDBMS has its own implementation of the JDBC Java Interfaces</a:t>
            </a:r>
          </a:p>
          <a:p>
            <a:pPr lvl="2"/>
            <a:r>
              <a:rPr lang="en-US" sz="2800" dirty="0"/>
              <a:t>E.g. Each JDBC library must have a class implementing the </a:t>
            </a:r>
            <a:r>
              <a:rPr lang="en-US" sz="2800" dirty="0" err="1"/>
              <a:t>PreparedStatement</a:t>
            </a:r>
            <a:r>
              <a:rPr lang="en-US" sz="2800" dirty="0"/>
              <a:t> interface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BF1E8D4-456C-F0B0-DA06-C5A184E6F88F}"/>
              </a:ext>
            </a:extLst>
          </p:cNvPr>
          <p:cNvGrpSpPr/>
          <p:nvPr/>
        </p:nvGrpSpPr>
        <p:grpSpPr>
          <a:xfrm>
            <a:off x="3780063" y="1836089"/>
            <a:ext cx="4631873" cy="2891018"/>
            <a:chOff x="3431719" y="1915456"/>
            <a:chExt cx="4631873" cy="2891018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EA48D23-B544-6865-4625-1636AC446B12}"/>
                </a:ext>
              </a:extLst>
            </p:cNvPr>
            <p:cNvGrpSpPr/>
            <p:nvPr/>
          </p:nvGrpSpPr>
          <p:grpSpPr>
            <a:xfrm>
              <a:off x="3431719" y="1915456"/>
              <a:ext cx="4631873" cy="2891018"/>
              <a:chOff x="2982686" y="1915456"/>
              <a:chExt cx="4631873" cy="2891018"/>
            </a:xfrm>
          </p:grpSpPr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8F3D20F3-8791-DDE2-1466-189754A85D39}"/>
                  </a:ext>
                </a:extLst>
              </p:cNvPr>
              <p:cNvGrpSpPr/>
              <p:nvPr/>
            </p:nvGrpSpPr>
            <p:grpSpPr>
              <a:xfrm>
                <a:off x="2982686" y="1915456"/>
                <a:ext cx="4631873" cy="2891018"/>
                <a:chOff x="1043608" y="1835532"/>
                <a:chExt cx="5302964" cy="3309889"/>
              </a:xfrm>
            </p:grpSpPr>
            <p:sp>
              <p:nvSpPr>
                <p:cNvPr id="5" name="Flowchart: Magnetic Disk 4">
                  <a:extLst>
                    <a:ext uri="{FF2B5EF4-FFF2-40B4-BE49-F238E27FC236}">
                      <a16:creationId xmlns:a16="http://schemas.microsoft.com/office/drawing/2014/main" id="{FBFEC864-BF8A-E639-DF71-A553D196EA07}"/>
                    </a:ext>
                  </a:extLst>
                </p:cNvPr>
                <p:cNvSpPr/>
                <p:nvPr/>
              </p:nvSpPr>
              <p:spPr>
                <a:xfrm>
                  <a:off x="5122437" y="2132856"/>
                  <a:ext cx="1224135" cy="864095"/>
                </a:xfrm>
                <a:prstGeom prst="flowChartMagneticDisk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 err="1"/>
                    <a:t>MySQL</a:t>
                  </a:r>
                  <a:endParaRPr lang="en-IE" dirty="0"/>
                </a:p>
              </p:txBody>
            </p:sp>
            <p:sp>
              <p:nvSpPr>
                <p:cNvPr id="6" name="Flowchart: Magnetic Disk 5">
                  <a:extLst>
                    <a:ext uri="{FF2B5EF4-FFF2-40B4-BE49-F238E27FC236}">
                      <a16:creationId xmlns:a16="http://schemas.microsoft.com/office/drawing/2014/main" id="{C884ECE1-DD0D-ED60-DDE5-A6C178485069}"/>
                    </a:ext>
                  </a:extLst>
                </p:cNvPr>
                <p:cNvSpPr/>
                <p:nvPr/>
              </p:nvSpPr>
              <p:spPr>
                <a:xfrm>
                  <a:off x="5122437" y="3232359"/>
                  <a:ext cx="1224135" cy="864095"/>
                </a:xfrm>
                <a:prstGeom prst="flowChartMagneticDisk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Oracle</a:t>
                  </a:r>
                  <a:endParaRPr lang="en-IE" dirty="0"/>
                </a:p>
              </p:txBody>
            </p:sp>
            <p:sp>
              <p:nvSpPr>
                <p:cNvPr id="7" name="Flowchart: Magnetic Disk 6">
                  <a:extLst>
                    <a:ext uri="{FF2B5EF4-FFF2-40B4-BE49-F238E27FC236}">
                      <a16:creationId xmlns:a16="http://schemas.microsoft.com/office/drawing/2014/main" id="{A06CE593-716D-EB2F-B3B1-46ED546A16C7}"/>
                    </a:ext>
                  </a:extLst>
                </p:cNvPr>
                <p:cNvSpPr/>
                <p:nvPr/>
              </p:nvSpPr>
              <p:spPr>
                <a:xfrm>
                  <a:off x="5122437" y="4281326"/>
                  <a:ext cx="1224135" cy="864095"/>
                </a:xfrm>
                <a:prstGeom prst="flowChartMagneticDisk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 err="1"/>
                    <a:t>PostgresQL</a:t>
                  </a:r>
                  <a:endParaRPr lang="en-IE" dirty="0"/>
                </a:p>
              </p:txBody>
            </p:sp>
            <p:sp>
              <p:nvSpPr>
                <p:cNvPr id="8" name="Flowchart: Alternate Process 7">
                  <a:extLst>
                    <a:ext uri="{FF2B5EF4-FFF2-40B4-BE49-F238E27FC236}">
                      <a16:creationId xmlns:a16="http://schemas.microsoft.com/office/drawing/2014/main" id="{5B959095-1765-CF5D-BD09-57867A66F25F}"/>
                    </a:ext>
                  </a:extLst>
                </p:cNvPr>
                <p:cNvSpPr/>
                <p:nvPr/>
              </p:nvSpPr>
              <p:spPr>
                <a:xfrm>
                  <a:off x="1403648" y="2924944"/>
                  <a:ext cx="1080120" cy="1728192"/>
                </a:xfrm>
                <a:prstGeom prst="flowChartAlternate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E"/>
                </a:p>
              </p:txBody>
            </p:sp>
            <p:sp>
              <p:nvSpPr>
                <p:cNvPr id="9" name="Flowchart: Alternate Process 8">
                  <a:extLst>
                    <a:ext uri="{FF2B5EF4-FFF2-40B4-BE49-F238E27FC236}">
                      <a16:creationId xmlns:a16="http://schemas.microsoft.com/office/drawing/2014/main" id="{614CC325-9695-4F8F-FA8E-0DF45D5D4A27}"/>
                    </a:ext>
                  </a:extLst>
                </p:cNvPr>
                <p:cNvSpPr/>
                <p:nvPr/>
              </p:nvSpPr>
              <p:spPr>
                <a:xfrm>
                  <a:off x="3275856" y="2204864"/>
                  <a:ext cx="144016" cy="792088"/>
                </a:xfrm>
                <a:prstGeom prst="flowChartAlternate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E"/>
                </a:p>
              </p:txBody>
            </p:sp>
            <p:sp>
              <p:nvSpPr>
                <p:cNvPr id="10" name="Flowchart: Alternate Process 9">
                  <a:extLst>
                    <a:ext uri="{FF2B5EF4-FFF2-40B4-BE49-F238E27FC236}">
                      <a16:creationId xmlns:a16="http://schemas.microsoft.com/office/drawing/2014/main" id="{25392F10-FE14-AA7E-EC5A-1BBE3482636F}"/>
                    </a:ext>
                  </a:extLst>
                </p:cNvPr>
                <p:cNvSpPr/>
                <p:nvPr/>
              </p:nvSpPr>
              <p:spPr>
                <a:xfrm>
                  <a:off x="3275856" y="3212976"/>
                  <a:ext cx="144016" cy="792088"/>
                </a:xfrm>
                <a:prstGeom prst="flowChartAlternate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E"/>
                </a:p>
              </p:txBody>
            </p:sp>
            <p:sp>
              <p:nvSpPr>
                <p:cNvPr id="11" name="Flowchart: Alternate Process 10">
                  <a:extLst>
                    <a:ext uri="{FF2B5EF4-FFF2-40B4-BE49-F238E27FC236}">
                      <a16:creationId xmlns:a16="http://schemas.microsoft.com/office/drawing/2014/main" id="{412CFC15-D4F9-D0F9-B3FC-837CD7B851BC}"/>
                    </a:ext>
                  </a:extLst>
                </p:cNvPr>
                <p:cNvSpPr/>
                <p:nvPr/>
              </p:nvSpPr>
              <p:spPr>
                <a:xfrm>
                  <a:off x="3275856" y="4221088"/>
                  <a:ext cx="144016" cy="792088"/>
                </a:xfrm>
                <a:prstGeom prst="flowChartAlternateProcess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E"/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9A32EAC1-12C1-B7E9-299B-EFEC9AA379CE}"/>
                    </a:ext>
                  </a:extLst>
                </p:cNvPr>
                <p:cNvCxnSpPr/>
                <p:nvPr/>
              </p:nvCxnSpPr>
              <p:spPr>
                <a:xfrm flipV="1">
                  <a:off x="2627784" y="2636912"/>
                  <a:ext cx="576064" cy="1152128"/>
                </a:xfrm>
                <a:prstGeom prst="straightConnector1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E018635D-D581-2E87-9667-BD2C43D9D2BA}"/>
                    </a:ext>
                  </a:extLst>
                </p:cNvPr>
                <p:cNvCxnSpPr/>
                <p:nvPr/>
              </p:nvCxnSpPr>
              <p:spPr>
                <a:xfrm>
                  <a:off x="2627784" y="3789040"/>
                  <a:ext cx="576064" cy="0"/>
                </a:xfrm>
                <a:prstGeom prst="straightConnector1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DA044F82-7097-F616-E523-165D0E3C8C23}"/>
                    </a:ext>
                  </a:extLst>
                </p:cNvPr>
                <p:cNvCxnSpPr/>
                <p:nvPr/>
              </p:nvCxnSpPr>
              <p:spPr>
                <a:xfrm>
                  <a:off x="2627784" y="3789040"/>
                  <a:ext cx="576064" cy="936104"/>
                </a:xfrm>
                <a:prstGeom prst="straightConnector1">
                  <a:avLst/>
                </a:prstGeom>
                <a:ln>
                  <a:headEnd type="arrow"/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B8F5FE7-58C0-D80B-42F5-354788226126}"/>
                    </a:ext>
                  </a:extLst>
                </p:cNvPr>
                <p:cNvSpPr txBox="1"/>
                <p:nvPr/>
              </p:nvSpPr>
              <p:spPr>
                <a:xfrm>
                  <a:off x="1043608" y="2348880"/>
                  <a:ext cx="165218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Our Application</a:t>
                  </a:r>
                  <a:endParaRPr lang="en-IE" dirty="0"/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624B60-4B02-85AB-31AB-46B2F63D85C2}"/>
                    </a:ext>
                  </a:extLst>
                </p:cNvPr>
                <p:cNvSpPr txBox="1"/>
                <p:nvPr/>
              </p:nvSpPr>
              <p:spPr>
                <a:xfrm>
                  <a:off x="2915816" y="1835532"/>
                  <a:ext cx="120347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dirty="0"/>
                    <a:t>JDBC Layer</a:t>
                  </a:r>
                  <a:endParaRPr lang="en-IE" dirty="0"/>
                </a:p>
              </p:txBody>
            </p:sp>
          </p:grp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612293CB-5D3F-D520-A35E-28A3F96EA6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92484" y="3494137"/>
                <a:ext cx="1200153" cy="0"/>
              </a:xfrm>
              <a:prstGeom prst="straightConnector1">
                <a:avLst/>
              </a:prstGeom>
              <a:ln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2122FDA-3906-477B-D3CA-BEE20EB1C60C}"/>
                </a:ext>
              </a:extLst>
            </p:cNvPr>
            <p:cNvCxnSpPr>
              <a:cxnSpLocks/>
            </p:cNvCxnSpPr>
            <p:nvPr/>
          </p:nvCxnSpPr>
          <p:spPr>
            <a:xfrm>
              <a:off x="5663285" y="4386771"/>
              <a:ext cx="1200153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DACBB5E-C515-20B7-64BC-6F1025FCDA7B}"/>
                </a:ext>
              </a:extLst>
            </p:cNvPr>
            <p:cNvCxnSpPr>
              <a:cxnSpLocks/>
            </p:cNvCxnSpPr>
            <p:nvPr/>
          </p:nvCxnSpPr>
          <p:spPr>
            <a:xfrm>
              <a:off x="5641516" y="2601504"/>
              <a:ext cx="1200153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98334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987D5-924A-FAA3-B71D-429CB6FA1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Adding JDBC Drivers -</a:t>
            </a:r>
            <a:br>
              <a:rPr lang="en-IE" dirty="0"/>
            </a:br>
            <a:r>
              <a:rPr lang="en-IE" dirty="0"/>
              <a:t>Including the Database’s Translator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39B17-7061-EC72-0791-637252F85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53783"/>
          </a:xfrm>
        </p:spPr>
        <p:txBody>
          <a:bodyPr>
            <a:normAutofit fontScale="55000" lnSpcReduction="20000"/>
          </a:bodyPr>
          <a:lstStyle/>
          <a:p>
            <a:pPr lvl="1"/>
            <a:r>
              <a:rPr lang="en-IE" sz="3200" dirty="0"/>
              <a:t>JDBC code libraries are referred to as </a:t>
            </a:r>
            <a:r>
              <a:rPr lang="en-IE" sz="3200" i="1" dirty="0"/>
              <a:t>JDBC drivers </a:t>
            </a:r>
            <a:r>
              <a:rPr lang="en-IE" sz="3200" dirty="0"/>
              <a:t>– jar files containing necessary classes</a:t>
            </a:r>
          </a:p>
          <a:p>
            <a:pPr lvl="2"/>
            <a:r>
              <a:rPr lang="en-IE" sz="2800" dirty="0"/>
              <a:t>E.g. mysql-connector-java-8.0.30.jar </a:t>
            </a:r>
          </a:p>
          <a:p>
            <a:pPr lvl="1"/>
            <a:r>
              <a:rPr lang="en-IE" sz="3200" dirty="0"/>
              <a:t>To use any database-related components in our code, we must include the appropriate driver in each project.</a:t>
            </a:r>
          </a:p>
          <a:p>
            <a:pPr lvl="2"/>
            <a:r>
              <a:rPr lang="en-US" sz="2800" dirty="0"/>
              <a:t>Once the jar file is included in the project, the specific JDBC classes can be used by that project’s code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To add a jar file to a project, we need to update the project’s POM file: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IE" sz="2900" dirty="0"/>
              <a:t>Open pom.xml (contained in “Project Files”)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IE" sz="2900" dirty="0"/>
              <a:t>Add the following below the &lt;properties&gt; tags</a:t>
            </a:r>
          </a:p>
          <a:p>
            <a:pPr marL="384048" lvl="2" indent="0">
              <a:buNone/>
            </a:pPr>
            <a:r>
              <a:rPr lang="en-IE" sz="2900" dirty="0"/>
              <a:t> </a:t>
            </a:r>
            <a:r>
              <a:rPr lang="en-IE" sz="2900" dirty="0">
                <a:solidFill>
                  <a:srgbClr val="FF0000"/>
                </a:solidFill>
              </a:rPr>
              <a:t>&lt;dependencies&gt;</a:t>
            </a:r>
          </a:p>
          <a:p>
            <a:pPr marL="384048" lvl="2" indent="0">
              <a:buNone/>
            </a:pPr>
            <a:r>
              <a:rPr lang="en-IE" sz="2900" dirty="0"/>
              <a:t>    &lt;!-- https://mvnrepository.com/artifact/mysql/mysql-connector-java --&gt;</a:t>
            </a:r>
          </a:p>
          <a:p>
            <a:pPr marL="384048" lvl="2" indent="0">
              <a:buNone/>
            </a:pPr>
            <a:r>
              <a:rPr lang="en-IE" sz="2900" dirty="0">
                <a:solidFill>
                  <a:schemeClr val="accent2"/>
                </a:solidFill>
              </a:rPr>
              <a:t>    &lt;dependency&gt;</a:t>
            </a:r>
          </a:p>
          <a:p>
            <a:pPr marL="384048" lvl="2" indent="0">
              <a:buNone/>
            </a:pPr>
            <a:r>
              <a:rPr lang="en-IE" sz="2900" dirty="0"/>
              <a:t>	&lt;</a:t>
            </a:r>
            <a:r>
              <a:rPr lang="en-IE" sz="2900" dirty="0" err="1"/>
              <a:t>groupId</a:t>
            </a:r>
            <a:r>
              <a:rPr lang="en-IE" sz="2900" dirty="0"/>
              <a:t>&gt;</a:t>
            </a:r>
            <a:r>
              <a:rPr lang="en-IE" sz="2900" dirty="0" err="1"/>
              <a:t>com.mysql</a:t>
            </a:r>
            <a:r>
              <a:rPr lang="en-IE" sz="2900" dirty="0"/>
              <a:t>&lt;/</a:t>
            </a:r>
            <a:r>
              <a:rPr lang="en-IE" sz="2900" dirty="0" err="1"/>
              <a:t>groupId</a:t>
            </a:r>
            <a:r>
              <a:rPr lang="en-IE" sz="2900" dirty="0"/>
              <a:t>&gt;</a:t>
            </a:r>
          </a:p>
          <a:p>
            <a:pPr marL="384048" lvl="2" indent="0">
              <a:buNone/>
            </a:pPr>
            <a:r>
              <a:rPr lang="en-IE" sz="2900" dirty="0"/>
              <a:t>	&lt;</a:t>
            </a:r>
            <a:r>
              <a:rPr lang="en-IE" sz="2900" dirty="0" err="1"/>
              <a:t>artifactId</a:t>
            </a:r>
            <a:r>
              <a:rPr lang="en-IE" sz="2900" dirty="0"/>
              <a:t>&gt;</a:t>
            </a:r>
            <a:r>
              <a:rPr lang="en-IE" sz="2900" dirty="0" err="1"/>
              <a:t>mysql</a:t>
            </a:r>
            <a:r>
              <a:rPr lang="en-IE" sz="2900" dirty="0"/>
              <a:t>-connector-j&lt;/</a:t>
            </a:r>
            <a:r>
              <a:rPr lang="en-IE" sz="2900" dirty="0" err="1"/>
              <a:t>artifactId</a:t>
            </a:r>
            <a:r>
              <a:rPr lang="en-IE" sz="2900" dirty="0"/>
              <a:t>&gt;</a:t>
            </a:r>
          </a:p>
          <a:p>
            <a:pPr marL="384048" lvl="2" indent="0">
              <a:buNone/>
            </a:pPr>
            <a:r>
              <a:rPr lang="en-IE" sz="2900" dirty="0"/>
              <a:t>	&lt;version&gt;9.3.0&lt;/version&gt;</a:t>
            </a:r>
          </a:p>
          <a:p>
            <a:pPr marL="384048" lvl="2" indent="0">
              <a:buNone/>
            </a:pPr>
            <a:r>
              <a:rPr lang="en-IE" sz="2900" dirty="0">
                <a:solidFill>
                  <a:schemeClr val="accent2"/>
                </a:solidFill>
              </a:rPr>
              <a:t>    &lt;/dependency&gt;</a:t>
            </a:r>
          </a:p>
          <a:p>
            <a:pPr marL="384048" lvl="2" indent="0">
              <a:buNone/>
            </a:pPr>
            <a:r>
              <a:rPr lang="en-IE" sz="2900" dirty="0"/>
              <a:t> </a:t>
            </a:r>
            <a:r>
              <a:rPr lang="en-IE" sz="2900" dirty="0">
                <a:solidFill>
                  <a:srgbClr val="FF0000"/>
                </a:solidFill>
              </a:rPr>
              <a:t>&lt;/dependencies&gt;</a:t>
            </a:r>
          </a:p>
        </p:txBody>
      </p:sp>
    </p:spTree>
    <p:extLst>
      <p:ext uri="{BB962C8B-B14F-4D97-AF65-F5344CB8AC3E}">
        <p14:creationId xmlns:p14="http://schemas.microsoft.com/office/powerpoint/2010/main" val="4076090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54D1-E26C-9895-848C-4211C93FE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Steps Required for </a:t>
            </a:r>
            <a:br>
              <a:rPr lang="en-IE" dirty="0"/>
            </a:br>
            <a:r>
              <a:rPr lang="en-IE" dirty="0"/>
              <a:t>Database Communication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453E-4A7D-F8E8-5714-A4D031589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Load the database driver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Get a connection to the database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Write the SQL query you wish to execute on the database 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Load the query into a statement and prepare it for execution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Execute the query and get results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Process the results – Either loop through the results retrieved or deal with the single result returned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Close everything you opened, i.e.: </a:t>
            </a:r>
          </a:p>
          <a:p>
            <a:pPr lvl="2"/>
            <a:r>
              <a:rPr lang="en-US" sz="2800" dirty="0"/>
              <a:t>The object to hold the results</a:t>
            </a:r>
          </a:p>
          <a:p>
            <a:pPr lvl="2"/>
            <a:r>
              <a:rPr lang="en-US" sz="2800" dirty="0"/>
              <a:t>The statement used to run SQL</a:t>
            </a:r>
          </a:p>
          <a:p>
            <a:pPr lvl="2"/>
            <a:r>
              <a:rPr lang="en-US" sz="2800" dirty="0"/>
              <a:t>The connection used to interact with the database</a:t>
            </a:r>
          </a:p>
          <a:p>
            <a:pPr lvl="1"/>
            <a:endParaRPr lang="en-IE" sz="3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3B63ECC-4E53-11DE-AA78-3545F7FFC0B6}"/>
              </a:ext>
            </a:extLst>
          </p:cNvPr>
          <p:cNvGrpSpPr/>
          <p:nvPr/>
        </p:nvGrpSpPr>
        <p:grpSpPr>
          <a:xfrm>
            <a:off x="8244408" y="1814900"/>
            <a:ext cx="3570590" cy="647162"/>
            <a:chOff x="5148064" y="1845734"/>
            <a:chExt cx="3570590" cy="647162"/>
          </a:xfrm>
        </p:grpSpPr>
        <p:sp>
          <p:nvSpPr>
            <p:cNvPr id="5" name="Right Brace 4">
              <a:extLst>
                <a:ext uri="{FF2B5EF4-FFF2-40B4-BE49-F238E27FC236}">
                  <a16:creationId xmlns:a16="http://schemas.microsoft.com/office/drawing/2014/main" id="{8AA7FB29-B1D6-6DC3-47C3-6C219286541C}"/>
                </a:ext>
              </a:extLst>
            </p:cNvPr>
            <p:cNvSpPr/>
            <p:nvPr/>
          </p:nvSpPr>
          <p:spPr>
            <a:xfrm>
              <a:off x="5148064" y="1845734"/>
              <a:ext cx="432048" cy="64716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7783D2-B975-606F-7D38-6BD13675E504}"/>
                </a:ext>
              </a:extLst>
            </p:cNvPr>
            <p:cNvSpPr txBox="1"/>
            <p:nvPr/>
          </p:nvSpPr>
          <p:spPr>
            <a:xfrm>
              <a:off x="5550302" y="1984649"/>
              <a:ext cx="31683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Set up for database interaction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7A98BD42-8700-A1D3-82DE-59A60D9E7434}"/>
              </a:ext>
            </a:extLst>
          </p:cNvPr>
          <p:cNvGrpSpPr/>
          <p:nvPr/>
        </p:nvGrpSpPr>
        <p:grpSpPr>
          <a:xfrm>
            <a:off x="9720219" y="2637447"/>
            <a:ext cx="2016224" cy="3407032"/>
            <a:chOff x="6948264" y="2708920"/>
            <a:chExt cx="2016224" cy="34070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1B4C1E2-1C20-D51B-BA22-33A24421D651}"/>
                </a:ext>
              </a:extLst>
            </p:cNvPr>
            <p:cNvGrpSpPr/>
            <p:nvPr/>
          </p:nvGrpSpPr>
          <p:grpSpPr>
            <a:xfrm>
              <a:off x="6948264" y="2708920"/>
              <a:ext cx="2016224" cy="3407032"/>
              <a:chOff x="6948264" y="2708920"/>
              <a:chExt cx="2016224" cy="3407032"/>
            </a:xfrm>
          </p:grpSpPr>
          <p:sp>
            <p:nvSpPr>
              <p:cNvPr id="10" name="Right Brace 9">
                <a:extLst>
                  <a:ext uri="{FF2B5EF4-FFF2-40B4-BE49-F238E27FC236}">
                    <a16:creationId xmlns:a16="http://schemas.microsoft.com/office/drawing/2014/main" id="{F34F2EBF-2412-C5D5-814B-7CD5EB839344}"/>
                  </a:ext>
                </a:extLst>
              </p:cNvPr>
              <p:cNvSpPr/>
              <p:nvPr/>
            </p:nvSpPr>
            <p:spPr>
              <a:xfrm>
                <a:off x="7884368" y="2708920"/>
                <a:ext cx="720080" cy="2160240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E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198F43-3E78-5A5D-3A42-5AA921B01F3A}"/>
                  </a:ext>
                </a:extLst>
              </p:cNvPr>
              <p:cNvSpPr txBox="1"/>
              <p:nvPr/>
            </p:nvSpPr>
            <p:spPr>
              <a:xfrm>
                <a:off x="6948264" y="5469621"/>
                <a:ext cx="2016224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E" dirty="0"/>
                  <a:t>Specific interaction with database</a:t>
                </a:r>
              </a:p>
            </p:txBody>
          </p:sp>
        </p:grpSp>
        <p:cxnSp>
          <p:nvCxnSpPr>
            <p:cNvPr id="9" name="Elbow Connector 18">
              <a:extLst>
                <a:ext uri="{FF2B5EF4-FFF2-40B4-BE49-F238E27FC236}">
                  <a16:creationId xmlns:a16="http://schemas.microsoft.com/office/drawing/2014/main" id="{73D557C5-664F-F2C5-D906-DCFFE727632D}"/>
                </a:ext>
              </a:extLst>
            </p:cNvPr>
            <p:cNvCxnSpPr>
              <a:stCxn id="10" idx="1"/>
              <a:endCxn id="11" idx="0"/>
            </p:cNvCxnSpPr>
            <p:nvPr/>
          </p:nvCxnSpPr>
          <p:spPr>
            <a:xfrm rot="10800000" flipV="1">
              <a:off x="7956376" y="3789039"/>
              <a:ext cx="648072" cy="1680581"/>
            </a:xfrm>
            <a:prstGeom prst="bentConnector4">
              <a:avLst>
                <a:gd name="adj1" fmla="val -15376"/>
                <a:gd name="adj2" fmla="val 8213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112142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4224E8-A332-E922-2D95-C4D83FFD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Database Communication in Code:</a:t>
            </a:r>
            <a:br>
              <a:rPr lang="en-IE" dirty="0"/>
            </a:br>
            <a:r>
              <a:rPr lang="en-IE" dirty="0"/>
              <a:t>Step 1) Driver Inclusion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3158-21E4-67E3-1B97-1C5297477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1"/>
            <a:r>
              <a:rPr lang="en-US" sz="3200" dirty="0"/>
              <a:t>Before we try to work with a database, we need to speak its language</a:t>
            </a:r>
          </a:p>
          <a:p>
            <a:pPr lvl="2"/>
            <a:r>
              <a:rPr lang="en-US" sz="2800" dirty="0"/>
              <a:t>If you do not have the driver added to the project’s library (i.e. the POM file), then programs will not work correctly when the code is run.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To do this, we need to load up the database’s driver</a:t>
            </a:r>
          </a:p>
          <a:p>
            <a:pPr lvl="2"/>
            <a:r>
              <a:rPr lang="en-US" sz="2800" dirty="0"/>
              <a:t>I.e. Load the code from an external provider that allows us to communicate with the database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In code: </a:t>
            </a:r>
          </a:p>
          <a:p>
            <a:pPr lvl="2"/>
            <a:r>
              <a:rPr lang="en-US" sz="2800" dirty="0" err="1"/>
              <a:t>Class.forName</a:t>
            </a:r>
            <a:r>
              <a:rPr lang="en-US" sz="2800" dirty="0"/>
              <a:t>("</a:t>
            </a:r>
            <a:r>
              <a:rPr lang="en-US" sz="2800" b="1" dirty="0" err="1"/>
              <a:t>com.mysql.cj.jdbc.Driver</a:t>
            </a:r>
            <a:r>
              <a:rPr lang="en-US" sz="2800" dirty="0"/>
              <a:t>");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This name </a:t>
            </a:r>
            <a:r>
              <a:rPr lang="en-US" sz="3200" b="1" u="sng" dirty="0"/>
              <a:t>DOES NOT CHANGE</a:t>
            </a:r>
            <a:r>
              <a:rPr lang="en-US" sz="3200" dirty="0"/>
              <a:t> and is </a:t>
            </a:r>
            <a:r>
              <a:rPr lang="en-US" sz="3200" b="1" u="sng" dirty="0"/>
              <a:t>CASE-SENSITIVE</a:t>
            </a:r>
            <a:r>
              <a:rPr lang="en-US" sz="3200" dirty="0"/>
              <a:t>. When you use the </a:t>
            </a:r>
            <a:r>
              <a:rPr lang="en-US" sz="3200" dirty="0" err="1"/>
              <a:t>mysql</a:t>
            </a:r>
            <a:r>
              <a:rPr lang="en-US" sz="3200" dirty="0"/>
              <a:t> driver, it is always called </a:t>
            </a:r>
            <a:r>
              <a:rPr lang="en-US" sz="3200" dirty="0" err="1"/>
              <a:t>com.mysql.cj.jdbc.Driver</a:t>
            </a:r>
            <a:r>
              <a:rPr lang="en-US" sz="3200" dirty="0"/>
              <a:t>, no matter what your driver file’s name actually is. </a:t>
            </a:r>
          </a:p>
          <a:p>
            <a:pPr lvl="2"/>
            <a:r>
              <a:rPr lang="en-US" sz="2800" dirty="0"/>
              <a:t>Why?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836183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9597-6BFD-DD4D-7D6A-FB5E2FFEF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Database Communication in Code:</a:t>
            </a:r>
            <a:br>
              <a:rPr lang="en-IE" dirty="0"/>
            </a:br>
            <a:r>
              <a:rPr lang="en-IE" dirty="0"/>
              <a:t>Step 2) Connect to the 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14CB2-4AEC-5C69-BE37-2E556370E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3196529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US" sz="3200" dirty="0"/>
              <a:t>Just like working with a database via command line, the program needs a connection to the database to interact over.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We connect to a database via a specific URL and supply the username &amp; password to access that database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Making a connection:</a:t>
            </a:r>
          </a:p>
          <a:p>
            <a:pPr lvl="1"/>
            <a:endParaRPr lang="en-IE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1193C9-BC04-A79C-1902-FDD79D4CD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762" y="4852849"/>
            <a:ext cx="9067070" cy="1214850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FAE5CA7-6F41-F93F-F464-0F0496E74CC1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7555110" y="4217952"/>
            <a:ext cx="504055" cy="607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691B10E-0FBE-10B6-C899-5287E6044910}"/>
              </a:ext>
            </a:extLst>
          </p:cNvPr>
          <p:cNvSpPr txBox="1"/>
          <p:nvPr/>
        </p:nvSpPr>
        <p:spPr>
          <a:xfrm>
            <a:off x="8059165" y="4033286"/>
            <a:ext cx="2758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URL to the database server</a:t>
            </a:r>
          </a:p>
        </p:txBody>
      </p:sp>
    </p:spTree>
    <p:extLst>
      <p:ext uri="{BB962C8B-B14F-4D97-AF65-F5344CB8AC3E}">
        <p14:creationId xmlns:p14="http://schemas.microsoft.com/office/powerpoint/2010/main" val="3019324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4BD5-75D3-CFFF-90EC-19547D4A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Understanding the Database URL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3923-07D3-6721-A4CD-E5B7503D0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lvl="1"/>
            <a:r>
              <a:rPr lang="ga-IE" sz="2600" dirty="0"/>
              <a:t>Final URL:</a:t>
            </a:r>
          </a:p>
          <a:p>
            <a:pPr lvl="2"/>
            <a:r>
              <a:rPr lang="ga-IE" sz="2400" b="1" dirty="0">
                <a:solidFill>
                  <a:srgbClr val="FF0000"/>
                </a:solidFill>
              </a:rPr>
              <a:t>jdbc</a:t>
            </a:r>
            <a:r>
              <a:rPr lang="ga-IE" sz="2400" b="1" dirty="0"/>
              <a:t>:</a:t>
            </a:r>
            <a:r>
              <a:rPr lang="ga-IE" sz="2400" b="1" dirty="0">
                <a:solidFill>
                  <a:srgbClr val="7030A0"/>
                </a:solidFill>
              </a:rPr>
              <a:t>mysql</a:t>
            </a:r>
            <a:r>
              <a:rPr lang="ga-IE" sz="2400" b="1" dirty="0"/>
              <a:t>://</a:t>
            </a:r>
            <a:r>
              <a:rPr lang="ga-IE" sz="2400" b="1" dirty="0">
                <a:solidFill>
                  <a:srgbClr val="00B050"/>
                </a:solidFill>
              </a:rPr>
              <a:t>localhost</a:t>
            </a:r>
            <a:r>
              <a:rPr lang="ga-IE" sz="2400" b="1" dirty="0"/>
              <a:t>:</a:t>
            </a:r>
            <a:r>
              <a:rPr lang="ga-IE" sz="2400" b="1" dirty="0">
                <a:solidFill>
                  <a:srgbClr val="0070C0"/>
                </a:solidFill>
              </a:rPr>
              <a:t>3306</a:t>
            </a:r>
            <a:r>
              <a:rPr lang="ga-IE" sz="2400" b="1" dirty="0"/>
              <a:t>/</a:t>
            </a:r>
            <a:r>
              <a:rPr lang="ga-IE" sz="2400" b="1" dirty="0">
                <a:solidFill>
                  <a:srgbClr val="FFC000"/>
                </a:solidFill>
              </a:rPr>
              <a:t>test</a:t>
            </a:r>
            <a:endParaRPr lang="en-IE" sz="2400" b="1" dirty="0">
              <a:solidFill>
                <a:srgbClr val="FFC000"/>
              </a:solidFill>
            </a:endParaRPr>
          </a:p>
          <a:p>
            <a:pPr lvl="1"/>
            <a:endParaRPr lang="en-IE" sz="1400" dirty="0"/>
          </a:p>
          <a:p>
            <a:pPr lvl="1"/>
            <a:r>
              <a:rPr lang="en-IE" sz="2600" dirty="0"/>
              <a:t>The </a:t>
            </a:r>
            <a:r>
              <a:rPr lang="ga-IE" sz="2600" dirty="0"/>
              <a:t>URL is broken into :</a:t>
            </a:r>
          </a:p>
          <a:p>
            <a:pPr lvl="2"/>
            <a:r>
              <a:rPr lang="ga-IE" sz="2400" b="1" dirty="0">
                <a:solidFill>
                  <a:srgbClr val="FF0000"/>
                </a:solidFill>
              </a:rPr>
              <a:t>Protocol</a:t>
            </a:r>
            <a:r>
              <a:rPr lang="ga-IE" sz="2400" dirty="0"/>
              <a:t> to be used and </a:t>
            </a:r>
            <a:r>
              <a:rPr lang="ga-IE" sz="2400" b="1" dirty="0">
                <a:solidFill>
                  <a:srgbClr val="7030A0"/>
                </a:solidFill>
              </a:rPr>
              <a:t>database type </a:t>
            </a:r>
            <a:r>
              <a:rPr lang="en-IE" sz="2400" dirty="0"/>
              <a:t>being accessed</a:t>
            </a:r>
            <a:r>
              <a:rPr lang="ga-IE" sz="2400" dirty="0"/>
              <a:t> </a:t>
            </a:r>
            <a:endParaRPr lang="en-IE" sz="2400" dirty="0"/>
          </a:p>
          <a:p>
            <a:pPr lvl="3"/>
            <a:r>
              <a:rPr lang="ga-IE" sz="1900" dirty="0"/>
              <a:t>“</a:t>
            </a:r>
            <a:r>
              <a:rPr lang="ga-IE" sz="1900" b="1" dirty="0">
                <a:solidFill>
                  <a:srgbClr val="FF0000"/>
                </a:solidFill>
              </a:rPr>
              <a:t>jdbc</a:t>
            </a:r>
            <a:r>
              <a:rPr lang="ga-IE" sz="1900" b="1" dirty="0"/>
              <a:t>:</a:t>
            </a:r>
            <a:r>
              <a:rPr lang="ga-IE" sz="1900" b="1" dirty="0">
                <a:solidFill>
                  <a:srgbClr val="7030A0"/>
                </a:solidFill>
              </a:rPr>
              <a:t>mysql</a:t>
            </a:r>
            <a:r>
              <a:rPr lang="ga-IE" sz="1900" b="1" dirty="0"/>
              <a:t>://</a:t>
            </a:r>
            <a:r>
              <a:rPr lang="ga-IE" sz="1900" dirty="0"/>
              <a:t>” (“</a:t>
            </a:r>
            <a:r>
              <a:rPr lang="ga-IE" sz="1900" b="1" dirty="0">
                <a:solidFill>
                  <a:srgbClr val="FF0000"/>
                </a:solidFill>
              </a:rPr>
              <a:t>jdbc</a:t>
            </a:r>
            <a:r>
              <a:rPr lang="ga-IE" sz="1900" dirty="0"/>
              <a:t>” is always used)</a:t>
            </a:r>
          </a:p>
          <a:p>
            <a:pPr lvl="2"/>
            <a:endParaRPr lang="en-IE" sz="2400" b="1" dirty="0">
              <a:solidFill>
                <a:srgbClr val="00B050"/>
              </a:solidFill>
            </a:endParaRPr>
          </a:p>
          <a:p>
            <a:pPr lvl="2"/>
            <a:r>
              <a:rPr lang="ga-IE" sz="2400" b="1" dirty="0">
                <a:solidFill>
                  <a:srgbClr val="00B050"/>
                </a:solidFill>
              </a:rPr>
              <a:t>IP</a:t>
            </a:r>
            <a:r>
              <a:rPr lang="ga-IE" sz="2400" dirty="0"/>
              <a:t> </a:t>
            </a:r>
            <a:r>
              <a:rPr lang="en-IE" sz="2400" dirty="0"/>
              <a:t>where </a:t>
            </a:r>
            <a:r>
              <a:rPr lang="ga-IE" sz="2400" dirty="0"/>
              <a:t>the database server is running </a:t>
            </a:r>
            <a:r>
              <a:rPr lang="en-IE" sz="2400" dirty="0"/>
              <a:t>and </a:t>
            </a:r>
            <a:r>
              <a:rPr lang="en-IE" sz="2400" b="1" dirty="0">
                <a:solidFill>
                  <a:srgbClr val="0070C0"/>
                </a:solidFill>
              </a:rPr>
              <a:t>port</a:t>
            </a:r>
            <a:r>
              <a:rPr lang="en-IE" sz="2400" dirty="0"/>
              <a:t> it’s listening on – Together : </a:t>
            </a:r>
            <a:r>
              <a:rPr lang="ga-IE" sz="2400" b="1" dirty="0">
                <a:solidFill>
                  <a:srgbClr val="00B050"/>
                </a:solidFill>
              </a:rPr>
              <a:t>localhost</a:t>
            </a:r>
            <a:r>
              <a:rPr lang="ga-IE" sz="2400" b="1" dirty="0"/>
              <a:t>:</a:t>
            </a:r>
            <a:r>
              <a:rPr lang="ga-IE" sz="2400" b="1" dirty="0">
                <a:solidFill>
                  <a:srgbClr val="0070C0"/>
                </a:solidFill>
              </a:rPr>
              <a:t>3306</a:t>
            </a:r>
            <a:r>
              <a:rPr lang="ga-IE" sz="2400" b="1" dirty="0"/>
              <a:t>/</a:t>
            </a:r>
            <a:endParaRPr lang="en-IE" sz="2400" dirty="0"/>
          </a:p>
          <a:p>
            <a:pPr lvl="3"/>
            <a:r>
              <a:rPr lang="ga-IE" sz="1900" b="1" dirty="0">
                <a:solidFill>
                  <a:srgbClr val="00B050"/>
                </a:solidFill>
              </a:rPr>
              <a:t>IP</a:t>
            </a:r>
            <a:r>
              <a:rPr lang="ga-IE" sz="1900" dirty="0"/>
              <a:t> is </a:t>
            </a:r>
            <a:r>
              <a:rPr lang="ga-IE" sz="1900" b="1" dirty="0">
                <a:solidFill>
                  <a:srgbClr val="00B050"/>
                </a:solidFill>
              </a:rPr>
              <a:t>localhost</a:t>
            </a:r>
            <a:r>
              <a:rPr lang="ga-IE" sz="1900" b="1" dirty="0"/>
              <a:t> </a:t>
            </a:r>
            <a:r>
              <a:rPr lang="ga-IE" sz="1900" dirty="0"/>
              <a:t>where the server is on the same computer as your code)</a:t>
            </a:r>
            <a:endParaRPr lang="en-IE" sz="1900" dirty="0"/>
          </a:p>
          <a:p>
            <a:pPr lvl="3"/>
            <a:r>
              <a:rPr lang="ga-IE" sz="1900" b="1" dirty="0">
                <a:solidFill>
                  <a:srgbClr val="0070C0"/>
                </a:solidFill>
              </a:rPr>
              <a:t>Port</a:t>
            </a:r>
            <a:r>
              <a:rPr lang="ga-IE" sz="1900" dirty="0">
                <a:solidFill>
                  <a:srgbClr val="0070C0"/>
                </a:solidFill>
              </a:rPr>
              <a:t> </a:t>
            </a:r>
            <a:r>
              <a:rPr lang="ga-IE" sz="1900" dirty="0"/>
              <a:t>is </a:t>
            </a:r>
            <a:r>
              <a:rPr lang="ga-IE" sz="1900" b="1" dirty="0">
                <a:solidFill>
                  <a:srgbClr val="0070C0"/>
                </a:solidFill>
              </a:rPr>
              <a:t>3306</a:t>
            </a:r>
            <a:r>
              <a:rPr lang="ga-IE" sz="1900" dirty="0">
                <a:solidFill>
                  <a:srgbClr val="0070C0"/>
                </a:solidFill>
              </a:rPr>
              <a:t> </a:t>
            </a:r>
            <a:r>
              <a:rPr lang="ga-IE" sz="1900" dirty="0"/>
              <a:t>(default port of MySQL)</a:t>
            </a:r>
          </a:p>
          <a:p>
            <a:pPr lvl="2"/>
            <a:endParaRPr lang="en-IE" sz="2400" dirty="0"/>
          </a:p>
          <a:p>
            <a:pPr lvl="2"/>
            <a:r>
              <a:rPr lang="ga-IE" sz="2400" b="1" dirty="0">
                <a:solidFill>
                  <a:srgbClr val="FFC000"/>
                </a:solidFill>
              </a:rPr>
              <a:t>Name of the database </a:t>
            </a:r>
            <a:r>
              <a:rPr lang="ga-IE" sz="2400" dirty="0"/>
              <a:t>you’re connecting to</a:t>
            </a:r>
            <a:r>
              <a:rPr lang="en-IE" sz="2400" dirty="0"/>
              <a:t>. I</a:t>
            </a:r>
            <a:r>
              <a:rPr lang="ga-IE" sz="2400" dirty="0"/>
              <a:t>n this example the database is called “</a:t>
            </a:r>
            <a:r>
              <a:rPr lang="ga-IE" sz="2400" b="1" dirty="0">
                <a:solidFill>
                  <a:srgbClr val="FFC000"/>
                </a:solidFill>
              </a:rPr>
              <a:t>test</a:t>
            </a:r>
            <a:r>
              <a:rPr lang="ga-IE" sz="2400" dirty="0"/>
              <a:t>”</a:t>
            </a:r>
            <a:endParaRPr lang="en-IE" sz="2400" dirty="0"/>
          </a:p>
        </p:txBody>
      </p:sp>
    </p:spTree>
    <p:extLst>
      <p:ext uri="{BB962C8B-B14F-4D97-AF65-F5344CB8AC3E}">
        <p14:creationId xmlns:p14="http://schemas.microsoft.com/office/powerpoint/2010/main" val="1088110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03F00-094A-6765-C13A-74D235512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Database Communication in Code:</a:t>
            </a:r>
            <a:b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Summary of Set-Up Stage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2FFDC3D-BDE1-ED33-BC77-E59DBF6069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650" y="1921630"/>
            <a:ext cx="10284036" cy="151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68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C44BB-38D7-E480-8250-0803C996C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DB Communication in Code:</a:t>
            </a:r>
            <a:br>
              <a:rPr lang="en-IE" dirty="0"/>
            </a:br>
            <a:r>
              <a:rPr lang="en-IE" dirty="0"/>
              <a:t>Step 3) Write the SQL &amp; store it in a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15A61-8C29-9042-790B-FBAB507385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US" sz="3200" dirty="0"/>
              <a:t>At this stage, we have access to the database, now we can run any SQL we want.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Before we run SQL, we store it in a variable (a String)</a:t>
            </a:r>
          </a:p>
          <a:p>
            <a:pPr lvl="2"/>
            <a:r>
              <a:rPr lang="en-US" sz="2800" dirty="0"/>
              <a:t>Where we want to include variable values, we put in a ?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In code:</a:t>
            </a:r>
          </a:p>
          <a:p>
            <a:pPr lvl="2"/>
            <a:r>
              <a:rPr lang="en-US" sz="2800" dirty="0">
                <a:solidFill>
                  <a:srgbClr val="FF0000"/>
                </a:solidFill>
              </a:rPr>
              <a:t>String query = “SELECT * from users WHERE username = 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  <a:r>
              <a:rPr lang="en-US" sz="2800" dirty="0">
                <a:solidFill>
                  <a:srgbClr val="FF0000"/>
                </a:solidFill>
              </a:rPr>
              <a:t> AND password = </a:t>
            </a:r>
            <a:r>
              <a:rPr lang="en-US" sz="2800" dirty="0">
                <a:solidFill>
                  <a:schemeClr val="tx1"/>
                </a:solidFill>
              </a:rPr>
              <a:t>?</a:t>
            </a:r>
            <a:r>
              <a:rPr lang="en-US" sz="2800" dirty="0">
                <a:solidFill>
                  <a:srgbClr val="FF0000"/>
                </a:solidFill>
              </a:rPr>
              <a:t>”</a:t>
            </a:r>
          </a:p>
          <a:p>
            <a:pPr lvl="1"/>
            <a:r>
              <a:rPr lang="en-US" sz="3200" dirty="0"/>
              <a:t>The ? is a placeholder marking where we’re going to fill in a variable value</a:t>
            </a:r>
          </a:p>
          <a:p>
            <a:pPr lvl="2"/>
            <a:r>
              <a:rPr lang="en-US" sz="2800" dirty="0"/>
              <a:t>We </a:t>
            </a:r>
            <a:r>
              <a:rPr lang="en-US" sz="2800" b="1" u="sng" dirty="0"/>
              <a:t>never</a:t>
            </a:r>
            <a:r>
              <a:rPr lang="en-US" sz="2800" dirty="0"/>
              <a:t> concatenate (add variables into the String directly) due to security risks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9425257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E107A-213B-6F95-674F-B904C026C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DB Communication in Code:</a:t>
            </a:r>
            <a:br>
              <a:rPr lang="en-IE" dirty="0"/>
            </a:br>
            <a:r>
              <a:rPr lang="en-IE" dirty="0"/>
              <a:t>Step 4a) Create a </a:t>
            </a:r>
            <a:r>
              <a:rPr lang="en-IE" dirty="0" err="1"/>
              <a:t>PreparedStatement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C03E0B-F9D2-0D85-CD81-B74AA2B13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sz="3200" dirty="0"/>
              <a:t>SQL cannot execute as a String, we need to convert it into something the database understands – a </a:t>
            </a:r>
            <a:r>
              <a:rPr lang="en-US" sz="3200" b="1" dirty="0" err="1"/>
              <a:t>PreparedStatement</a:t>
            </a:r>
            <a:endParaRPr lang="en-US" sz="3200" b="1" dirty="0"/>
          </a:p>
          <a:p>
            <a:pPr lvl="2"/>
            <a:r>
              <a:rPr lang="en-US" sz="2800" dirty="0"/>
              <a:t>To make a </a:t>
            </a:r>
            <a:r>
              <a:rPr lang="en-US" sz="2800" dirty="0" err="1"/>
              <a:t>PreparedStatement</a:t>
            </a:r>
            <a:r>
              <a:rPr lang="en-US" sz="2800" dirty="0"/>
              <a:t>, we ask our Connection object to prepare an object for the specific SQL query</a:t>
            </a:r>
          </a:p>
          <a:p>
            <a:pPr lvl="2"/>
            <a:r>
              <a:rPr lang="en-US" sz="2800" dirty="0"/>
              <a:t>This </a:t>
            </a:r>
            <a:r>
              <a:rPr lang="en-US" sz="2800" dirty="0" err="1"/>
              <a:t>PreparedStatement</a:t>
            </a:r>
            <a:r>
              <a:rPr lang="en-US" sz="2800" dirty="0"/>
              <a:t> object is used to execute a given SQL statement (hence the name) – without this no SQL can be run.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In code:</a:t>
            </a:r>
          </a:p>
          <a:p>
            <a:pPr lvl="2"/>
            <a:r>
              <a:rPr lang="en-US" sz="2800" dirty="0" err="1">
                <a:solidFill>
                  <a:srgbClr val="FF0000"/>
                </a:solidFill>
              </a:rPr>
              <a:t>PreparedStatement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stmt</a:t>
            </a:r>
            <a:r>
              <a:rPr lang="en-US" sz="2800" dirty="0">
                <a:solidFill>
                  <a:srgbClr val="FF0000"/>
                </a:solidFill>
              </a:rPr>
              <a:t> = </a:t>
            </a:r>
            <a:r>
              <a:rPr lang="en-US" sz="2800" dirty="0" err="1">
                <a:solidFill>
                  <a:srgbClr val="FF0000"/>
                </a:solidFill>
              </a:rPr>
              <a:t>conn.prepareStatement</a:t>
            </a:r>
            <a:r>
              <a:rPr lang="en-US" sz="2800" dirty="0">
                <a:solidFill>
                  <a:srgbClr val="FF0000"/>
                </a:solidFill>
              </a:rPr>
              <a:t>(query);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293913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12E78-315E-F5E7-281D-799F54AF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DB Communication in Code:</a:t>
            </a:r>
            <a:br>
              <a:rPr lang="en-IE" dirty="0"/>
            </a:br>
            <a:r>
              <a:rPr lang="en-IE" dirty="0"/>
              <a:t>Step 4b) Fill in the blanks within the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964DC-F2CF-AECD-6EBC-587996A38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44515"/>
          </a:xfrm>
        </p:spPr>
        <p:txBody>
          <a:bodyPr>
            <a:normAutofit fontScale="62500" lnSpcReduction="20000"/>
          </a:bodyPr>
          <a:lstStyle/>
          <a:p>
            <a:pPr lvl="1"/>
            <a:r>
              <a:rPr lang="en-US" sz="3200" dirty="0"/>
              <a:t>Before we use our prepared statement, we need to fill in the blanks (IF we had blanks. SQL statements without variables/placeholders don’t need this)</a:t>
            </a:r>
          </a:p>
          <a:p>
            <a:pPr lvl="2"/>
            <a:r>
              <a:rPr lang="en-US" sz="2800" dirty="0"/>
              <a:t>The ?s we left in the query String need to get actual values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In code:</a:t>
            </a:r>
          </a:p>
          <a:p>
            <a:pPr lvl="2"/>
            <a:r>
              <a:rPr lang="en-US" sz="2800" dirty="0"/>
              <a:t>// Fill in the blanks/?s</a:t>
            </a:r>
            <a:br>
              <a:rPr lang="en-US" sz="2800" dirty="0"/>
            </a:br>
            <a:r>
              <a:rPr lang="en-US" sz="2800" dirty="0" err="1">
                <a:solidFill>
                  <a:srgbClr val="FF0000"/>
                </a:solidFill>
              </a:rPr>
              <a:t>ps.setString</a:t>
            </a:r>
            <a:r>
              <a:rPr lang="en-US" sz="2800" dirty="0">
                <a:solidFill>
                  <a:srgbClr val="FF0000"/>
                </a:solidFill>
              </a:rPr>
              <a:t>(1, </a:t>
            </a:r>
            <a:r>
              <a:rPr lang="en-US" sz="2800" dirty="0" err="1">
                <a:solidFill>
                  <a:srgbClr val="FF0000"/>
                </a:solidFill>
              </a:rPr>
              <a:t>usernameVariable</a:t>
            </a:r>
            <a:r>
              <a:rPr lang="en-US" sz="2800" dirty="0">
                <a:solidFill>
                  <a:srgbClr val="FF0000"/>
                </a:solidFill>
              </a:rPr>
              <a:t>);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 err="1">
                <a:solidFill>
                  <a:srgbClr val="FF0000"/>
                </a:solidFill>
              </a:rPr>
              <a:t>ps.setString</a:t>
            </a:r>
            <a:r>
              <a:rPr lang="en-US" sz="2800" dirty="0">
                <a:solidFill>
                  <a:srgbClr val="FF0000"/>
                </a:solidFill>
              </a:rPr>
              <a:t>(2, </a:t>
            </a:r>
            <a:r>
              <a:rPr lang="en-US" sz="2800" dirty="0" err="1">
                <a:solidFill>
                  <a:srgbClr val="FF0000"/>
                </a:solidFill>
              </a:rPr>
              <a:t>passwordVariable</a:t>
            </a:r>
            <a:r>
              <a:rPr lang="en-US" sz="2800" dirty="0">
                <a:solidFill>
                  <a:srgbClr val="FF0000"/>
                </a:solidFill>
              </a:rPr>
              <a:t>);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Note 1: Unlike arrays, the ? index starts at 1.</a:t>
            </a:r>
          </a:p>
          <a:p>
            <a:pPr lvl="2"/>
            <a:r>
              <a:rPr lang="en-US" sz="2800" dirty="0"/>
              <a:t>First ? is position 1, second ? is position 2 etc.</a:t>
            </a:r>
          </a:p>
          <a:p>
            <a:pPr lvl="1"/>
            <a:r>
              <a:rPr lang="en-US" sz="3200" dirty="0"/>
              <a:t>Note 2: We use different methods to set different TYPES of info:</a:t>
            </a:r>
          </a:p>
          <a:p>
            <a:pPr lvl="2"/>
            <a:r>
              <a:rPr lang="en-US" sz="2800" dirty="0" err="1"/>
              <a:t>setString</a:t>
            </a:r>
            <a:r>
              <a:rPr lang="en-US" sz="2800" dirty="0"/>
              <a:t>()</a:t>
            </a:r>
          </a:p>
          <a:p>
            <a:pPr lvl="2"/>
            <a:r>
              <a:rPr lang="en-US" sz="2800" dirty="0" err="1"/>
              <a:t>setInt</a:t>
            </a:r>
            <a:r>
              <a:rPr lang="en-US" sz="2800" dirty="0"/>
              <a:t>()</a:t>
            </a:r>
          </a:p>
          <a:p>
            <a:pPr lvl="2"/>
            <a:r>
              <a:rPr lang="en-US" sz="2800" dirty="0" err="1"/>
              <a:t>setDouble</a:t>
            </a:r>
            <a:r>
              <a:rPr lang="en-US" sz="2800" dirty="0"/>
              <a:t>()</a:t>
            </a:r>
          </a:p>
          <a:p>
            <a:pPr lvl="2"/>
            <a:r>
              <a:rPr lang="en-US" sz="2800" dirty="0" err="1"/>
              <a:t>Etc</a:t>
            </a:r>
            <a:r>
              <a:rPr lang="en-US" sz="2800" dirty="0"/>
              <a:t>… </a:t>
            </a:r>
            <a:endParaRPr lang="en-US" sz="3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7243FE8-1137-8C62-31D5-2E21A287A51F}"/>
              </a:ext>
            </a:extLst>
          </p:cNvPr>
          <p:cNvSpPr/>
          <p:nvPr/>
        </p:nvSpPr>
        <p:spPr>
          <a:xfrm>
            <a:off x="9062337" y="3429000"/>
            <a:ext cx="2093343" cy="11717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2000" dirty="0"/>
              <a:t>Note: </a:t>
            </a:r>
          </a:p>
          <a:p>
            <a:pPr algn="ctr"/>
            <a:r>
              <a:rPr lang="en-IE" sz="2000" dirty="0"/>
              <a:t>This step doesn’t always happen!</a:t>
            </a:r>
          </a:p>
        </p:txBody>
      </p:sp>
    </p:spTree>
    <p:extLst>
      <p:ext uri="{BB962C8B-B14F-4D97-AF65-F5344CB8AC3E}">
        <p14:creationId xmlns:p14="http://schemas.microsoft.com/office/powerpoint/2010/main" val="20277552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EFBF2-75FE-09AC-9070-AEB972264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Placeholders in SQL - The ?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B4DC2-AC9A-9484-CEF3-877A79125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1"/>
            <a:r>
              <a:rPr lang="en-US" sz="2000" dirty="0"/>
              <a:t>? is used to mark where we will insert a variable</a:t>
            </a:r>
          </a:p>
          <a:p>
            <a:pPr lvl="2"/>
            <a:r>
              <a:rPr lang="en-US" sz="1600" dirty="0"/>
              <a:t>Avoids concatenating/inserting variable contents directly – this addresses SQL injection</a:t>
            </a:r>
          </a:p>
          <a:p>
            <a:pPr lvl="1"/>
            <a:r>
              <a:rPr lang="en-US" sz="2000" dirty="0"/>
              <a:t>We fill in the spaces left by ?s after the statement is prepared by the database connection</a:t>
            </a:r>
          </a:p>
          <a:p>
            <a:pPr lvl="2"/>
            <a:r>
              <a:rPr lang="en-US" sz="1600" dirty="0"/>
              <a:t>The SQL statement code is then locked and all other components are treated as text/numbers </a:t>
            </a:r>
            <a:r>
              <a:rPr lang="en-US" sz="1600" dirty="0" err="1"/>
              <a:t>etc</a:t>
            </a:r>
            <a:r>
              <a:rPr lang="en-US" sz="1600" dirty="0"/>
              <a:t> instead of code</a:t>
            </a:r>
          </a:p>
          <a:p>
            <a:pPr lvl="1"/>
            <a:r>
              <a:rPr lang="en-US" sz="2000" dirty="0"/>
              <a:t>When filling in the spaces, use whatever method matches the type of information being inserted</a:t>
            </a:r>
          </a:p>
          <a:p>
            <a:pPr lvl="2"/>
            <a:r>
              <a:rPr lang="en-US" sz="1600" dirty="0"/>
              <a:t>E.g. </a:t>
            </a:r>
            <a:r>
              <a:rPr lang="en-US" sz="1600" dirty="0" err="1"/>
              <a:t>setInt</a:t>
            </a:r>
            <a:r>
              <a:rPr lang="en-US" sz="1600" dirty="0"/>
              <a:t>() for </a:t>
            </a:r>
            <a:r>
              <a:rPr lang="en-US" sz="1600" dirty="0" err="1"/>
              <a:t>ints</a:t>
            </a:r>
            <a:r>
              <a:rPr lang="en-US" sz="1600" dirty="0"/>
              <a:t>, </a:t>
            </a:r>
            <a:r>
              <a:rPr lang="en-US" sz="1600" dirty="0" err="1"/>
              <a:t>setDouble</a:t>
            </a:r>
            <a:r>
              <a:rPr lang="en-US" sz="1600" dirty="0"/>
              <a:t>() for doubles, </a:t>
            </a:r>
            <a:r>
              <a:rPr lang="en-US" sz="1600" dirty="0" err="1"/>
              <a:t>setString</a:t>
            </a:r>
            <a:r>
              <a:rPr lang="en-US" sz="1600" dirty="0"/>
              <a:t>() for Strings etc.</a:t>
            </a:r>
          </a:p>
          <a:p>
            <a:pPr lvl="1"/>
            <a:r>
              <a:rPr lang="en-US" sz="2000" dirty="0"/>
              <a:t>Each ? has its own index</a:t>
            </a:r>
          </a:p>
          <a:p>
            <a:pPr lvl="2"/>
            <a:r>
              <a:rPr lang="en-US" sz="1600" dirty="0"/>
              <a:t>First ? that appears is at index 1, second ? is at index 2 etc.</a:t>
            </a:r>
          </a:p>
          <a:p>
            <a:pPr lvl="1"/>
            <a:r>
              <a:rPr lang="en-US" sz="2000" dirty="0"/>
              <a:t>Example query:</a:t>
            </a:r>
          </a:p>
          <a:p>
            <a:pPr lvl="2"/>
            <a:r>
              <a:rPr lang="en-US" sz="1600" dirty="0"/>
              <a:t>“Select * from Product where cost &gt; ? and name LIKE ?”</a:t>
            </a:r>
          </a:p>
          <a:p>
            <a:pPr lvl="1"/>
            <a:r>
              <a:rPr lang="en-US" sz="2000" dirty="0"/>
              <a:t>Filling in those blanks:</a:t>
            </a:r>
          </a:p>
          <a:p>
            <a:pPr lvl="2"/>
            <a:r>
              <a:rPr lang="en-US" sz="1600" dirty="0" err="1"/>
              <a:t>ps.setDouble</a:t>
            </a:r>
            <a:r>
              <a:rPr lang="en-US" sz="1600" dirty="0"/>
              <a:t>(1, </a:t>
            </a:r>
            <a:r>
              <a:rPr lang="en-US" sz="1600" dirty="0" err="1"/>
              <a:t>startingCostPrice</a:t>
            </a:r>
            <a:r>
              <a:rPr lang="en-US" sz="1600" dirty="0"/>
              <a:t>);</a:t>
            </a:r>
          </a:p>
          <a:p>
            <a:pPr lvl="2"/>
            <a:r>
              <a:rPr lang="en-US" sz="1600" dirty="0" err="1"/>
              <a:t>ps.setString</a:t>
            </a:r>
            <a:r>
              <a:rPr lang="en-US" sz="1600" dirty="0"/>
              <a:t>(2, “%”+name+”%”);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B46AB187-550E-1307-632B-7ED52B12A396}"/>
              </a:ext>
            </a:extLst>
          </p:cNvPr>
          <p:cNvCxnSpPr>
            <a:stCxn id="5" idx="1"/>
          </p:cNvCxnSpPr>
          <p:nvPr/>
        </p:nvCxnSpPr>
        <p:spPr>
          <a:xfrm flipH="1">
            <a:off x="4300251" y="5422322"/>
            <a:ext cx="1296144" cy="251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6314BA1-37E2-A450-A5C0-DC41E4979F9E}"/>
              </a:ext>
            </a:extLst>
          </p:cNvPr>
          <p:cNvSpPr txBox="1"/>
          <p:nvPr/>
        </p:nvSpPr>
        <p:spPr>
          <a:xfrm>
            <a:off x="5596395" y="5099156"/>
            <a:ext cx="4032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dirty="0"/>
              <a:t>When using LIKE in SQL, insert wildcards when setting the String in the ? slot</a:t>
            </a:r>
          </a:p>
        </p:txBody>
      </p:sp>
    </p:spTree>
    <p:extLst>
      <p:ext uri="{BB962C8B-B14F-4D97-AF65-F5344CB8AC3E}">
        <p14:creationId xmlns:p14="http://schemas.microsoft.com/office/powerpoint/2010/main" val="4241752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78F32-E672-3B13-4680-CEB20BF0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DB Communication in Code:</a:t>
            </a:r>
            <a:br>
              <a:rPr lang="en-IE" dirty="0"/>
            </a:br>
            <a:r>
              <a:rPr lang="en-IE" dirty="0"/>
              <a:t>Step 5) Execute the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6E4B1-8C54-9B44-DA12-8E643AC1E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US" sz="3200" dirty="0"/>
              <a:t>Once the SQL has been fully built, we need to execute it in the database and get results</a:t>
            </a:r>
          </a:p>
          <a:p>
            <a:pPr lvl="2"/>
            <a:r>
              <a:rPr lang="en-US" sz="2800" dirty="0"/>
              <a:t>This will always result in </a:t>
            </a:r>
            <a:r>
              <a:rPr lang="en-US" sz="2800" b="1" u="sng" dirty="0"/>
              <a:t>some</a:t>
            </a:r>
            <a:r>
              <a:rPr lang="en-US" sz="2800" dirty="0"/>
              <a:t> sort of result info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In code:</a:t>
            </a:r>
          </a:p>
          <a:p>
            <a:pPr lvl="2"/>
            <a:r>
              <a:rPr lang="en-US" sz="2800" dirty="0" err="1">
                <a:solidFill>
                  <a:srgbClr val="FF0000"/>
                </a:solidFill>
              </a:rPr>
              <a:t>ResultSet</a:t>
            </a:r>
            <a:r>
              <a:rPr lang="en-US" sz="2800" dirty="0">
                <a:solidFill>
                  <a:srgbClr val="FF0000"/>
                </a:solidFill>
              </a:rPr>
              <a:t> </a:t>
            </a:r>
            <a:r>
              <a:rPr lang="en-US" sz="2800" dirty="0" err="1">
                <a:solidFill>
                  <a:srgbClr val="FF0000"/>
                </a:solidFill>
              </a:rPr>
              <a:t>rs</a:t>
            </a:r>
            <a:r>
              <a:rPr lang="en-US" sz="2800" dirty="0">
                <a:solidFill>
                  <a:srgbClr val="FF0000"/>
                </a:solidFill>
              </a:rPr>
              <a:t> = </a:t>
            </a:r>
            <a:r>
              <a:rPr lang="en-US" sz="2800" dirty="0" err="1">
                <a:solidFill>
                  <a:srgbClr val="FF0000"/>
                </a:solidFill>
              </a:rPr>
              <a:t>ps.executeQuery</a:t>
            </a:r>
            <a:r>
              <a:rPr lang="en-US" sz="2800" dirty="0">
                <a:solidFill>
                  <a:srgbClr val="FF0000"/>
                </a:solidFill>
              </a:rPr>
              <a:t>();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/>
              <a:t>Used to run select statements</a:t>
            </a:r>
            <a:br>
              <a:rPr lang="en-US" sz="2800" i="1" dirty="0"/>
            </a:br>
            <a:r>
              <a:rPr lang="en-US" sz="2800" i="1" dirty="0"/>
              <a:t>	Returns the set of all results for this select query</a:t>
            </a:r>
            <a:br>
              <a:rPr lang="en-US" sz="2800" dirty="0"/>
            </a:br>
            <a:r>
              <a:rPr lang="en-US" sz="2800" dirty="0"/>
              <a:t>OR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int </a:t>
            </a:r>
            <a:r>
              <a:rPr lang="en-US" sz="2800" dirty="0" err="1">
                <a:solidFill>
                  <a:srgbClr val="FF0000"/>
                </a:solidFill>
              </a:rPr>
              <a:t>numRowsChanged</a:t>
            </a:r>
            <a:r>
              <a:rPr lang="en-US" sz="2800" dirty="0">
                <a:solidFill>
                  <a:srgbClr val="FF0000"/>
                </a:solidFill>
              </a:rPr>
              <a:t> = </a:t>
            </a:r>
            <a:r>
              <a:rPr lang="en-US" sz="2800" dirty="0" err="1">
                <a:solidFill>
                  <a:srgbClr val="FF0000"/>
                </a:solidFill>
              </a:rPr>
              <a:t>ps.executeUpdate</a:t>
            </a:r>
            <a:r>
              <a:rPr lang="en-US" sz="2800" dirty="0">
                <a:solidFill>
                  <a:srgbClr val="FF0000"/>
                </a:solidFill>
              </a:rPr>
              <a:t>();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i="1" dirty="0"/>
              <a:t>Used to run update, insert and delete statements</a:t>
            </a:r>
            <a:br>
              <a:rPr lang="en-US" sz="2800" i="1" dirty="0"/>
            </a:br>
            <a:r>
              <a:rPr lang="en-US" sz="2800" i="1" dirty="0"/>
              <a:t>	Results the number of rows changed by this query</a:t>
            </a:r>
            <a:br>
              <a:rPr lang="en-US" sz="2800" i="1" dirty="0"/>
            </a:br>
            <a:r>
              <a:rPr lang="en-US" sz="2800" i="1" dirty="0"/>
              <a:t>	This should never be used on select queries, it will cause an exception!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868791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03F00-094A-6765-C13A-74D235512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423" y="3766457"/>
            <a:ext cx="10909073" cy="165462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Database Communication in Code:</a:t>
            </a:r>
            <a:b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Summary of Execution Stage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BF6593-F593-1037-E35E-A3440272A7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7650" y="1664530"/>
            <a:ext cx="10284036" cy="1773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7693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B4BFE-0A00-1FDC-831B-7DC2F46EA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Dealing With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FEBF2-EB68-037D-79F3-EC3B48963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1"/>
            <a:r>
              <a:rPr lang="en-US" sz="3200" dirty="0"/>
              <a:t>Results come in 3 forms: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US" sz="2800" dirty="0"/>
              <a:t>Single row </a:t>
            </a:r>
            <a:r>
              <a:rPr lang="en-US" sz="2800" dirty="0" err="1"/>
              <a:t>resultset</a:t>
            </a:r>
            <a:r>
              <a:rPr lang="en-US" sz="2800" dirty="0"/>
              <a:t> – occurs where selecting based on the primary key of a table, or when the combination of criteria should result in only one result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US" sz="2800" dirty="0"/>
              <a:t>Multi-row </a:t>
            </a:r>
            <a:r>
              <a:rPr lang="en-US" sz="2800" dirty="0" err="1"/>
              <a:t>resultset</a:t>
            </a:r>
            <a:r>
              <a:rPr lang="en-US" sz="2800" dirty="0"/>
              <a:t> – the result of a more general select</a:t>
            </a:r>
          </a:p>
          <a:p>
            <a:pPr marL="898398" lvl="2" indent="-514350">
              <a:buFont typeface="+mj-lt"/>
              <a:buAutoNum type="arabicPeriod"/>
            </a:pPr>
            <a:r>
              <a:rPr lang="en-US" sz="2800" dirty="0"/>
              <a:t>A number – how many rows/entries in the database were changed by the executed update/insert/delete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We handle each of these differently</a:t>
            </a:r>
          </a:p>
          <a:p>
            <a:pPr lvl="2"/>
            <a:r>
              <a:rPr lang="en-US" sz="2800" dirty="0"/>
              <a:t>No extra processing needed for 3, just use the number</a:t>
            </a:r>
          </a:p>
          <a:p>
            <a:pPr lvl="2"/>
            <a:r>
              <a:rPr lang="en-US" sz="2800" dirty="0"/>
              <a:t>1 and 2 require extra (very similar) steps</a:t>
            </a:r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13897274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CDD93-4E2B-A310-9559-DF0B5E3F8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to Do with </a:t>
            </a:r>
            <a:r>
              <a:rPr lang="en-US" dirty="0" err="1"/>
              <a:t>ResultSet</a:t>
            </a:r>
            <a:r>
              <a:rPr lang="en-US" dirty="0"/>
              <a:t> Data:</a:t>
            </a:r>
            <a:br>
              <a:rPr lang="en-US" dirty="0"/>
            </a:br>
            <a:r>
              <a:rPr lang="en-US" dirty="0"/>
              <a:t>Modelling Your Database in Code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CF5EE-E46B-B197-A67A-D261969CB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US" sz="3200" dirty="0"/>
              <a:t>Data is stored in databases</a:t>
            </a:r>
          </a:p>
          <a:p>
            <a:pPr lvl="2"/>
            <a:r>
              <a:rPr lang="en-US" sz="2800" dirty="0"/>
              <a:t>Designed for the task</a:t>
            </a:r>
          </a:p>
          <a:p>
            <a:pPr lvl="2"/>
            <a:r>
              <a:rPr lang="en-US" sz="2800" dirty="0"/>
              <a:t>Easy to search</a:t>
            </a:r>
          </a:p>
          <a:p>
            <a:pPr lvl="2"/>
            <a:r>
              <a:rPr lang="en-US" sz="2800" dirty="0"/>
              <a:t>Easy to manipulate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Data needs to get from database to code so we can work with it</a:t>
            </a:r>
          </a:p>
          <a:p>
            <a:pPr lvl="2"/>
            <a:r>
              <a:rPr lang="en-US" sz="2800" dirty="0"/>
              <a:t>Databases store data in </a:t>
            </a:r>
            <a:r>
              <a:rPr lang="en-US" sz="2800" b="1" dirty="0"/>
              <a:t>tables</a:t>
            </a:r>
          </a:p>
          <a:p>
            <a:pPr lvl="2"/>
            <a:r>
              <a:rPr lang="en-US" sz="2800" dirty="0"/>
              <a:t>Code stores data in </a:t>
            </a:r>
            <a:r>
              <a:rPr lang="en-US" sz="2800" b="1" dirty="0"/>
              <a:t>objects</a:t>
            </a:r>
            <a:r>
              <a:rPr lang="en-US" sz="2800" dirty="0"/>
              <a:t> (Java does, anyway)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Tables and objects are structured differently</a:t>
            </a:r>
          </a:p>
          <a:p>
            <a:pPr lvl="2"/>
            <a:r>
              <a:rPr lang="en-US" sz="2800" dirty="0"/>
              <a:t>Need a bridge to get from A to B – </a:t>
            </a:r>
            <a:r>
              <a:rPr lang="en-US" sz="2800" dirty="0">
                <a:solidFill>
                  <a:srgbClr val="FF0000"/>
                </a:solidFill>
              </a:rPr>
              <a:t>Data Transfer Objects</a:t>
            </a:r>
            <a:r>
              <a:rPr lang="en-US" sz="2800" dirty="0"/>
              <a:t>.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1596733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338" y="1920580"/>
            <a:ext cx="5040562" cy="39485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Modelling Your Database in Code: Building Data Transfer Objects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75760" y="2003053"/>
            <a:ext cx="2852688" cy="206210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We can write a class that encapsulates the fields that exist in the database table</a:t>
            </a:r>
          </a:p>
          <a:p>
            <a:endParaRPr lang="en-GB" sz="1600" dirty="0"/>
          </a:p>
          <a:p>
            <a:r>
              <a:rPr lang="en-GB" sz="1600" dirty="0"/>
              <a:t>This gives us a mapping from our code to the database – an “object to relational database mapping” (ORM)</a:t>
            </a:r>
            <a:endParaRPr lang="en-IE" sz="1600" dirty="0"/>
          </a:p>
        </p:txBody>
      </p:sp>
      <p:cxnSp>
        <p:nvCxnSpPr>
          <p:cNvPr id="6" name="Straight Arrow Connector 5"/>
          <p:cNvCxnSpPr>
            <a:stCxn id="5" idx="1"/>
          </p:cNvCxnSpPr>
          <p:nvPr/>
        </p:nvCxnSpPr>
        <p:spPr>
          <a:xfrm flipH="1" flipV="1">
            <a:off x="5159896" y="2003054"/>
            <a:ext cx="2115864" cy="1031051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744072" y="5397185"/>
            <a:ext cx="3784718" cy="83099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1600" dirty="0"/>
              <a:t>We can call instances of this class </a:t>
            </a:r>
            <a:r>
              <a:rPr lang="en-GB" sz="1600" b="1" i="1" dirty="0"/>
              <a:t>transfer objects</a:t>
            </a:r>
            <a:r>
              <a:rPr lang="en-GB" sz="1600" dirty="0"/>
              <a:t> because we can use them to carry data about customers around our code</a:t>
            </a:r>
            <a:endParaRPr lang="en-IE" sz="1600" dirty="0"/>
          </a:p>
        </p:txBody>
      </p:sp>
    </p:spTree>
    <p:extLst>
      <p:ext uri="{BB962C8B-B14F-4D97-AF65-F5344CB8AC3E}">
        <p14:creationId xmlns:p14="http://schemas.microsoft.com/office/powerpoint/2010/main" val="2967611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52C2F-851B-6EBE-838B-8E5EE2DA6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DB Communication in Code:</a:t>
            </a:r>
            <a:br>
              <a:rPr lang="en-IE" dirty="0"/>
            </a:br>
            <a:r>
              <a:rPr lang="en-IE" dirty="0"/>
              <a:t>Step 6) Process the Results – Single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6A26E-E89D-F837-CB1D-34C187425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1"/>
            <a:r>
              <a:rPr lang="en-IE" sz="3200" dirty="0"/>
              <a:t>To deal with a single result, we:</a:t>
            </a:r>
          </a:p>
          <a:p>
            <a:pPr marL="802386" lvl="2" indent="-514350">
              <a:buFont typeface="+mj-lt"/>
              <a:buAutoNum type="alphaLcParenR"/>
            </a:pPr>
            <a:r>
              <a:rPr lang="en-IE" sz="2900" dirty="0"/>
              <a:t>Load the first row of the </a:t>
            </a:r>
            <a:r>
              <a:rPr lang="en-IE" sz="2900" dirty="0" err="1"/>
              <a:t>resultset</a:t>
            </a:r>
            <a:endParaRPr lang="en-IE" sz="2900" dirty="0"/>
          </a:p>
          <a:p>
            <a:pPr marL="802386" lvl="2" indent="-514350">
              <a:buFont typeface="+mj-lt"/>
              <a:buAutoNum type="alphaLcParenR"/>
            </a:pPr>
            <a:r>
              <a:rPr lang="en-IE" sz="2900" dirty="0"/>
              <a:t>Access each component and store in a variable</a:t>
            </a:r>
          </a:p>
          <a:p>
            <a:pPr marL="802386" lvl="2" indent="-514350">
              <a:buFont typeface="+mj-lt"/>
              <a:buAutoNum type="alphaLcParenR"/>
            </a:pPr>
            <a:endParaRPr lang="en-IE" sz="2900" dirty="0"/>
          </a:p>
          <a:p>
            <a:pPr lvl="1"/>
            <a:r>
              <a:rPr lang="en-IE" sz="2800" dirty="0"/>
              <a:t>In code:</a:t>
            </a:r>
            <a:br>
              <a:rPr lang="en-IE" sz="2200" dirty="0"/>
            </a:br>
            <a:r>
              <a:rPr lang="en-IE" sz="2200" dirty="0"/>
              <a:t>//Load the first result (if there is one) – without this there will be no results to read!</a:t>
            </a:r>
            <a:br>
              <a:rPr lang="en-IE" sz="2200" dirty="0"/>
            </a:br>
            <a:r>
              <a:rPr lang="en-IE" sz="2200" dirty="0">
                <a:solidFill>
                  <a:srgbClr val="FF0000"/>
                </a:solidFill>
              </a:rPr>
              <a:t>if(</a:t>
            </a:r>
            <a:r>
              <a:rPr lang="en-IE" sz="2200" dirty="0" err="1">
                <a:solidFill>
                  <a:srgbClr val="FF0000"/>
                </a:solidFill>
              </a:rPr>
              <a:t>rs.next</a:t>
            </a:r>
            <a:r>
              <a:rPr lang="en-IE" sz="2200" dirty="0">
                <a:solidFill>
                  <a:srgbClr val="FF0000"/>
                </a:solidFill>
              </a:rPr>
              <a:t>()){</a:t>
            </a:r>
            <a:br>
              <a:rPr lang="en-IE" sz="2200" dirty="0">
                <a:solidFill>
                  <a:srgbClr val="FF0000"/>
                </a:solidFill>
              </a:rPr>
            </a:br>
            <a:r>
              <a:rPr lang="en-IE" sz="2200" dirty="0"/>
              <a:t>// Access each component &amp; store in a variable</a:t>
            </a:r>
            <a:br>
              <a:rPr lang="en-IE" sz="2200" dirty="0"/>
            </a:br>
            <a:r>
              <a:rPr lang="en-IE" sz="2200" dirty="0"/>
              <a:t>	</a:t>
            </a:r>
            <a:r>
              <a:rPr lang="en-IE" sz="2200" dirty="0">
                <a:solidFill>
                  <a:srgbClr val="FF0000"/>
                </a:solidFill>
              </a:rPr>
              <a:t>int id = </a:t>
            </a:r>
            <a:r>
              <a:rPr lang="en-IE" sz="2200" dirty="0" err="1">
                <a:solidFill>
                  <a:srgbClr val="FF0000"/>
                </a:solidFill>
              </a:rPr>
              <a:t>rs.getInt</a:t>
            </a:r>
            <a:r>
              <a:rPr lang="en-IE" sz="2200" dirty="0">
                <a:solidFill>
                  <a:srgbClr val="FF0000"/>
                </a:solidFill>
              </a:rPr>
              <a:t>(“</a:t>
            </a:r>
            <a:r>
              <a:rPr lang="en-IE" sz="2200" dirty="0" err="1">
                <a:solidFill>
                  <a:srgbClr val="FF0000"/>
                </a:solidFill>
              </a:rPr>
              <a:t>userId</a:t>
            </a:r>
            <a:r>
              <a:rPr lang="en-IE" sz="2200" dirty="0">
                <a:solidFill>
                  <a:srgbClr val="FF0000"/>
                </a:solidFill>
              </a:rPr>
              <a:t>”);</a:t>
            </a:r>
            <a:br>
              <a:rPr lang="en-IE" sz="2200" dirty="0">
                <a:solidFill>
                  <a:srgbClr val="FF0000"/>
                </a:solidFill>
              </a:rPr>
            </a:br>
            <a:r>
              <a:rPr lang="en-IE" sz="2200" dirty="0">
                <a:solidFill>
                  <a:srgbClr val="FF0000"/>
                </a:solidFill>
              </a:rPr>
              <a:t>	String </a:t>
            </a:r>
            <a:r>
              <a:rPr lang="en-IE" sz="2200" dirty="0" err="1">
                <a:solidFill>
                  <a:srgbClr val="FF0000"/>
                </a:solidFill>
              </a:rPr>
              <a:t>fName</a:t>
            </a:r>
            <a:r>
              <a:rPr lang="en-IE" sz="2200" dirty="0">
                <a:solidFill>
                  <a:srgbClr val="FF0000"/>
                </a:solidFill>
              </a:rPr>
              <a:t> = </a:t>
            </a:r>
            <a:r>
              <a:rPr lang="en-IE" sz="2200" dirty="0" err="1">
                <a:solidFill>
                  <a:srgbClr val="FF0000"/>
                </a:solidFill>
              </a:rPr>
              <a:t>rs.getString</a:t>
            </a:r>
            <a:r>
              <a:rPr lang="en-IE" sz="2200" dirty="0">
                <a:solidFill>
                  <a:srgbClr val="FF0000"/>
                </a:solidFill>
              </a:rPr>
              <a:t>(“</a:t>
            </a:r>
            <a:r>
              <a:rPr lang="en-IE" sz="2200" dirty="0" err="1">
                <a:solidFill>
                  <a:srgbClr val="FF0000"/>
                </a:solidFill>
              </a:rPr>
              <a:t>firstName</a:t>
            </a:r>
            <a:r>
              <a:rPr lang="en-IE" sz="2200" dirty="0">
                <a:solidFill>
                  <a:srgbClr val="FF0000"/>
                </a:solidFill>
              </a:rPr>
              <a:t>”);</a:t>
            </a:r>
            <a:br>
              <a:rPr lang="en-IE" sz="2200" dirty="0">
                <a:solidFill>
                  <a:srgbClr val="FF0000"/>
                </a:solidFill>
              </a:rPr>
            </a:br>
            <a:r>
              <a:rPr lang="en-IE" sz="2200" dirty="0">
                <a:solidFill>
                  <a:srgbClr val="FF0000"/>
                </a:solidFill>
              </a:rPr>
              <a:t>	String </a:t>
            </a:r>
            <a:r>
              <a:rPr lang="en-IE" sz="2200" dirty="0" err="1">
                <a:solidFill>
                  <a:srgbClr val="FF0000"/>
                </a:solidFill>
              </a:rPr>
              <a:t>lName</a:t>
            </a:r>
            <a:r>
              <a:rPr lang="en-IE" sz="2200" dirty="0">
                <a:solidFill>
                  <a:srgbClr val="FF0000"/>
                </a:solidFill>
              </a:rPr>
              <a:t> = </a:t>
            </a:r>
            <a:r>
              <a:rPr lang="en-IE" sz="2200" dirty="0" err="1">
                <a:solidFill>
                  <a:srgbClr val="FF0000"/>
                </a:solidFill>
              </a:rPr>
              <a:t>rs.getString</a:t>
            </a:r>
            <a:r>
              <a:rPr lang="en-IE" sz="2200" dirty="0">
                <a:solidFill>
                  <a:srgbClr val="FF0000"/>
                </a:solidFill>
              </a:rPr>
              <a:t>(“</a:t>
            </a:r>
            <a:r>
              <a:rPr lang="en-IE" sz="2200" dirty="0" err="1">
                <a:solidFill>
                  <a:srgbClr val="FF0000"/>
                </a:solidFill>
              </a:rPr>
              <a:t>lastName</a:t>
            </a:r>
            <a:r>
              <a:rPr lang="en-IE" sz="2200" dirty="0">
                <a:solidFill>
                  <a:srgbClr val="FF0000"/>
                </a:solidFill>
              </a:rPr>
              <a:t>”);</a:t>
            </a:r>
            <a:br>
              <a:rPr lang="en-IE" sz="2200" dirty="0">
                <a:solidFill>
                  <a:srgbClr val="FF0000"/>
                </a:solidFill>
              </a:rPr>
            </a:br>
            <a:r>
              <a:rPr lang="en-IE" sz="2200" dirty="0"/>
              <a:t>// Use the components to build a DTO</a:t>
            </a:r>
            <a:br>
              <a:rPr lang="en-IE" sz="2200" dirty="0"/>
            </a:br>
            <a:r>
              <a:rPr lang="en-IE" sz="2200" dirty="0"/>
              <a:t>	</a:t>
            </a:r>
            <a:r>
              <a:rPr lang="en-IE" sz="2200" dirty="0">
                <a:solidFill>
                  <a:srgbClr val="FF0000"/>
                </a:solidFill>
              </a:rPr>
              <a:t>User u = new User(id, username, password, </a:t>
            </a:r>
            <a:r>
              <a:rPr lang="en-IE" sz="2200" dirty="0" err="1">
                <a:solidFill>
                  <a:srgbClr val="FF0000"/>
                </a:solidFill>
              </a:rPr>
              <a:t>fName</a:t>
            </a:r>
            <a:r>
              <a:rPr lang="en-IE" sz="2200" dirty="0">
                <a:solidFill>
                  <a:srgbClr val="FF0000"/>
                </a:solidFill>
              </a:rPr>
              <a:t>, </a:t>
            </a:r>
            <a:r>
              <a:rPr lang="en-IE" sz="2200" dirty="0" err="1">
                <a:solidFill>
                  <a:srgbClr val="FF0000"/>
                </a:solidFill>
              </a:rPr>
              <a:t>lName</a:t>
            </a:r>
            <a:r>
              <a:rPr lang="en-IE" sz="2200" dirty="0">
                <a:solidFill>
                  <a:srgbClr val="FF0000"/>
                </a:solidFill>
              </a:rPr>
              <a:t>);</a:t>
            </a:r>
            <a:br>
              <a:rPr lang="en-IE" sz="2200" dirty="0">
                <a:solidFill>
                  <a:srgbClr val="FF0000"/>
                </a:solidFill>
              </a:rPr>
            </a:br>
            <a:r>
              <a:rPr lang="en-IE" sz="2200" dirty="0">
                <a:solidFill>
                  <a:srgbClr val="FF0000"/>
                </a:solidFill>
              </a:rPr>
              <a:t>}</a:t>
            </a:r>
          </a:p>
          <a:p>
            <a:pPr lvl="1"/>
            <a:endParaRPr lang="en-IE" sz="2200" dirty="0">
              <a:solidFill>
                <a:srgbClr val="FF0000"/>
              </a:solidFill>
            </a:endParaRPr>
          </a:p>
          <a:p>
            <a:pPr lvl="1"/>
            <a:r>
              <a:rPr lang="en-IE" sz="2800" dirty="0"/>
              <a:t>When retrieving result components, there are different methods to retrieve different types of data.</a:t>
            </a:r>
          </a:p>
          <a:p>
            <a:pPr lvl="2"/>
            <a:r>
              <a:rPr lang="en-IE" sz="2500" dirty="0" err="1"/>
              <a:t>getString</a:t>
            </a:r>
            <a:r>
              <a:rPr lang="en-IE" sz="2500" dirty="0"/>
              <a:t>(), </a:t>
            </a:r>
            <a:r>
              <a:rPr lang="en-IE" sz="2500" dirty="0" err="1"/>
              <a:t>getBoolean</a:t>
            </a:r>
            <a:r>
              <a:rPr lang="en-IE" sz="2500" dirty="0"/>
              <a:t>(), </a:t>
            </a:r>
            <a:r>
              <a:rPr lang="en-IE" sz="2500" dirty="0" err="1"/>
              <a:t>getInt</a:t>
            </a:r>
            <a:r>
              <a:rPr lang="en-IE" sz="2500" dirty="0"/>
              <a:t>(), </a:t>
            </a:r>
            <a:r>
              <a:rPr lang="en-IE" sz="2500" dirty="0" err="1"/>
              <a:t>getDouble</a:t>
            </a:r>
            <a:r>
              <a:rPr lang="en-IE" sz="2500" dirty="0"/>
              <a:t>(), </a:t>
            </a:r>
            <a:r>
              <a:rPr lang="en-IE" sz="2500" dirty="0" err="1"/>
              <a:t>getTimestamp</a:t>
            </a:r>
            <a:r>
              <a:rPr lang="en-IE" sz="2500" dirty="0"/>
              <a:t>() etc</a:t>
            </a:r>
            <a:endParaRPr lang="en-IE" sz="3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7DCDFEC-3BFC-5061-2291-C6C2FC58B6FF}"/>
              </a:ext>
            </a:extLst>
          </p:cNvPr>
          <p:cNvGrpSpPr/>
          <p:nvPr/>
        </p:nvGrpSpPr>
        <p:grpSpPr>
          <a:xfrm>
            <a:off x="4130962" y="3479807"/>
            <a:ext cx="4968552" cy="695378"/>
            <a:chOff x="3851920" y="3609890"/>
            <a:chExt cx="4968552" cy="69537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A444E7AF-D8C7-0684-13CA-93BE45E2D7EA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4914060" y="3933056"/>
              <a:ext cx="1170108" cy="2160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F2715539-FD52-4F3D-55CC-D4A222BBF7CA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>
              <a:off x="4914060" y="3933056"/>
              <a:ext cx="1170108" cy="3722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DA3BC73-94C5-A9D3-3279-E14FCFAF7257}"/>
                </a:ext>
              </a:extLst>
            </p:cNvPr>
            <p:cNvCxnSpPr>
              <a:stCxn id="8" idx="1"/>
            </p:cNvCxnSpPr>
            <p:nvPr/>
          </p:nvCxnSpPr>
          <p:spPr>
            <a:xfrm flipH="1">
              <a:off x="3851920" y="3933056"/>
              <a:ext cx="223224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DD594FC-D661-3CC2-6B9F-FB749D9700D5}"/>
                </a:ext>
              </a:extLst>
            </p:cNvPr>
            <p:cNvSpPr txBox="1"/>
            <p:nvPr/>
          </p:nvSpPr>
          <p:spPr>
            <a:xfrm>
              <a:off x="6084168" y="3609890"/>
              <a:ext cx="273630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Retrieve the component by specifying its column name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67271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769C6-7470-6E0A-5E46-DC5A56B040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E" dirty="0"/>
              <a:t>DB Communication in Code:</a:t>
            </a:r>
            <a:br>
              <a:rPr lang="en-IE" dirty="0"/>
            </a:br>
            <a:r>
              <a:rPr lang="en-IE" dirty="0"/>
              <a:t>Step 6) Process the Results – Multiple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782CC-20F3-B21F-D54E-A88FDDFA0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US" sz="3200" dirty="0"/>
              <a:t>To deal with multiple results, we:</a:t>
            </a:r>
          </a:p>
          <a:p>
            <a:pPr lvl="2"/>
            <a:r>
              <a:rPr lang="en-US" sz="2800" dirty="0"/>
              <a:t>Repeatedly load the next row of the </a:t>
            </a:r>
            <a:r>
              <a:rPr lang="en-US" sz="2800" dirty="0" err="1"/>
              <a:t>resultset</a:t>
            </a:r>
            <a:r>
              <a:rPr lang="en-US" sz="2800" dirty="0"/>
              <a:t> – use a </a:t>
            </a:r>
            <a:r>
              <a:rPr lang="en-US" sz="2800" b="1" u="sng" dirty="0"/>
              <a:t>while loop</a:t>
            </a:r>
            <a:r>
              <a:rPr lang="en-US" sz="2800" b="1" dirty="0"/>
              <a:t> </a:t>
            </a:r>
            <a:r>
              <a:rPr lang="en-US" sz="2800" dirty="0"/>
              <a:t>to load to the end</a:t>
            </a:r>
          </a:p>
          <a:p>
            <a:pPr lvl="2"/>
            <a:r>
              <a:rPr lang="en-US" sz="2800" dirty="0"/>
              <a:t>Access each component and store in a variable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In code:</a:t>
            </a:r>
          </a:p>
          <a:p>
            <a:pPr marL="384048" lvl="2" indent="0">
              <a:buNone/>
            </a:pPr>
            <a:r>
              <a:rPr lang="en-US" sz="2800" dirty="0"/>
              <a:t>//Load the next result (if there is one)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while(</a:t>
            </a:r>
            <a:r>
              <a:rPr lang="en-US" sz="2800" dirty="0" err="1">
                <a:solidFill>
                  <a:srgbClr val="FF0000"/>
                </a:solidFill>
              </a:rPr>
              <a:t>rs.next</a:t>
            </a:r>
            <a:r>
              <a:rPr lang="en-US" sz="2800" dirty="0">
                <a:solidFill>
                  <a:srgbClr val="FF0000"/>
                </a:solidFill>
              </a:rPr>
              <a:t>()){</a:t>
            </a:r>
            <a:br>
              <a:rPr lang="en-US" sz="2800" dirty="0"/>
            </a:br>
            <a:r>
              <a:rPr lang="en-US" sz="2800" dirty="0"/>
              <a:t>// Access each component &amp; store in a variable</a:t>
            </a:r>
            <a:br>
              <a:rPr lang="en-US" sz="2800" dirty="0"/>
            </a:br>
            <a:r>
              <a:rPr lang="en-US" sz="2800" dirty="0">
                <a:solidFill>
                  <a:srgbClr val="FF0000"/>
                </a:solidFill>
              </a:rPr>
              <a:t>	int id = </a:t>
            </a:r>
            <a:r>
              <a:rPr lang="en-US" sz="2800" dirty="0" err="1">
                <a:solidFill>
                  <a:srgbClr val="FF0000"/>
                </a:solidFill>
              </a:rPr>
              <a:t>rs.getInt</a:t>
            </a:r>
            <a:r>
              <a:rPr lang="en-US" sz="2800" dirty="0">
                <a:solidFill>
                  <a:srgbClr val="FF0000"/>
                </a:solidFill>
              </a:rPr>
              <a:t>(“</a:t>
            </a:r>
            <a:r>
              <a:rPr lang="en-US" sz="2800" dirty="0" err="1">
                <a:solidFill>
                  <a:srgbClr val="FF0000"/>
                </a:solidFill>
              </a:rPr>
              <a:t>userId</a:t>
            </a:r>
            <a:r>
              <a:rPr lang="en-US" sz="2800" dirty="0">
                <a:solidFill>
                  <a:srgbClr val="FF0000"/>
                </a:solidFill>
              </a:rPr>
              <a:t>”);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	String </a:t>
            </a:r>
            <a:r>
              <a:rPr lang="en-US" sz="2800" dirty="0" err="1">
                <a:solidFill>
                  <a:srgbClr val="FF0000"/>
                </a:solidFill>
              </a:rPr>
              <a:t>fName</a:t>
            </a:r>
            <a:r>
              <a:rPr lang="en-US" sz="2800" dirty="0">
                <a:solidFill>
                  <a:srgbClr val="FF0000"/>
                </a:solidFill>
              </a:rPr>
              <a:t> = </a:t>
            </a:r>
            <a:r>
              <a:rPr lang="en-US" sz="2800" dirty="0" err="1">
                <a:solidFill>
                  <a:srgbClr val="FF0000"/>
                </a:solidFill>
              </a:rPr>
              <a:t>rs.getString</a:t>
            </a:r>
            <a:r>
              <a:rPr lang="en-US" sz="2800" dirty="0">
                <a:solidFill>
                  <a:srgbClr val="FF0000"/>
                </a:solidFill>
              </a:rPr>
              <a:t>(“</a:t>
            </a:r>
            <a:r>
              <a:rPr lang="en-US" sz="2800" dirty="0" err="1">
                <a:solidFill>
                  <a:srgbClr val="FF0000"/>
                </a:solidFill>
              </a:rPr>
              <a:t>firstName</a:t>
            </a:r>
            <a:r>
              <a:rPr lang="en-US" sz="2800" dirty="0">
                <a:solidFill>
                  <a:srgbClr val="FF0000"/>
                </a:solidFill>
              </a:rPr>
              <a:t>”);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	String </a:t>
            </a:r>
            <a:r>
              <a:rPr lang="en-US" sz="2800" dirty="0" err="1">
                <a:solidFill>
                  <a:srgbClr val="FF0000"/>
                </a:solidFill>
              </a:rPr>
              <a:t>lName</a:t>
            </a:r>
            <a:r>
              <a:rPr lang="en-US" sz="2800" dirty="0">
                <a:solidFill>
                  <a:srgbClr val="FF0000"/>
                </a:solidFill>
              </a:rPr>
              <a:t> = </a:t>
            </a:r>
            <a:r>
              <a:rPr lang="en-US" sz="2800" dirty="0" err="1">
                <a:solidFill>
                  <a:srgbClr val="FF0000"/>
                </a:solidFill>
              </a:rPr>
              <a:t>rs.getString</a:t>
            </a:r>
            <a:r>
              <a:rPr lang="en-US" sz="2800" dirty="0">
                <a:solidFill>
                  <a:srgbClr val="FF0000"/>
                </a:solidFill>
              </a:rPr>
              <a:t>(“</a:t>
            </a:r>
            <a:r>
              <a:rPr lang="en-US" sz="2800" dirty="0" err="1">
                <a:solidFill>
                  <a:srgbClr val="FF0000"/>
                </a:solidFill>
              </a:rPr>
              <a:t>lastName</a:t>
            </a:r>
            <a:r>
              <a:rPr lang="en-US" sz="2800" dirty="0">
                <a:solidFill>
                  <a:srgbClr val="FF0000"/>
                </a:solidFill>
              </a:rPr>
              <a:t>”);</a:t>
            </a:r>
            <a:br>
              <a:rPr lang="en-US" sz="2800" dirty="0"/>
            </a:br>
            <a:r>
              <a:rPr lang="en-US" sz="2800" dirty="0"/>
              <a:t>// Use the components to build a DTO</a:t>
            </a:r>
            <a:br>
              <a:rPr lang="en-US" sz="2800" dirty="0"/>
            </a:br>
            <a:r>
              <a:rPr lang="en-US" sz="2800" dirty="0"/>
              <a:t>	</a:t>
            </a:r>
            <a:r>
              <a:rPr lang="en-US" sz="2800" dirty="0">
                <a:solidFill>
                  <a:srgbClr val="FF0000"/>
                </a:solidFill>
              </a:rPr>
              <a:t>User u = new User(id, username, password, </a:t>
            </a:r>
            <a:r>
              <a:rPr lang="en-US" sz="2800" dirty="0" err="1">
                <a:solidFill>
                  <a:srgbClr val="FF0000"/>
                </a:solidFill>
              </a:rPr>
              <a:t>fName</a:t>
            </a:r>
            <a:r>
              <a:rPr lang="en-US" sz="2800" dirty="0">
                <a:solidFill>
                  <a:srgbClr val="FF0000"/>
                </a:solidFill>
              </a:rPr>
              <a:t>, </a:t>
            </a:r>
            <a:r>
              <a:rPr lang="en-US" sz="2800" dirty="0" err="1">
                <a:solidFill>
                  <a:srgbClr val="FF0000"/>
                </a:solidFill>
              </a:rPr>
              <a:t>lName</a:t>
            </a:r>
            <a:r>
              <a:rPr lang="en-US" sz="2800" dirty="0">
                <a:solidFill>
                  <a:srgbClr val="FF0000"/>
                </a:solidFill>
              </a:rPr>
              <a:t>);</a:t>
            </a:r>
            <a:br>
              <a:rPr lang="en-US" sz="2800" dirty="0">
                <a:solidFill>
                  <a:srgbClr val="FF0000"/>
                </a:solidFill>
              </a:rPr>
            </a:br>
            <a:r>
              <a:rPr lang="en-US" sz="2800" dirty="0">
                <a:solidFill>
                  <a:srgbClr val="FF0000"/>
                </a:solidFill>
              </a:rPr>
              <a:t>}</a:t>
            </a:r>
          </a:p>
          <a:p>
            <a:pPr lvl="1"/>
            <a:endParaRPr lang="en-IE" sz="32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B2A744-1583-6620-7E24-31D8E97F60E5}"/>
              </a:ext>
            </a:extLst>
          </p:cNvPr>
          <p:cNvGrpSpPr/>
          <p:nvPr/>
        </p:nvGrpSpPr>
        <p:grpSpPr>
          <a:xfrm>
            <a:off x="4002744" y="3333602"/>
            <a:ext cx="5171002" cy="646331"/>
            <a:chOff x="2915816" y="3465874"/>
            <a:chExt cx="5171002" cy="646331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816A01FF-28FC-ED9B-DD7A-AC0488DB3559}"/>
                </a:ext>
              </a:extLst>
            </p:cNvPr>
            <p:cNvCxnSpPr>
              <a:stCxn id="6" idx="1"/>
            </p:cNvCxnSpPr>
            <p:nvPr/>
          </p:nvCxnSpPr>
          <p:spPr>
            <a:xfrm flipH="1">
              <a:off x="2915816" y="3789040"/>
              <a:ext cx="3010762" cy="21602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7536606-5EEE-B30D-4157-FD0B0A6121C3}"/>
                </a:ext>
              </a:extLst>
            </p:cNvPr>
            <p:cNvSpPr txBox="1"/>
            <p:nvPr/>
          </p:nvSpPr>
          <p:spPr>
            <a:xfrm>
              <a:off x="5926578" y="3465874"/>
              <a:ext cx="21602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Only change is to go from </a:t>
              </a:r>
              <a:r>
                <a:rPr lang="en-IE" b="1" dirty="0"/>
                <a:t>if</a:t>
              </a:r>
              <a:r>
                <a:rPr lang="en-IE" dirty="0"/>
                <a:t> to </a:t>
              </a:r>
              <a:r>
                <a:rPr lang="en-IE" b="1" dirty="0"/>
                <a:t>while</a:t>
              </a:r>
              <a:r>
                <a:rPr lang="en-IE" dirty="0"/>
                <a:t>!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A9F29E19-BB7D-A9C2-BA51-5CD818BD3893}"/>
              </a:ext>
            </a:extLst>
          </p:cNvPr>
          <p:cNvSpPr txBox="1"/>
          <p:nvPr/>
        </p:nvSpPr>
        <p:spPr>
          <a:xfrm>
            <a:off x="6064776" y="5467801"/>
            <a:ext cx="50909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b="1" u="sng" dirty="0"/>
              <a:t>Note</a:t>
            </a:r>
            <a:r>
              <a:rPr lang="en-IE" dirty="0"/>
              <a:t>: You shouldn’t get multiple results when selecting based on a username and password. Why? </a:t>
            </a:r>
          </a:p>
        </p:txBody>
      </p:sp>
    </p:spTree>
    <p:extLst>
      <p:ext uri="{BB962C8B-B14F-4D97-AF65-F5344CB8AC3E}">
        <p14:creationId xmlns:p14="http://schemas.microsoft.com/office/powerpoint/2010/main" val="41296344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90CFF-3EBD-D434-C319-F15E209FD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DB Communication in Code:</a:t>
            </a:r>
            <a:br>
              <a:rPr lang="en-IE" dirty="0"/>
            </a:br>
            <a:r>
              <a:rPr lang="en-IE" dirty="0"/>
              <a:t>Step 7) Close Your 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6422CA-AD06-5A23-9791-A33B35AE0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2"/>
            <a:ext cx="10058400" cy="4394042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US" sz="3200" dirty="0"/>
              <a:t>As with file handling and network communication, you should close everything you open! </a:t>
            </a:r>
          </a:p>
          <a:p>
            <a:pPr lvl="2"/>
            <a:r>
              <a:rPr lang="en-US" sz="2800" dirty="0"/>
              <a:t>If not, you are </a:t>
            </a:r>
            <a:r>
              <a:rPr lang="en-US" sz="2800" u="sng" dirty="0"/>
              <a:t>wasting system resources</a:t>
            </a:r>
          </a:p>
          <a:p>
            <a:pPr lvl="1"/>
            <a:endParaRPr lang="en-US" sz="2200" dirty="0"/>
          </a:p>
          <a:p>
            <a:pPr lvl="1"/>
            <a:r>
              <a:rPr lang="en-US" sz="3200" dirty="0"/>
              <a:t>When closing up database resources, you should close (in this order): </a:t>
            </a:r>
          </a:p>
          <a:p>
            <a:pPr lvl="2"/>
            <a:r>
              <a:rPr lang="en-US" sz="2800" dirty="0"/>
              <a:t>The </a:t>
            </a:r>
            <a:r>
              <a:rPr lang="en-US" sz="2800" dirty="0" err="1"/>
              <a:t>ResultSet</a:t>
            </a:r>
            <a:r>
              <a:rPr lang="en-US" sz="2800" dirty="0"/>
              <a:t> storing results from the database (if there is one)</a:t>
            </a:r>
          </a:p>
          <a:p>
            <a:pPr lvl="2"/>
            <a:r>
              <a:rPr lang="en-US" sz="2800" dirty="0"/>
              <a:t>The </a:t>
            </a:r>
            <a:r>
              <a:rPr lang="en-US" sz="2800" dirty="0" err="1"/>
              <a:t>PreparedStatement</a:t>
            </a:r>
            <a:r>
              <a:rPr lang="en-US" sz="2800" dirty="0"/>
              <a:t> you used to run SQL on the database</a:t>
            </a:r>
          </a:p>
          <a:p>
            <a:pPr lvl="2"/>
            <a:r>
              <a:rPr lang="en-US" sz="2800" dirty="0"/>
              <a:t>The Connection you used to access the database</a:t>
            </a:r>
          </a:p>
          <a:p>
            <a:pPr lvl="1"/>
            <a:endParaRPr lang="en-US" sz="2200" dirty="0"/>
          </a:p>
          <a:p>
            <a:pPr lvl="1"/>
            <a:r>
              <a:rPr lang="en-US" sz="3200" dirty="0"/>
              <a:t>This closing process should always happen, whether the database query successfully completed or not</a:t>
            </a:r>
          </a:p>
          <a:p>
            <a:pPr lvl="1"/>
            <a:r>
              <a:rPr lang="en-US" sz="3200" dirty="0"/>
              <a:t>This process should be done in reverse order of opening</a:t>
            </a:r>
          </a:p>
          <a:p>
            <a:pPr lvl="2"/>
            <a:r>
              <a:rPr lang="en-US" sz="2800" dirty="0"/>
              <a:t>Whatever was opened last should be closed first and so on</a:t>
            </a:r>
          </a:p>
          <a:p>
            <a:pPr lvl="1"/>
            <a:endParaRPr lang="en-US" sz="2200" dirty="0"/>
          </a:p>
          <a:p>
            <a:pPr lvl="1"/>
            <a:r>
              <a:rPr lang="en-US" sz="3200" dirty="0"/>
              <a:t>In code: Avoid the issue – use try-with-resources!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94141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54D1-E26C-9895-848C-4211C93FE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About Exceptions?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1453E-4A7D-F8E8-5714-A4D031589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201168" lvl="1" indent="0">
              <a:buNone/>
            </a:pPr>
            <a:r>
              <a:rPr lang="en-US" sz="3200" dirty="0"/>
              <a:t>Where could exceptions occur? What could go wrong??</a:t>
            </a:r>
          </a:p>
          <a:p>
            <a:pPr marL="201168" lvl="1" indent="0">
              <a:buNone/>
            </a:pPr>
            <a:endParaRPr lang="en-US" sz="3200" dirty="0"/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Load the database driver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Get a connection to the database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Write the SQL query you wish to execute on the database 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Load the query into a statement and prepare it for execution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Execute the query and get results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Process the results – Either loop through the results retrieved or deal with the single result returned</a:t>
            </a:r>
          </a:p>
          <a:p>
            <a:pPr marL="715518" lvl="1" indent="-514350">
              <a:buFont typeface="+mj-lt"/>
              <a:buAutoNum type="arabicPeriod"/>
            </a:pPr>
            <a:r>
              <a:rPr lang="en-US" sz="3200" dirty="0"/>
              <a:t>Close everything you opened, i.e.: </a:t>
            </a:r>
          </a:p>
          <a:p>
            <a:pPr lvl="2"/>
            <a:r>
              <a:rPr lang="en-US" sz="2800" dirty="0"/>
              <a:t>The object to hold the results</a:t>
            </a:r>
          </a:p>
          <a:p>
            <a:pPr lvl="2"/>
            <a:r>
              <a:rPr lang="en-US" sz="2800" dirty="0"/>
              <a:t>The statement used to run SQL</a:t>
            </a:r>
          </a:p>
          <a:p>
            <a:pPr lvl="2"/>
            <a:r>
              <a:rPr lang="en-US" sz="2800" dirty="0"/>
              <a:t>The connection used to interact with the database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6309748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47AA7-F1B6-6B7C-F09B-ADD2EDA38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Possible Issue Points: </a:t>
            </a:r>
            <a:br>
              <a:rPr lang="en-IE" dirty="0"/>
            </a:br>
            <a:r>
              <a:rPr lang="en-IE" dirty="0"/>
              <a:t>1) The Setup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242782-3894-6077-8C74-3339E669C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1"/>
            <a:r>
              <a:rPr lang="en-US" sz="3200" dirty="0"/>
              <a:t>Loading the driver can cause a </a:t>
            </a:r>
            <a:r>
              <a:rPr lang="en-US" sz="3200" dirty="0" err="1">
                <a:solidFill>
                  <a:srgbClr val="FF0000"/>
                </a:solidFill>
              </a:rPr>
              <a:t>ClassNotFoundException</a:t>
            </a:r>
            <a:endParaRPr lang="en-US" sz="3200" dirty="0">
              <a:solidFill>
                <a:srgbClr val="FF0000"/>
              </a:solidFill>
            </a:endParaRPr>
          </a:p>
          <a:p>
            <a:pPr lvl="2"/>
            <a:r>
              <a:rPr lang="en-US" sz="2800" dirty="0"/>
              <a:t>Cause: No Driver files found matching that name</a:t>
            </a:r>
          </a:p>
          <a:p>
            <a:pPr lvl="2"/>
            <a:endParaRPr lang="en-US" sz="2800" dirty="0"/>
          </a:p>
          <a:p>
            <a:pPr lvl="1"/>
            <a:r>
              <a:rPr lang="en-US" sz="3200" dirty="0"/>
              <a:t>Getting a Connection can cause an </a:t>
            </a:r>
            <a:r>
              <a:rPr lang="en-US" sz="3200" dirty="0" err="1">
                <a:solidFill>
                  <a:srgbClr val="FF0000"/>
                </a:solidFill>
              </a:rPr>
              <a:t>SQLException</a:t>
            </a:r>
            <a:endParaRPr lang="en-US" sz="3200" dirty="0">
              <a:solidFill>
                <a:srgbClr val="FF0000"/>
              </a:solidFill>
            </a:endParaRPr>
          </a:p>
          <a:p>
            <a:pPr lvl="2"/>
            <a:r>
              <a:rPr lang="en-US" sz="2800" dirty="0"/>
              <a:t>Common possible causes include: </a:t>
            </a:r>
          </a:p>
          <a:p>
            <a:pPr lvl="3"/>
            <a:r>
              <a:rPr lang="en-US" sz="2800" dirty="0"/>
              <a:t>Database server is not turned on in that location</a:t>
            </a:r>
          </a:p>
          <a:p>
            <a:pPr lvl="3"/>
            <a:r>
              <a:rPr lang="en-US" sz="2800" dirty="0"/>
              <a:t>That specific database is not available on the server</a:t>
            </a:r>
          </a:p>
          <a:p>
            <a:pPr lvl="3"/>
            <a:r>
              <a:rPr lang="en-US" sz="2800" dirty="0"/>
              <a:t>The credentials (username &amp; password) are invalid</a:t>
            </a:r>
          </a:p>
          <a:p>
            <a:pPr lvl="3"/>
            <a:r>
              <a:rPr lang="en-US" sz="2800" dirty="0"/>
              <a:t>Many others!</a:t>
            </a:r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28823581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A2B35-5AFE-6997-9D14-7E7A33E90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Possible Issue Points:</a:t>
            </a:r>
            <a:br>
              <a:rPr lang="en-IE" dirty="0"/>
            </a:br>
            <a:r>
              <a:rPr lang="en-IE" dirty="0"/>
              <a:t>2) The Query Execution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F9001-D3AA-357B-50F1-B95DC1655A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US" sz="3200" dirty="0"/>
              <a:t>Preparing the statement can cause an </a:t>
            </a:r>
            <a:r>
              <a:rPr lang="en-US" sz="3200" dirty="0" err="1">
                <a:solidFill>
                  <a:srgbClr val="FF0000"/>
                </a:solidFill>
              </a:rPr>
              <a:t>SQLException</a:t>
            </a:r>
            <a:endParaRPr lang="en-US" sz="3200" dirty="0">
              <a:solidFill>
                <a:srgbClr val="FF0000"/>
              </a:solidFill>
            </a:endParaRPr>
          </a:p>
          <a:p>
            <a:pPr lvl="2"/>
            <a:r>
              <a:rPr lang="en-US" sz="2800" dirty="0"/>
              <a:t>Possible causes:</a:t>
            </a:r>
          </a:p>
          <a:p>
            <a:pPr lvl="3"/>
            <a:r>
              <a:rPr lang="en-US" sz="2600" dirty="0"/>
              <a:t>Connection wasn’t established cleanly</a:t>
            </a:r>
          </a:p>
          <a:p>
            <a:pPr lvl="3"/>
            <a:r>
              <a:rPr lang="en-US" sz="2600" dirty="0"/>
              <a:t>The connection has already been closed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Executing the query can cause an </a:t>
            </a:r>
            <a:r>
              <a:rPr lang="en-US" sz="3200" dirty="0" err="1">
                <a:solidFill>
                  <a:srgbClr val="FF0000"/>
                </a:solidFill>
              </a:rPr>
              <a:t>SQLException</a:t>
            </a:r>
            <a:endParaRPr lang="en-US" sz="3200" dirty="0">
              <a:solidFill>
                <a:srgbClr val="FF0000"/>
              </a:solidFill>
            </a:endParaRPr>
          </a:p>
          <a:p>
            <a:pPr lvl="2"/>
            <a:r>
              <a:rPr lang="en-US" sz="2800" dirty="0"/>
              <a:t>Possible causes:</a:t>
            </a:r>
          </a:p>
          <a:p>
            <a:pPr lvl="3"/>
            <a:r>
              <a:rPr lang="en-US" sz="2600" dirty="0"/>
              <a:t>The prepared statement/underlying connection has been closed</a:t>
            </a:r>
          </a:p>
          <a:p>
            <a:pPr lvl="3"/>
            <a:r>
              <a:rPr lang="en-US" sz="2600" dirty="0"/>
              <a:t>The database server has been switched off</a:t>
            </a:r>
          </a:p>
          <a:p>
            <a:pPr lvl="3"/>
            <a:r>
              <a:rPr lang="en-US" sz="2600" dirty="0"/>
              <a:t>You are using </a:t>
            </a:r>
            <a:r>
              <a:rPr lang="en-US" sz="2600" dirty="0" err="1"/>
              <a:t>executeQuery</a:t>
            </a:r>
            <a:r>
              <a:rPr lang="en-US" sz="2600" dirty="0"/>
              <a:t> with SQL that doesn’t select anything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4050995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C2944-C4C8-4C32-0237-D3A595B65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Possible Issue Points:</a:t>
            </a:r>
            <a:br>
              <a:rPr lang="en-IE" dirty="0"/>
            </a:br>
            <a:r>
              <a:rPr lang="en-IE" dirty="0"/>
              <a:t>3) The Result Processing Stage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EA202-F6BC-5D9A-7A90-66EDAC58B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US" sz="3200" dirty="0"/>
              <a:t>Calling .next() on the </a:t>
            </a:r>
            <a:r>
              <a:rPr lang="en-US" sz="3200" dirty="0" err="1"/>
              <a:t>resultset</a:t>
            </a:r>
            <a:r>
              <a:rPr lang="en-US" sz="3200" dirty="0"/>
              <a:t> can cause an </a:t>
            </a:r>
            <a:r>
              <a:rPr lang="en-US" sz="3200" dirty="0" err="1">
                <a:solidFill>
                  <a:srgbClr val="FF0000"/>
                </a:solidFill>
              </a:rPr>
              <a:t>SQLException</a:t>
            </a:r>
            <a:endParaRPr lang="en-US" sz="3200" dirty="0">
              <a:solidFill>
                <a:srgbClr val="FF0000"/>
              </a:solidFill>
            </a:endParaRPr>
          </a:p>
          <a:p>
            <a:pPr lvl="2"/>
            <a:r>
              <a:rPr lang="en-US" sz="2800" dirty="0"/>
              <a:t>Possible causes:</a:t>
            </a:r>
          </a:p>
          <a:p>
            <a:pPr lvl="3"/>
            <a:r>
              <a:rPr lang="en-US" sz="2400" dirty="0"/>
              <a:t>The underlying connection was closed</a:t>
            </a:r>
          </a:p>
          <a:p>
            <a:pPr lvl="3"/>
            <a:r>
              <a:rPr lang="en-US" sz="2400" dirty="0"/>
              <a:t>The </a:t>
            </a:r>
            <a:r>
              <a:rPr lang="en-US" sz="2400" dirty="0" err="1"/>
              <a:t>resultset</a:t>
            </a:r>
            <a:r>
              <a:rPr lang="en-US" sz="2400" dirty="0"/>
              <a:t> has been closed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Getting a row’s component from the </a:t>
            </a:r>
            <a:r>
              <a:rPr lang="en-US" sz="3200" dirty="0" err="1"/>
              <a:t>resultset</a:t>
            </a:r>
            <a:r>
              <a:rPr lang="en-US" sz="3200" dirty="0"/>
              <a:t> using </a:t>
            </a:r>
            <a:r>
              <a:rPr lang="en-US" sz="3200" dirty="0" err="1"/>
              <a:t>nextInt</a:t>
            </a:r>
            <a:r>
              <a:rPr lang="en-US" sz="3200" dirty="0"/>
              <a:t>/</a:t>
            </a:r>
            <a:r>
              <a:rPr lang="en-US" sz="3200" dirty="0" err="1"/>
              <a:t>nextString</a:t>
            </a:r>
            <a:r>
              <a:rPr lang="en-US" sz="3200" dirty="0"/>
              <a:t>/ </a:t>
            </a:r>
            <a:r>
              <a:rPr lang="en-US" sz="3200" dirty="0" err="1"/>
              <a:t>nextDouble</a:t>
            </a:r>
            <a:r>
              <a:rPr lang="en-US" sz="3200" dirty="0"/>
              <a:t> </a:t>
            </a:r>
            <a:r>
              <a:rPr lang="en-US" sz="3200" dirty="0" err="1"/>
              <a:t>etc</a:t>
            </a:r>
            <a:r>
              <a:rPr lang="en-US" sz="3200" dirty="0"/>
              <a:t> can cause an </a:t>
            </a:r>
            <a:r>
              <a:rPr lang="en-US" sz="3200" dirty="0" err="1">
                <a:solidFill>
                  <a:srgbClr val="FF0000"/>
                </a:solidFill>
              </a:rPr>
              <a:t>SQLException</a:t>
            </a:r>
            <a:endParaRPr lang="en-US" sz="3200" dirty="0">
              <a:solidFill>
                <a:srgbClr val="FF0000"/>
              </a:solidFill>
            </a:endParaRPr>
          </a:p>
          <a:p>
            <a:pPr lvl="2"/>
            <a:r>
              <a:rPr lang="en-US" sz="2800" dirty="0"/>
              <a:t>Possible causes:</a:t>
            </a:r>
          </a:p>
          <a:p>
            <a:pPr lvl="3"/>
            <a:r>
              <a:rPr lang="en-US" sz="2400" dirty="0"/>
              <a:t>Using the wrong method for the type stored in that table field (</a:t>
            </a:r>
            <a:r>
              <a:rPr lang="en-US" sz="2400" dirty="0" err="1"/>
              <a:t>eg</a:t>
            </a:r>
            <a:r>
              <a:rPr lang="en-US" sz="2400" dirty="0"/>
              <a:t> </a:t>
            </a:r>
            <a:r>
              <a:rPr lang="en-US" sz="2400" dirty="0" err="1"/>
              <a:t>nextInt</a:t>
            </a:r>
            <a:r>
              <a:rPr lang="en-US" sz="2400" dirty="0"/>
              <a:t> where varchars is stored)</a:t>
            </a:r>
          </a:p>
          <a:p>
            <a:pPr lvl="3"/>
            <a:r>
              <a:rPr lang="en-US" sz="2400" dirty="0"/>
              <a:t>Using the wrong field name as a parameter</a:t>
            </a:r>
          </a:p>
          <a:p>
            <a:pPr lvl="3"/>
            <a:r>
              <a:rPr lang="en-US" sz="2400" dirty="0"/>
              <a:t>The </a:t>
            </a:r>
            <a:r>
              <a:rPr lang="en-US" sz="2400" dirty="0" err="1"/>
              <a:t>resultset</a:t>
            </a:r>
            <a:r>
              <a:rPr lang="en-US" sz="2400" dirty="0"/>
              <a:t> has been closed already</a:t>
            </a:r>
          </a:p>
          <a:p>
            <a:pPr lvl="1"/>
            <a:endParaRPr lang="en-US" sz="3200" dirty="0"/>
          </a:p>
          <a:p>
            <a:pPr lvl="1"/>
            <a:endParaRPr lang="en-IE" sz="3200" dirty="0"/>
          </a:p>
        </p:txBody>
      </p:sp>
    </p:spTree>
    <p:extLst>
      <p:ext uri="{BB962C8B-B14F-4D97-AF65-F5344CB8AC3E}">
        <p14:creationId xmlns:p14="http://schemas.microsoft.com/office/powerpoint/2010/main" val="37478217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Code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6960" y="3068960"/>
            <a:ext cx="7543800" cy="1224136"/>
          </a:xfrm>
        </p:spPr>
        <p:txBody>
          <a:bodyPr>
            <a:normAutofit fontScale="77500" lnSpcReduction="20000"/>
          </a:bodyPr>
          <a:lstStyle/>
          <a:p>
            <a:pPr algn="ctr"/>
            <a:r>
              <a:rPr lang="en-IE" sz="3600" dirty="0"/>
              <a:t>Check out </a:t>
            </a:r>
            <a:r>
              <a:rPr lang="en-IE" sz="3600" dirty="0">
                <a:solidFill>
                  <a:srgbClr val="FF0000"/>
                </a:solidFill>
              </a:rPr>
              <a:t>IntroSQLExample.java</a:t>
            </a:r>
            <a:r>
              <a:rPr lang="en-IE" sz="3600" dirty="0"/>
              <a:t> in the </a:t>
            </a:r>
            <a:r>
              <a:rPr lang="en-IE" sz="3600" dirty="0" err="1"/>
              <a:t>databases.A_introToJdbc</a:t>
            </a:r>
            <a:r>
              <a:rPr lang="en-IE" sz="3600" dirty="0"/>
              <a:t> package</a:t>
            </a:r>
          </a:p>
          <a:p>
            <a:pPr algn="ctr"/>
            <a:r>
              <a:rPr lang="en-IE" sz="3600" dirty="0"/>
              <a:t>(</a:t>
            </a:r>
            <a:r>
              <a:rPr lang="en-IE" sz="3600" dirty="0" err="1"/>
              <a:t>SlideExamples</a:t>
            </a:r>
            <a:r>
              <a:rPr lang="en-IE" sz="3600" dirty="0"/>
              <a:t> repository)</a:t>
            </a:r>
          </a:p>
        </p:txBody>
      </p:sp>
    </p:spTree>
    <p:extLst>
      <p:ext uri="{BB962C8B-B14F-4D97-AF65-F5344CB8AC3E}">
        <p14:creationId xmlns:p14="http://schemas.microsoft.com/office/powerpoint/2010/main" val="222234384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</TotalTime>
  <Words>2451</Words>
  <Application>Microsoft Office PowerPoint</Application>
  <PresentationFormat>Widescreen</PresentationFormat>
  <Paragraphs>244</Paragraphs>
  <Slides>26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Calibri</vt:lpstr>
      <vt:lpstr>Calibri Light</vt:lpstr>
      <vt:lpstr>Retrospect</vt:lpstr>
      <vt:lpstr>Database Connectivity: JDBC &amp; MySQL</vt:lpstr>
      <vt:lpstr>Communicating With a Database</vt:lpstr>
      <vt:lpstr>Communicating With  Different Databases</vt:lpstr>
      <vt:lpstr>Adding JDBC Drivers - Including the Database’s Translator</vt:lpstr>
      <vt:lpstr>Steps Required for  Database Communication</vt:lpstr>
      <vt:lpstr>Database Communication in Code: Step 1) Driver Inclusion</vt:lpstr>
      <vt:lpstr>Database Communication in Code: Step 2) Connect to the Database</vt:lpstr>
      <vt:lpstr>Understanding the Database URL</vt:lpstr>
      <vt:lpstr>Database Communication in Code: Summary of Set-Up Stage</vt:lpstr>
      <vt:lpstr>DB Communication in Code: Step 3) Write the SQL &amp; store it in a variable</vt:lpstr>
      <vt:lpstr>DB Communication in Code: Step 4a) Create a PreparedStatement</vt:lpstr>
      <vt:lpstr>DB Communication in Code: Step 4b) Fill in the blanks within the query</vt:lpstr>
      <vt:lpstr>Placeholders in SQL - The ? Notation</vt:lpstr>
      <vt:lpstr>DB Communication in Code: Step 5) Execute the SQL</vt:lpstr>
      <vt:lpstr>Database Communication in Code: Summary of Execution Stage</vt:lpstr>
      <vt:lpstr>Dealing With Results</vt:lpstr>
      <vt:lpstr>What to Do with ResultSet Data: Modelling Your Database in Code</vt:lpstr>
      <vt:lpstr>Modelling Your Database in Code: Building Data Transfer Objects</vt:lpstr>
      <vt:lpstr>DB Communication in Code: Step 6) Process the Results – Single Result</vt:lpstr>
      <vt:lpstr>DB Communication in Code: Step 6) Process the Results – Multiple Results</vt:lpstr>
      <vt:lpstr>DB Communication in Code: Step 7) Close Your Resources</vt:lpstr>
      <vt:lpstr>What About Exceptions?</vt:lpstr>
      <vt:lpstr>Possible Issue Points:  1) The Setup Stage</vt:lpstr>
      <vt:lpstr>Possible Issue Points: 2) The Query Execution Stage</vt:lpstr>
      <vt:lpstr>Possible Issue Points: 3) The Result Processing Stage</vt:lpstr>
      <vt:lpstr>Code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Connectivity: JDBC &amp; MySQL</dc:title>
  <dc:creator>Michelle Graham</dc:creator>
  <cp:lastModifiedBy>Michelle Graham</cp:lastModifiedBy>
  <cp:revision>8</cp:revision>
  <dcterms:created xsi:type="dcterms:W3CDTF">2023-09-16T21:40:10Z</dcterms:created>
  <dcterms:modified xsi:type="dcterms:W3CDTF">2025-09-15T23:18:39Z</dcterms:modified>
</cp:coreProperties>
</file>