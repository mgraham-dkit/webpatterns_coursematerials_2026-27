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2" r:id="rId6"/>
    <p:sldId id="263" r:id="rId7"/>
    <p:sldId id="260" r:id="rId8"/>
    <p:sldId id="264" r:id="rId9"/>
    <p:sldId id="265" r:id="rId10"/>
    <p:sldId id="259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6BBFA-F35A-4C9E-B603-364C03F90CA5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B1CCD-5CBE-431F-918B-C03CE77C6F5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45921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Dependency object: Something your code uses/depends on to carry out </a:t>
            </a:r>
            <a:r>
              <a:rPr lang="en-IE"/>
              <a:t>some action.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B1CCD-5CBE-431F-918B-C03CE77C6F5E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26554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978D-4BD4-4485-B149-25864DE6FFF7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3B074-8BF6-489F-9DCD-3EE7D25F7CCB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83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978D-4BD4-4485-B149-25864DE6FFF7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3B074-8BF6-489F-9DCD-3EE7D25F7CC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444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978D-4BD4-4485-B149-25864DE6FFF7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3B074-8BF6-489F-9DCD-3EE7D25F7CCB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36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978D-4BD4-4485-B149-25864DE6FFF7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3B074-8BF6-489F-9DCD-3EE7D25F7CC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3364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978D-4BD4-4485-B149-25864DE6FFF7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3B074-8BF6-489F-9DCD-3EE7D25F7CC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6720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978D-4BD4-4485-B149-25864DE6FFF7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3B074-8BF6-489F-9DCD-3EE7D25F7CC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1812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978D-4BD4-4485-B149-25864DE6FFF7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3B074-8BF6-489F-9DCD-3EE7D25F7CC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7352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68A978D-4BD4-4485-B149-25864DE6FFF7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63B074-8BF6-489F-9DCD-3EE7D25F7CC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4226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978D-4BD4-4485-B149-25864DE6FFF7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3B074-8BF6-489F-9DCD-3EE7D25F7CC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50916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978D-4BD4-4485-B149-25864DE6FFF7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3B074-8BF6-489F-9DCD-3EE7D25F7CC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141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978D-4BD4-4485-B149-25864DE6FFF7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3B074-8BF6-489F-9DCD-3EE7D25F7CC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16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68A978D-4BD4-4485-B149-25864DE6FFF7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D63B074-8BF6-489F-9DCD-3EE7D25F7CCB}" type="slidenum">
              <a:rPr lang="en-IE" smtClean="0"/>
              <a:t>‹#›</a:t>
            </a:fld>
            <a:endParaRPr lang="en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010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64759-8171-3EE1-9CA5-AC8756BA2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The DAO Pattern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4CC1-0812-96B1-303B-F818728161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Implementing a Data Access Layer</a:t>
            </a:r>
          </a:p>
        </p:txBody>
      </p:sp>
    </p:spTree>
    <p:extLst>
      <p:ext uri="{BB962C8B-B14F-4D97-AF65-F5344CB8AC3E}">
        <p14:creationId xmlns:p14="http://schemas.microsoft.com/office/powerpoint/2010/main" val="3630826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DF1C-0E9A-DB83-091B-800F995E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 Note on Code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2E41F-FA89-F03F-0289-AAA07F1C4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1"/>
            <a:r>
              <a:rPr lang="en-US" sz="3200" dirty="0"/>
              <a:t>We currently interact with the database straight from our “front-end” code</a:t>
            </a:r>
          </a:p>
          <a:p>
            <a:pPr lvl="2"/>
            <a:r>
              <a:rPr lang="en-US" sz="2800" dirty="0"/>
              <a:t>This is </a:t>
            </a:r>
            <a:r>
              <a:rPr lang="en-US" sz="2800" b="1" u="sng" dirty="0"/>
              <a:t>bad</a:t>
            </a:r>
            <a:r>
              <a:rPr lang="en-US" sz="2800" dirty="0"/>
              <a:t> practice!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A key concept for software development is to ensure the </a:t>
            </a:r>
            <a:r>
              <a:rPr lang="en-US" sz="3200" b="1" dirty="0">
                <a:solidFill>
                  <a:srgbClr val="FF0000"/>
                </a:solidFill>
              </a:rPr>
              <a:t>separation of concerns</a:t>
            </a:r>
            <a:r>
              <a:rPr lang="en-US" sz="3200" dirty="0"/>
              <a:t> – all code should be separated/grouped based on its logic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“Front-end” (i.e. user-interacting) code should focus on:</a:t>
            </a:r>
          </a:p>
          <a:p>
            <a:pPr lvl="2"/>
            <a:r>
              <a:rPr lang="en-US" sz="2800" dirty="0"/>
              <a:t>Displaying data to the user</a:t>
            </a:r>
          </a:p>
          <a:p>
            <a:pPr lvl="2"/>
            <a:r>
              <a:rPr lang="en-US" sz="2800" dirty="0"/>
              <a:t>Taking and validating data from the user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Logic code should focus on the “thinking” of the program</a:t>
            </a:r>
          </a:p>
          <a:p>
            <a:pPr lvl="2"/>
            <a:r>
              <a:rPr lang="en-US" sz="2800" dirty="0"/>
              <a:t>Database interaction is part of the “thinking”</a:t>
            </a:r>
          </a:p>
          <a:p>
            <a:pPr lvl="1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1762794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518AB-4F87-E2C2-E82C-3074DDC3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Extracting Data Access:</a:t>
            </a:r>
            <a:br>
              <a:rPr lang="en-IE" dirty="0"/>
            </a:br>
            <a:r>
              <a:rPr lang="en-IE" dirty="0"/>
              <a:t>The Data Access Object (DAO)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DF573-6D47-7EC0-D367-83D1115EC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The </a:t>
            </a:r>
            <a:r>
              <a:rPr lang="en-IE" sz="3200" dirty="0">
                <a:solidFill>
                  <a:srgbClr val="FF0000"/>
                </a:solidFill>
              </a:rPr>
              <a:t>Data Access Object (DAO) pattern </a:t>
            </a:r>
            <a:r>
              <a:rPr lang="en-IE" sz="3200" dirty="0"/>
              <a:t>is a design pattern designed to separate data persistence logic from business logic</a:t>
            </a:r>
          </a:p>
          <a:p>
            <a:pPr lvl="1"/>
            <a:endParaRPr lang="en-IE" sz="3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9302C6-4655-8FE5-5808-095301B3F9DF}"/>
              </a:ext>
            </a:extLst>
          </p:cNvPr>
          <p:cNvGrpSpPr/>
          <p:nvPr/>
        </p:nvGrpSpPr>
        <p:grpSpPr>
          <a:xfrm>
            <a:off x="2972084" y="2860458"/>
            <a:ext cx="6247832" cy="3063281"/>
            <a:chOff x="395536" y="2900404"/>
            <a:chExt cx="7246519" cy="3552932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2AA9434-B4B1-7277-A048-0757C3F3E388}"/>
                </a:ext>
              </a:extLst>
            </p:cNvPr>
            <p:cNvSpPr/>
            <p:nvPr/>
          </p:nvSpPr>
          <p:spPr>
            <a:xfrm>
              <a:off x="395536" y="3284984"/>
              <a:ext cx="4392488" cy="316835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4BCFF8E8-EBCA-5C9D-5437-906876972056}"/>
                </a:ext>
              </a:extLst>
            </p:cNvPr>
            <p:cNvSpPr/>
            <p:nvPr/>
          </p:nvSpPr>
          <p:spPr>
            <a:xfrm>
              <a:off x="611560" y="4005064"/>
              <a:ext cx="2160240" cy="21602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Request a Customer object from the  </a:t>
              </a:r>
              <a:r>
                <a:rPr lang="en-GB" dirty="0" err="1"/>
                <a:t>CustomerDao</a:t>
              </a:r>
              <a:r>
                <a:rPr lang="en-GB" dirty="0"/>
                <a:t> object</a:t>
              </a:r>
              <a:endParaRPr lang="en-IE" dirty="0"/>
            </a:p>
          </p:txBody>
        </p:sp>
        <p:sp>
          <p:nvSpPr>
            <p:cNvPr id="7" name="Flowchart: Magnetic Disk 6">
              <a:extLst>
                <a:ext uri="{FF2B5EF4-FFF2-40B4-BE49-F238E27FC236}">
                  <a16:creationId xmlns:a16="http://schemas.microsoft.com/office/drawing/2014/main" id="{F29BB6D9-9867-24A6-B7F9-90390AFCA8E9}"/>
                </a:ext>
              </a:extLst>
            </p:cNvPr>
            <p:cNvSpPr/>
            <p:nvPr/>
          </p:nvSpPr>
          <p:spPr>
            <a:xfrm>
              <a:off x="6417919" y="4292173"/>
              <a:ext cx="1224136" cy="1584176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Database</a:t>
              </a:r>
              <a:endParaRPr lang="en-IE" dirty="0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455CF3A-1D60-9A0C-B014-8140F4191E69}"/>
                </a:ext>
              </a:extLst>
            </p:cNvPr>
            <p:cNvSpPr/>
            <p:nvPr/>
          </p:nvSpPr>
          <p:spPr>
            <a:xfrm>
              <a:off x="3607384" y="4405126"/>
              <a:ext cx="720080" cy="136815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022D480-69D9-6653-FC80-4521B054643A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2771799" y="5085184"/>
              <a:ext cx="835585" cy="4019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26D1B8A-0C78-E4B3-6585-574F5C357C97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4327464" y="5089203"/>
              <a:ext cx="2090455" cy="1583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E3F00A-4C4E-C2F2-D52A-1287DC3EA8B1}"/>
                </a:ext>
              </a:extLst>
            </p:cNvPr>
            <p:cNvSpPr txBox="1"/>
            <p:nvPr/>
          </p:nvSpPr>
          <p:spPr>
            <a:xfrm>
              <a:off x="2119477" y="2900404"/>
              <a:ext cx="1509837" cy="428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Our Code</a:t>
              </a:r>
              <a:endParaRPr lang="en-IE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91C1A5C-BACE-AF75-93F9-47ECAD86F5A6}"/>
                </a:ext>
              </a:extLst>
            </p:cNvPr>
            <p:cNvSpPr txBox="1"/>
            <p:nvPr/>
          </p:nvSpPr>
          <p:spPr>
            <a:xfrm>
              <a:off x="3031320" y="3995772"/>
              <a:ext cx="1468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CustomerDao</a:t>
              </a:r>
              <a:endParaRPr lang="en-IE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4D90750-2B99-0AFD-AE03-768E49FD1348}"/>
                </a:ext>
              </a:extLst>
            </p:cNvPr>
            <p:cNvSpPr txBox="1"/>
            <p:nvPr/>
          </p:nvSpPr>
          <p:spPr>
            <a:xfrm>
              <a:off x="899592" y="3573016"/>
              <a:ext cx="15098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MyClientCode</a:t>
              </a:r>
              <a:endParaRPr lang="en-IE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1C624AE-A794-2A37-1836-6A8CA92C05C6}"/>
                </a:ext>
              </a:extLst>
            </p:cNvPr>
            <p:cNvSpPr txBox="1"/>
            <p:nvPr/>
          </p:nvSpPr>
          <p:spPr>
            <a:xfrm>
              <a:off x="4816536" y="4745000"/>
              <a:ext cx="1651025" cy="428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Uses  JDBC</a:t>
              </a:r>
              <a:endParaRPr lang="en-IE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A629FB9-A383-E057-C42F-B38C2CC8DE51}"/>
              </a:ext>
            </a:extLst>
          </p:cNvPr>
          <p:cNvSpPr txBox="1"/>
          <p:nvPr/>
        </p:nvSpPr>
        <p:spPr>
          <a:xfrm>
            <a:off x="7326234" y="3078750"/>
            <a:ext cx="1420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DAO acts as a middleman</a:t>
            </a:r>
          </a:p>
        </p:txBody>
      </p:sp>
    </p:spTree>
    <p:extLst>
      <p:ext uri="{BB962C8B-B14F-4D97-AF65-F5344CB8AC3E}">
        <p14:creationId xmlns:p14="http://schemas.microsoft.com/office/powerpoint/2010/main" val="597715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2039A-2A1C-970D-391D-F0E9947A6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Use the DAO Pattern?</a:t>
            </a:r>
            <a:br>
              <a:rPr lang="en-IE" dirty="0"/>
            </a:br>
            <a:r>
              <a:rPr lang="en-IE" dirty="0"/>
              <a:t>Improve the Overall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FB756-893F-6244-122D-10E5C3FDB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821769" cy="4023360"/>
          </a:xfrm>
        </p:spPr>
        <p:txBody>
          <a:bodyPr>
            <a:normAutofit fontScale="85000" lnSpcReduction="10000"/>
          </a:bodyPr>
          <a:lstStyle/>
          <a:p>
            <a:pPr lvl="1"/>
            <a:r>
              <a:rPr lang="en-IE" sz="3200" dirty="0">
                <a:solidFill>
                  <a:srgbClr val="FF0000"/>
                </a:solidFill>
              </a:rPr>
              <a:t>Separation of concerns</a:t>
            </a:r>
            <a:r>
              <a:rPr lang="en-IE" sz="3200" dirty="0"/>
              <a:t>: Each section of code is concerned with its own area </a:t>
            </a:r>
          </a:p>
          <a:p>
            <a:pPr lvl="2"/>
            <a:r>
              <a:rPr lang="en-IE" sz="2800" dirty="0"/>
              <a:t>The only code that needs to know the details of the data persistence are the data access classes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>
                <a:solidFill>
                  <a:srgbClr val="FF0000"/>
                </a:solidFill>
              </a:rPr>
              <a:t>Maintainability</a:t>
            </a:r>
            <a:r>
              <a:rPr lang="en-IE" sz="3200" dirty="0"/>
              <a:t>: Improves the process of maintaining the system. </a:t>
            </a:r>
          </a:p>
          <a:p>
            <a:pPr lvl="2"/>
            <a:r>
              <a:rPr lang="en-IE" sz="2800" dirty="0"/>
              <a:t>Any changes needed to the data persistence logic should only impact the data access level. </a:t>
            </a:r>
          </a:p>
          <a:p>
            <a:pPr lvl="2"/>
            <a:r>
              <a:rPr lang="en-IE" sz="2800" dirty="0"/>
              <a:t>Other classes are not involved as they don’t know the details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F884A1A-16D3-045D-968C-93BAFFE63C07}"/>
              </a:ext>
            </a:extLst>
          </p:cNvPr>
          <p:cNvGrpSpPr/>
          <p:nvPr/>
        </p:nvGrpSpPr>
        <p:grpSpPr>
          <a:xfrm>
            <a:off x="8149087" y="2423288"/>
            <a:ext cx="3417786" cy="2868252"/>
            <a:chOff x="8108830" y="2093343"/>
            <a:chExt cx="3417786" cy="286825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AD970EB-A786-96CA-B828-EBD5C1E0A7DE}"/>
                </a:ext>
              </a:extLst>
            </p:cNvPr>
            <p:cNvSpPr/>
            <p:nvPr/>
          </p:nvSpPr>
          <p:spPr>
            <a:xfrm>
              <a:off x="8108830" y="2093343"/>
              <a:ext cx="1604513" cy="70736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Front End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AC0A05D-5A4C-3222-F79D-CE482986F89D}"/>
                </a:ext>
              </a:extLst>
            </p:cNvPr>
            <p:cNvSpPr/>
            <p:nvPr/>
          </p:nvSpPr>
          <p:spPr>
            <a:xfrm>
              <a:off x="8108830" y="3147172"/>
              <a:ext cx="1604513" cy="70736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Business Logic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F506E5C-F2C4-DCA2-2287-04B4DA4E4205}"/>
                </a:ext>
              </a:extLst>
            </p:cNvPr>
            <p:cNvSpPr/>
            <p:nvPr/>
          </p:nvSpPr>
          <p:spPr>
            <a:xfrm>
              <a:off x="8108830" y="4201001"/>
              <a:ext cx="1604513" cy="70736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DAO Layer</a:t>
              </a:r>
            </a:p>
          </p:txBody>
        </p:sp>
        <p:sp>
          <p:nvSpPr>
            <p:cNvPr id="9" name="Arrow: Up-Down 8">
              <a:extLst>
                <a:ext uri="{FF2B5EF4-FFF2-40B4-BE49-F238E27FC236}">
                  <a16:creationId xmlns:a16="http://schemas.microsoft.com/office/drawing/2014/main" id="{FEFF444E-4EAC-124F-8545-BE392E4E1FD6}"/>
                </a:ext>
              </a:extLst>
            </p:cNvPr>
            <p:cNvSpPr/>
            <p:nvPr/>
          </p:nvSpPr>
          <p:spPr>
            <a:xfrm>
              <a:off x="8795487" y="2791189"/>
              <a:ext cx="212785" cy="355983"/>
            </a:xfrm>
            <a:prstGeom prst="up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0" name="Arrow: Up-Down 9">
              <a:extLst>
                <a:ext uri="{FF2B5EF4-FFF2-40B4-BE49-F238E27FC236}">
                  <a16:creationId xmlns:a16="http://schemas.microsoft.com/office/drawing/2014/main" id="{F10AC587-3006-4EB2-B184-298779035B0D}"/>
                </a:ext>
              </a:extLst>
            </p:cNvPr>
            <p:cNvSpPr/>
            <p:nvPr/>
          </p:nvSpPr>
          <p:spPr>
            <a:xfrm>
              <a:off x="8795486" y="3845018"/>
              <a:ext cx="212785" cy="355983"/>
            </a:xfrm>
            <a:prstGeom prst="up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1" name="Cylinder 10">
              <a:extLst>
                <a:ext uri="{FF2B5EF4-FFF2-40B4-BE49-F238E27FC236}">
                  <a16:creationId xmlns:a16="http://schemas.microsoft.com/office/drawing/2014/main" id="{3C0C58A2-FE60-1BEC-4BAB-8A7983B47EC8}"/>
                </a:ext>
              </a:extLst>
            </p:cNvPr>
            <p:cNvSpPr/>
            <p:nvPr/>
          </p:nvSpPr>
          <p:spPr>
            <a:xfrm>
              <a:off x="10403457" y="4147773"/>
              <a:ext cx="1123159" cy="813822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Database</a:t>
              </a:r>
            </a:p>
          </p:txBody>
        </p:sp>
        <p:sp>
          <p:nvSpPr>
            <p:cNvPr id="12" name="Arrow: Left-Right 11">
              <a:extLst>
                <a:ext uri="{FF2B5EF4-FFF2-40B4-BE49-F238E27FC236}">
                  <a16:creationId xmlns:a16="http://schemas.microsoft.com/office/drawing/2014/main" id="{FE048F87-6C93-4F43-964D-66427DB94D4D}"/>
                </a:ext>
              </a:extLst>
            </p:cNvPr>
            <p:cNvSpPr/>
            <p:nvPr/>
          </p:nvSpPr>
          <p:spPr>
            <a:xfrm>
              <a:off x="9713343" y="4479921"/>
              <a:ext cx="690114" cy="149525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</p:spTree>
    <p:extLst>
      <p:ext uri="{BB962C8B-B14F-4D97-AF65-F5344CB8AC3E}">
        <p14:creationId xmlns:p14="http://schemas.microsoft.com/office/powerpoint/2010/main" val="349271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12154-7925-8C5B-DB75-587DAE74B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Use the DAO Pattern?</a:t>
            </a:r>
            <a:br>
              <a:rPr lang="en-IE" dirty="0"/>
            </a:br>
            <a:r>
              <a:rPr lang="en-IE" dirty="0"/>
              <a:t>Open Up the System’s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9E705-DD19-75A5-776C-F3B9B1AA4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352779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IE" sz="3200" dirty="0">
                <a:solidFill>
                  <a:srgbClr val="FF0000"/>
                </a:solidFill>
              </a:rPr>
              <a:t>Flexibility</a:t>
            </a:r>
            <a:r>
              <a:rPr lang="en-IE" sz="3200" dirty="0"/>
              <a:t>: The DAO patterns employs interfaces to standardise behaviours in a flexible manner.</a:t>
            </a:r>
          </a:p>
          <a:p>
            <a:pPr lvl="2"/>
            <a:r>
              <a:rPr lang="en-IE" sz="2800" dirty="0"/>
              <a:t>This allows for access provision across multiple data sources if necessary.</a:t>
            </a:r>
          </a:p>
          <a:p>
            <a:pPr lvl="2"/>
            <a:r>
              <a:rPr lang="en-IE" sz="2800" dirty="0"/>
              <a:t>Can implement the behaviours for several different databases, all without changing the main business logic.</a:t>
            </a:r>
          </a:p>
        </p:txBody>
      </p:sp>
      <p:pic>
        <p:nvPicPr>
          <p:cNvPr id="5" name="Picture 4" descr="A diagram of a software company&#10;&#10;Description automatically generated">
            <a:extLst>
              <a:ext uri="{FF2B5EF4-FFF2-40B4-BE49-F238E27FC236}">
                <a16:creationId xmlns:a16="http://schemas.microsoft.com/office/drawing/2014/main" id="{A762C4E3-0561-7211-6AFB-FED0055D7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31" y="4101233"/>
            <a:ext cx="7100834" cy="222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73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7F1B7-A39A-F6FE-3554-6A0720AB8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Use the DAO Pattern?</a:t>
            </a:r>
            <a:br>
              <a:rPr lang="en-IE" dirty="0"/>
            </a:br>
            <a:r>
              <a:rPr lang="en-IE" dirty="0"/>
              <a:t>Design for Software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18524-F2D6-1958-9329-F42E9C146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>
                <a:solidFill>
                  <a:srgbClr val="FF0000"/>
                </a:solidFill>
              </a:rPr>
              <a:t>Testability</a:t>
            </a:r>
            <a:r>
              <a:rPr lang="en-IE" sz="3200" dirty="0"/>
              <a:t>: The DAO pattern turns data persistence code into easily testable methods.</a:t>
            </a:r>
          </a:p>
          <a:p>
            <a:pPr lvl="2"/>
            <a:r>
              <a:rPr lang="en-IE" sz="2800" dirty="0"/>
              <a:t>The more easily testable code is, the more robust it can be.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DAO pattern improves ability to:</a:t>
            </a:r>
          </a:p>
          <a:p>
            <a:pPr lvl="2"/>
            <a:r>
              <a:rPr lang="en-IE" sz="2800" dirty="0"/>
              <a:t>Mock the database when unit testing the persistence code.</a:t>
            </a:r>
          </a:p>
          <a:p>
            <a:pPr lvl="2"/>
            <a:r>
              <a:rPr lang="en-IE" sz="2800" dirty="0"/>
              <a:t>Mock the persistence logic when testing non-persistence code.</a:t>
            </a:r>
          </a:p>
        </p:txBody>
      </p:sp>
    </p:spTree>
    <p:extLst>
      <p:ext uri="{BB962C8B-B14F-4D97-AF65-F5344CB8AC3E}">
        <p14:creationId xmlns:p14="http://schemas.microsoft.com/office/powerpoint/2010/main" val="930509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3AC95-1145-CD6F-947B-7654E0E2C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Key Components of the DAO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600D3-6D4D-7B40-5ED9-7A6D09FA6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IE" sz="3200" dirty="0"/>
              <a:t>DAO </a:t>
            </a:r>
            <a:r>
              <a:rPr lang="en-IE" sz="3200" dirty="0">
                <a:solidFill>
                  <a:srgbClr val="FF0000"/>
                </a:solidFill>
              </a:rPr>
              <a:t>interface</a:t>
            </a:r>
            <a:r>
              <a:rPr lang="en-IE" sz="3200" dirty="0"/>
              <a:t> – blueprint of standard behaviour for the data access object.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DAO </a:t>
            </a:r>
            <a:r>
              <a:rPr lang="en-IE" sz="3200" dirty="0">
                <a:solidFill>
                  <a:srgbClr val="FF0000"/>
                </a:solidFill>
              </a:rPr>
              <a:t>implementation</a:t>
            </a:r>
            <a:r>
              <a:rPr lang="en-IE" sz="3200" dirty="0"/>
              <a:t> – implementation of the operations listed in the interface</a:t>
            </a:r>
          </a:p>
          <a:p>
            <a:pPr lvl="2"/>
            <a:r>
              <a:rPr lang="en-IE" sz="2800" dirty="0"/>
              <a:t>There can be many of these for a single data type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 </a:t>
            </a:r>
            <a:r>
              <a:rPr lang="en-IE" sz="3200" dirty="0">
                <a:solidFill>
                  <a:srgbClr val="FF0000"/>
                </a:solidFill>
              </a:rPr>
              <a:t>DTO</a:t>
            </a:r>
            <a:r>
              <a:rPr lang="en-IE" sz="3200" dirty="0"/>
              <a:t> – data </a:t>
            </a:r>
            <a:r>
              <a:rPr lang="en-IE" sz="3200" i="1" dirty="0"/>
              <a:t>transfer</a:t>
            </a:r>
            <a:r>
              <a:rPr lang="en-IE" sz="3200" dirty="0"/>
              <a:t> object</a:t>
            </a:r>
          </a:p>
          <a:p>
            <a:pPr lvl="2"/>
            <a:r>
              <a:rPr lang="en-IE" sz="2800" dirty="0"/>
              <a:t>Stores data as it is transferred to/from the database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87108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9735-B464-261B-4760-9A2E13D6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Does the DAO Pattern Work?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67DA312-FFF3-BEE8-699D-5A00F9A7E6E0}"/>
              </a:ext>
            </a:extLst>
          </p:cNvPr>
          <p:cNvGrpSpPr/>
          <p:nvPr/>
        </p:nvGrpSpPr>
        <p:grpSpPr>
          <a:xfrm>
            <a:off x="1931760" y="1839816"/>
            <a:ext cx="9533878" cy="4302720"/>
            <a:chOff x="719064" y="1834066"/>
            <a:chExt cx="9533878" cy="430272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7A23986-D213-9067-A1D4-71C7AFDDFD69}"/>
                </a:ext>
              </a:extLst>
            </p:cNvPr>
            <p:cNvSpPr/>
            <p:nvPr/>
          </p:nvSpPr>
          <p:spPr>
            <a:xfrm>
              <a:off x="5725956" y="1834066"/>
              <a:ext cx="2806484" cy="122413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</a:rPr>
                <a:t>Interface lists/states required methods in all </a:t>
              </a:r>
              <a:r>
                <a:rPr lang="en-IE" dirty="0" err="1">
                  <a:solidFill>
                    <a:schemeClr val="tx1"/>
                  </a:solidFill>
                </a:rPr>
                <a:t>CustomerDAO</a:t>
              </a:r>
              <a:r>
                <a:rPr lang="en-IE" dirty="0">
                  <a:solidFill>
                    <a:schemeClr val="tx1"/>
                  </a:solidFill>
                </a:rPr>
                <a:t> objects</a:t>
              </a: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77C9595-3524-B7CC-8509-33ED0B7277B6}"/>
                </a:ext>
              </a:extLst>
            </p:cNvPr>
            <p:cNvGrpSpPr/>
            <p:nvPr/>
          </p:nvGrpSpPr>
          <p:grpSpPr>
            <a:xfrm>
              <a:off x="719064" y="1920893"/>
              <a:ext cx="9533878" cy="4215893"/>
              <a:chOff x="719064" y="1920893"/>
              <a:chExt cx="9533878" cy="4215893"/>
            </a:xfrm>
          </p:grpSpPr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D99C89B-EB15-DBF2-5701-885A2005C2BB}"/>
                  </a:ext>
                </a:extLst>
              </p:cNvPr>
              <p:cNvCxnSpPr>
                <a:cxnSpLocks/>
                <a:stCxn id="94" idx="0"/>
                <a:endCxn id="86" idx="1"/>
              </p:cNvCxnSpPr>
              <p:nvPr/>
            </p:nvCxnSpPr>
            <p:spPr>
              <a:xfrm flipV="1">
                <a:off x="1406213" y="2509877"/>
                <a:ext cx="948918" cy="124341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F89C28A3-4F96-81C0-2C5F-35DADA222DCA}"/>
                  </a:ext>
                </a:extLst>
              </p:cNvPr>
              <p:cNvGrpSpPr/>
              <p:nvPr/>
            </p:nvGrpSpPr>
            <p:grpSpPr>
              <a:xfrm>
                <a:off x="719064" y="1920893"/>
                <a:ext cx="9533878" cy="4215893"/>
                <a:chOff x="719064" y="1920893"/>
                <a:chExt cx="9533878" cy="4215893"/>
              </a:xfrm>
            </p:grpSpPr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15981A16-5B15-3A59-31C7-527A719FB524}"/>
                    </a:ext>
                  </a:extLst>
                </p:cNvPr>
                <p:cNvGrpSpPr/>
                <p:nvPr/>
              </p:nvGrpSpPr>
              <p:grpSpPr>
                <a:xfrm>
                  <a:off x="719064" y="1920893"/>
                  <a:ext cx="9533878" cy="4215893"/>
                  <a:chOff x="323528" y="1700808"/>
                  <a:chExt cx="10490330" cy="4638838"/>
                </a:xfrm>
              </p:grpSpPr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00AF4BA9-BD4A-3541-E3FD-89490FF79A5E}"/>
                      </a:ext>
                    </a:extLst>
                  </p:cNvPr>
                  <p:cNvSpPr txBox="1"/>
                  <p:nvPr/>
                </p:nvSpPr>
                <p:spPr>
                  <a:xfrm>
                    <a:off x="6310326" y="4477052"/>
                    <a:ext cx="4503532" cy="18625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342900" indent="-342900"/>
                    <a:r>
                      <a:rPr lang="en-IE" sz="1900" b="1" u="sng" dirty="0"/>
                      <a:t>SEQUENCE OF EVENTS</a:t>
                    </a:r>
                  </a:p>
                  <a:p>
                    <a:pPr marL="342900" indent="-342900">
                      <a:buFont typeface="+mj-lt"/>
                      <a:buAutoNum type="arabicPeriod"/>
                    </a:pPr>
                    <a:r>
                      <a:rPr lang="en-IE" sz="1700" dirty="0"/>
                      <a:t>Client code creates DAO object &amp; runs DAO method.</a:t>
                    </a:r>
                  </a:p>
                  <a:p>
                    <a:pPr marL="342900" indent="-342900">
                      <a:buFont typeface="+mj-lt"/>
                      <a:buAutoNum type="arabicPeriod"/>
                    </a:pPr>
                    <a:r>
                      <a:rPr lang="en-IE" sz="1700" dirty="0"/>
                      <a:t>DAO queries DB &amp; makes Customer object(s) based on results</a:t>
                    </a:r>
                  </a:p>
                  <a:p>
                    <a:pPr marL="342900" indent="-342900">
                      <a:buFont typeface="+mj-lt"/>
                      <a:buAutoNum type="arabicPeriod"/>
                    </a:pPr>
                    <a:r>
                      <a:rPr lang="en-IE" sz="1700" dirty="0"/>
                      <a:t>DAO returns Customer(s) to client code.</a:t>
                    </a:r>
                  </a:p>
                </p:txBody>
              </p:sp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83B0CAB0-2922-C558-8D9C-5A13FBB0DF0B}"/>
                      </a:ext>
                    </a:extLst>
                  </p:cNvPr>
                  <p:cNvGrpSpPr/>
                  <p:nvPr/>
                </p:nvGrpSpPr>
                <p:grpSpPr>
                  <a:xfrm>
                    <a:off x="323528" y="1700808"/>
                    <a:ext cx="4752528" cy="4536504"/>
                    <a:chOff x="323528" y="1700808"/>
                    <a:chExt cx="4752528" cy="4536504"/>
                  </a:xfrm>
                </p:grpSpPr>
                <p:pic>
                  <p:nvPicPr>
                    <p:cNvPr id="73" name="Picture 2">
                      <a:extLst>
                        <a:ext uri="{FF2B5EF4-FFF2-40B4-BE49-F238E27FC236}">
                          <a16:creationId xmlns:a16="http://schemas.microsoft.com/office/drawing/2014/main" id="{49ED1BDA-11BC-4ADD-3A4B-CE051A7D75A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3563888" y="2996952"/>
                      <a:ext cx="288032" cy="504056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</p:pic>
                <p:grpSp>
                  <p:nvGrpSpPr>
                    <p:cNvPr id="74" name="Group 73">
                      <a:extLst>
                        <a:ext uri="{FF2B5EF4-FFF2-40B4-BE49-F238E27FC236}">
                          <a16:creationId xmlns:a16="http://schemas.microsoft.com/office/drawing/2014/main" id="{A21F8096-4DB7-B29F-82D1-8EBDCD6579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3528" y="1700808"/>
                      <a:ext cx="4752528" cy="4536504"/>
                      <a:chOff x="251520" y="1700808"/>
                      <a:chExt cx="4752528" cy="4536504"/>
                    </a:xfrm>
                  </p:grpSpPr>
                  <p:grpSp>
                    <p:nvGrpSpPr>
                      <p:cNvPr id="75" name="Group 74">
                        <a:extLst>
                          <a:ext uri="{FF2B5EF4-FFF2-40B4-BE49-F238E27FC236}">
                            <a16:creationId xmlns:a16="http://schemas.microsoft.com/office/drawing/2014/main" id="{E9E5048D-3988-0224-B2A7-A98D70996DB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51520" y="3717032"/>
                        <a:ext cx="1512168" cy="1008112"/>
                        <a:chOff x="611560" y="5454516"/>
                        <a:chExt cx="1728192" cy="1008112"/>
                      </a:xfrm>
                    </p:grpSpPr>
                    <p:sp>
                      <p:nvSpPr>
                        <p:cNvPr id="93" name="Rectangle 92">
                          <a:extLst>
                            <a:ext uri="{FF2B5EF4-FFF2-40B4-BE49-F238E27FC236}">
                              <a16:creationId xmlns:a16="http://schemas.microsoft.com/office/drawing/2014/main" id="{0C012E91-5F27-49A5-ACA7-9251A2417E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1560" y="5454516"/>
                          <a:ext cx="1728192" cy="1008112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E" dirty="0"/>
                        </a:p>
                      </p:txBody>
                    </p:sp>
                    <p:sp>
                      <p:nvSpPr>
                        <p:cNvPr id="94" name="Rectangle 93">
                          <a:extLst>
                            <a:ext uri="{FF2B5EF4-FFF2-40B4-BE49-F238E27FC236}">
                              <a16:creationId xmlns:a16="http://schemas.microsoft.com/office/drawing/2014/main" id="{FDA7FA6E-6766-DCFC-A863-F3181D9E239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1560" y="5454516"/>
                          <a:ext cx="1728192" cy="360040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IE" b="1" dirty="0">
                              <a:solidFill>
                                <a:schemeClr val="tx1"/>
                              </a:solidFill>
                            </a:rPr>
                            <a:t>Client</a:t>
                          </a:r>
                        </a:p>
                      </p:txBody>
                    </p:sp>
                    <p:cxnSp>
                      <p:nvCxnSpPr>
                        <p:cNvPr id="95" name="Straight Connector 94">
                          <a:extLst>
                            <a:ext uri="{FF2B5EF4-FFF2-40B4-BE49-F238E27FC236}">
                              <a16:creationId xmlns:a16="http://schemas.microsoft.com/office/drawing/2014/main" id="{5ADB3ADA-F2A7-AD92-42B7-90BEE19B617E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611560" y="6030580"/>
                          <a:ext cx="1728192" cy="0"/>
                        </a:xfrm>
                        <a:prstGeom prst="line">
                          <a:avLst/>
                        </a:prstGeom>
                        <a:ln w="254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76" name="TextBox 75">
                        <a:extLst>
                          <a:ext uri="{FF2B5EF4-FFF2-40B4-BE49-F238E27FC236}">
                            <a16:creationId xmlns:a16="http://schemas.microsoft.com/office/drawing/2014/main" id="{9CC112E2-75DD-6A31-951B-3CB40967477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85394" y="2674077"/>
                        <a:ext cx="702436" cy="43088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IE" sz="2200" b="1" dirty="0">
                            <a:solidFill>
                              <a:srgbClr val="2B53FF"/>
                            </a:solidFill>
                          </a:rPr>
                          <a:t>uses</a:t>
                        </a:r>
                      </a:p>
                    </p:txBody>
                  </p:sp>
                  <p:grpSp>
                    <p:nvGrpSpPr>
                      <p:cNvPr id="77" name="Group 76">
                        <a:extLst>
                          <a:ext uri="{FF2B5EF4-FFF2-40B4-BE49-F238E27FC236}">
                            <a16:creationId xmlns:a16="http://schemas.microsoft.com/office/drawing/2014/main" id="{B0FAAF0C-8B16-F5B2-717C-C71239C90A1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5816" y="5229200"/>
                        <a:ext cx="1656184" cy="1008112"/>
                        <a:chOff x="85587" y="5013176"/>
                        <a:chExt cx="1728192" cy="1008112"/>
                      </a:xfrm>
                    </p:grpSpPr>
                    <p:sp>
                      <p:nvSpPr>
                        <p:cNvPr id="90" name="Rectangle 89">
                          <a:extLst>
                            <a:ext uri="{FF2B5EF4-FFF2-40B4-BE49-F238E27FC236}">
                              <a16:creationId xmlns:a16="http://schemas.microsoft.com/office/drawing/2014/main" id="{345983DE-F3F1-5AAB-302C-BCCDC667379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587" y="5013176"/>
                          <a:ext cx="1728192" cy="1008112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E" dirty="0"/>
                        </a:p>
                      </p:txBody>
                    </p:sp>
                    <p:sp>
                      <p:nvSpPr>
                        <p:cNvPr id="91" name="Rectangle 90">
                          <a:extLst>
                            <a:ext uri="{FF2B5EF4-FFF2-40B4-BE49-F238E27FC236}">
                              <a16:creationId xmlns:a16="http://schemas.microsoft.com/office/drawing/2014/main" id="{AA741566-AFC1-C7E0-BB80-1F2F2B391B9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587" y="5013176"/>
                          <a:ext cx="1728192" cy="360040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IE" b="1" dirty="0">
                              <a:solidFill>
                                <a:schemeClr val="tx1"/>
                              </a:solidFill>
                            </a:rPr>
                            <a:t>Customer</a:t>
                          </a:r>
                        </a:p>
                      </p:txBody>
                    </p:sp>
                    <p:cxnSp>
                      <p:nvCxnSpPr>
                        <p:cNvPr id="92" name="Straight Connector 91">
                          <a:extLst>
                            <a:ext uri="{FF2B5EF4-FFF2-40B4-BE49-F238E27FC236}">
                              <a16:creationId xmlns:a16="http://schemas.microsoft.com/office/drawing/2014/main" id="{A5457204-6208-0358-2BD3-205281288F71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85587" y="5589240"/>
                          <a:ext cx="1728192" cy="0"/>
                        </a:xfrm>
                        <a:prstGeom prst="line">
                          <a:avLst/>
                        </a:prstGeom>
                        <a:ln w="254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78" name="Straight Arrow Connector 77">
                        <a:extLst>
                          <a:ext uri="{FF2B5EF4-FFF2-40B4-BE49-F238E27FC236}">
                            <a16:creationId xmlns:a16="http://schemas.microsoft.com/office/drawing/2014/main" id="{4357AC8A-F208-676C-F953-DEC26B494DE3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3779912" y="4725144"/>
                        <a:ext cx="0" cy="504056"/>
                      </a:xfrm>
                      <a:prstGeom prst="straightConnector1">
                        <a:avLst/>
                      </a:prstGeom>
                      <a:ln w="25400">
                        <a:solidFill>
                          <a:schemeClr val="tx1"/>
                        </a:solidFill>
                        <a:prstDash val="dash"/>
                        <a:tailEnd type="arrow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9" name="Straight Arrow Connector 78">
                        <a:extLst>
                          <a:ext uri="{FF2B5EF4-FFF2-40B4-BE49-F238E27FC236}">
                            <a16:creationId xmlns:a16="http://schemas.microsoft.com/office/drawing/2014/main" id="{542C8B60-752F-CA1A-C623-D765647B9195}"/>
                          </a:ext>
                        </a:extLst>
                      </p:cNvPr>
                      <p:cNvCxnSpPr>
                        <a:stCxn id="93" idx="2"/>
                      </p:cNvCxnSpPr>
                      <p:nvPr/>
                    </p:nvCxnSpPr>
                    <p:spPr>
                      <a:xfrm>
                        <a:off x="1007604" y="4725144"/>
                        <a:ext cx="1908212" cy="1224136"/>
                      </a:xfrm>
                      <a:prstGeom prst="straightConnector1">
                        <a:avLst/>
                      </a:prstGeom>
                      <a:ln w="25400">
                        <a:solidFill>
                          <a:schemeClr val="tx1"/>
                        </a:solidFill>
                        <a:prstDash val="dash"/>
                        <a:tailEnd type="arrow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0" name="TextBox 79">
                        <a:extLst>
                          <a:ext uri="{FF2B5EF4-FFF2-40B4-BE49-F238E27FC236}">
                            <a16:creationId xmlns:a16="http://schemas.microsoft.com/office/drawing/2014/main" id="{CD8046DD-C261-A20B-5653-0FEF2FB29F6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39552" y="5085184"/>
                        <a:ext cx="1368152" cy="6463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E" b="1" dirty="0"/>
                          <a:t>obtains/</a:t>
                        </a:r>
                      </a:p>
                      <a:p>
                        <a:r>
                          <a:rPr lang="en-IE" b="1" dirty="0"/>
                          <a:t>modifies</a:t>
                        </a:r>
                      </a:p>
                    </p:txBody>
                  </p:sp>
                  <p:sp>
                    <p:nvSpPr>
                      <p:cNvPr id="81" name="TextBox 80">
                        <a:extLst>
                          <a:ext uri="{FF2B5EF4-FFF2-40B4-BE49-F238E27FC236}">
                            <a16:creationId xmlns:a16="http://schemas.microsoft.com/office/drawing/2014/main" id="{B2621ECB-6327-9C13-B842-8811FB9ED87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051720" y="4797152"/>
                        <a:ext cx="180020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E" b="1" dirty="0"/>
                          <a:t>creates/uses</a:t>
                        </a:r>
                      </a:p>
                    </p:txBody>
                  </p:sp>
                  <p:grpSp>
                    <p:nvGrpSpPr>
                      <p:cNvPr id="82" name="Group 81">
                        <a:extLst>
                          <a:ext uri="{FF2B5EF4-FFF2-40B4-BE49-F238E27FC236}">
                            <a16:creationId xmlns:a16="http://schemas.microsoft.com/office/drawing/2014/main" id="{E07235F8-E5CF-5D85-C90A-7355CC80356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27784" y="3501008"/>
                        <a:ext cx="2232248" cy="1224136"/>
                        <a:chOff x="424728" y="5238492"/>
                        <a:chExt cx="1447944" cy="1224136"/>
                      </a:xfrm>
                    </p:grpSpPr>
                    <p:sp>
                      <p:nvSpPr>
                        <p:cNvPr id="87" name="Rectangle 86">
                          <a:extLst>
                            <a:ext uri="{FF2B5EF4-FFF2-40B4-BE49-F238E27FC236}">
                              <a16:creationId xmlns:a16="http://schemas.microsoft.com/office/drawing/2014/main" id="{6181CA6E-17FF-1FFA-61D4-5922806BB35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4728" y="5238492"/>
                          <a:ext cx="1447944" cy="1224136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E" dirty="0"/>
                        </a:p>
                      </p:txBody>
                    </p:sp>
                    <p:cxnSp>
                      <p:nvCxnSpPr>
                        <p:cNvPr id="88" name="Straight Connector 87">
                          <a:extLst>
                            <a:ext uri="{FF2B5EF4-FFF2-40B4-BE49-F238E27FC236}">
                              <a16:creationId xmlns:a16="http://schemas.microsoft.com/office/drawing/2014/main" id="{E1A9A57D-9B71-B087-D93F-C8ABB91A9EC8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424728" y="6030580"/>
                          <a:ext cx="1447944" cy="0"/>
                        </a:xfrm>
                        <a:prstGeom prst="line">
                          <a:avLst/>
                        </a:prstGeom>
                        <a:ln w="254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89" name="Rectangle 88">
                          <a:extLst>
                            <a:ext uri="{FF2B5EF4-FFF2-40B4-BE49-F238E27FC236}">
                              <a16:creationId xmlns:a16="http://schemas.microsoft.com/office/drawing/2014/main" id="{174066F9-25F5-5D4D-5137-20D538A9341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4728" y="5238492"/>
                          <a:ext cx="1447944" cy="57606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IE" sz="1700" b="1" dirty="0" err="1">
                              <a:solidFill>
                                <a:schemeClr val="tx1"/>
                              </a:solidFill>
                            </a:rPr>
                            <a:t>CustomerDaoImpl</a:t>
                          </a:r>
                          <a:endParaRPr lang="en-IE" sz="1700" b="1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83" name="Group 82">
                        <a:extLst>
                          <a:ext uri="{FF2B5EF4-FFF2-40B4-BE49-F238E27FC236}">
                            <a16:creationId xmlns:a16="http://schemas.microsoft.com/office/drawing/2014/main" id="{D0379BE9-E74D-B12A-7B61-D32E3492969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51720" y="1700808"/>
                        <a:ext cx="2952328" cy="1296144"/>
                        <a:chOff x="-816078" y="5157192"/>
                        <a:chExt cx="3080690" cy="1296144"/>
                      </a:xfrm>
                    </p:grpSpPr>
                    <p:sp>
                      <p:nvSpPr>
                        <p:cNvPr id="84" name="Rectangle 83">
                          <a:extLst>
                            <a:ext uri="{FF2B5EF4-FFF2-40B4-BE49-F238E27FC236}">
                              <a16:creationId xmlns:a16="http://schemas.microsoft.com/office/drawing/2014/main" id="{90C2A63B-C135-2A6D-703C-2207B721EDE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-816078" y="5157192"/>
                          <a:ext cx="3080690" cy="648072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IE" sz="1600" b="1" dirty="0">
                              <a:solidFill>
                                <a:schemeClr val="tx1"/>
                              </a:solidFill>
                            </a:rPr>
                            <a:t>&lt;&lt;interface&gt;&gt;</a:t>
                          </a:r>
                        </a:p>
                        <a:p>
                          <a:pPr algn="ctr"/>
                          <a:r>
                            <a:rPr lang="en-IE" sz="1600" b="1" dirty="0" err="1">
                              <a:solidFill>
                                <a:schemeClr val="tx1"/>
                              </a:solidFill>
                            </a:rPr>
                            <a:t>CustomerDAO</a:t>
                          </a:r>
                          <a:endParaRPr lang="en-IE" sz="1600" b="1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cxnSp>
                      <p:nvCxnSpPr>
                        <p:cNvPr id="85" name="Straight Connector 84">
                          <a:extLst>
                            <a:ext uri="{FF2B5EF4-FFF2-40B4-BE49-F238E27FC236}">
                              <a16:creationId xmlns:a16="http://schemas.microsoft.com/office/drawing/2014/main" id="{23C3FE36-AE34-61B8-6B76-54E61DAD6DE7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-816078" y="6021288"/>
                          <a:ext cx="3080690" cy="0"/>
                        </a:xfrm>
                        <a:prstGeom prst="line">
                          <a:avLst/>
                        </a:prstGeom>
                        <a:ln w="254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86" name="Rectangle 85">
                          <a:extLst>
                            <a:ext uri="{FF2B5EF4-FFF2-40B4-BE49-F238E27FC236}">
                              <a16:creationId xmlns:a16="http://schemas.microsoft.com/office/drawing/2014/main" id="{1A90FF84-E4E2-AA91-2F5B-D9EAB8169D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-816078" y="5157192"/>
                          <a:ext cx="3080690" cy="129614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E" dirty="0"/>
                        </a:p>
                      </p:txBody>
                    </p:sp>
                  </p:grpSp>
                </p:grpSp>
              </p:grpSp>
            </p:grp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BBD58D0F-58F3-8211-E458-8072FB602CF3}"/>
                    </a:ext>
                  </a:extLst>
                </p:cNvPr>
                <p:cNvSpPr txBox="1"/>
                <p:nvPr/>
              </p:nvSpPr>
              <p:spPr>
                <a:xfrm>
                  <a:off x="3925756" y="3154907"/>
                  <a:ext cx="18002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ga-IE" b="1" dirty="0"/>
                    <a:t>implements</a:t>
                  </a:r>
                  <a:endParaRPr lang="en-IE" b="1" dirty="0"/>
                </a:p>
              </p:txBody>
            </p:sp>
          </p:grpSp>
        </p:grpSp>
        <p:sp>
          <p:nvSpPr>
            <p:cNvPr id="65" name="Flowchart: Magnetic Disk 64">
              <a:extLst>
                <a:ext uri="{FF2B5EF4-FFF2-40B4-BE49-F238E27FC236}">
                  <a16:creationId xmlns:a16="http://schemas.microsoft.com/office/drawing/2014/main" id="{EDE6BD5C-DC38-6CAF-20FB-53ED6F40EE9F}"/>
                </a:ext>
              </a:extLst>
            </p:cNvPr>
            <p:cNvSpPr/>
            <p:nvPr/>
          </p:nvSpPr>
          <p:spPr>
            <a:xfrm>
              <a:off x="6832258" y="3284984"/>
              <a:ext cx="980101" cy="96234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Database</a:t>
              </a:r>
              <a:endParaRPr lang="en-IE" sz="1600" dirty="0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1F37F3B-567D-B0BE-E29C-6DA452E45BC8}"/>
                </a:ext>
              </a:extLst>
            </p:cNvPr>
            <p:cNvCxnSpPr>
              <a:stCxn id="89" idx="3"/>
              <a:endCxn id="65" idx="2"/>
            </p:cNvCxnSpPr>
            <p:nvPr/>
          </p:nvCxnSpPr>
          <p:spPr>
            <a:xfrm flipV="1">
              <a:off x="4907397" y="3766155"/>
              <a:ext cx="1924861" cy="52576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0109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C0246-14F6-0748-A3B1-42787578D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DAO Pattern in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2D0990-89F6-7638-8EF8-467BA4D99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5734"/>
            <a:ext cx="5532408" cy="12803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A79759-BAB7-6D25-2870-AC4E05BD3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380" y="2974724"/>
            <a:ext cx="4574300" cy="32913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40F119-4F17-F2AA-0579-1AE06CC2577B}"/>
              </a:ext>
            </a:extLst>
          </p:cNvPr>
          <p:cNvSpPr txBox="1"/>
          <p:nvPr/>
        </p:nvSpPr>
        <p:spPr>
          <a:xfrm>
            <a:off x="2495910" y="3269946"/>
            <a:ext cx="2587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The interface defines the abilities of the DAO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0D938C-BD55-59D9-CA64-B7A1C8132E33}"/>
              </a:ext>
            </a:extLst>
          </p:cNvPr>
          <p:cNvCxnSpPr>
            <a:stCxn id="11" idx="0"/>
          </p:cNvCxnSpPr>
          <p:nvPr/>
        </p:nvCxnSpPr>
        <p:spPr>
          <a:xfrm flipH="1" flipV="1">
            <a:off x="3784121" y="2974724"/>
            <a:ext cx="5752" cy="295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5133AB4-0199-FDC5-0A6A-5DBC6A3E3F9E}"/>
              </a:ext>
            </a:extLst>
          </p:cNvPr>
          <p:cNvSpPr txBox="1"/>
          <p:nvPr/>
        </p:nvSpPr>
        <p:spPr>
          <a:xfrm>
            <a:off x="2495910" y="4550270"/>
            <a:ext cx="28927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The implementation  defines how each version of that DAO will provide those abilities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B47777-0A3A-3E7A-79DB-BCE81E062C2E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5388634" y="4612257"/>
            <a:ext cx="983412" cy="538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902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299D0-0B98-DE34-7D18-8687E82C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Drawbacks of the DAO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1412A-E9CF-1085-9659-3540F4790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Increased </a:t>
            </a:r>
            <a:r>
              <a:rPr lang="en-IE" sz="3200" dirty="0">
                <a:solidFill>
                  <a:srgbClr val="FF0000"/>
                </a:solidFill>
              </a:rPr>
              <a:t>complexity</a:t>
            </a:r>
            <a:r>
              <a:rPr lang="en-IE" sz="3200" dirty="0"/>
              <a:t>: Adding layers to the codebase means the code has to follow specific rules and structures</a:t>
            </a:r>
          </a:p>
          <a:p>
            <a:pPr lvl="2"/>
            <a:r>
              <a:rPr lang="en-IE" sz="2800" dirty="0"/>
              <a:t>Can’t freeform the approach as much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Potential </a:t>
            </a:r>
            <a:r>
              <a:rPr lang="en-IE" sz="3200" dirty="0">
                <a:solidFill>
                  <a:srgbClr val="FF0000"/>
                </a:solidFill>
              </a:rPr>
              <a:t>increase</a:t>
            </a:r>
            <a:r>
              <a:rPr lang="en-IE" sz="3200" dirty="0"/>
              <a:t> </a:t>
            </a:r>
            <a:r>
              <a:rPr lang="en-IE" sz="3200" dirty="0">
                <a:solidFill>
                  <a:srgbClr val="FF0000"/>
                </a:solidFill>
              </a:rPr>
              <a:t>in</a:t>
            </a:r>
            <a:r>
              <a:rPr lang="en-IE" sz="3200" dirty="0"/>
              <a:t> </a:t>
            </a:r>
            <a:r>
              <a:rPr lang="en-IE" sz="3200" dirty="0">
                <a:solidFill>
                  <a:srgbClr val="FF0000"/>
                </a:solidFill>
              </a:rPr>
              <a:t>overheads</a:t>
            </a:r>
          </a:p>
          <a:p>
            <a:pPr lvl="2"/>
            <a:r>
              <a:rPr lang="en-IE" sz="2800" dirty="0"/>
              <a:t>Going through multiple layers of code to carry out an action means the action is carried out slower</a:t>
            </a:r>
          </a:p>
          <a:p>
            <a:pPr lvl="1"/>
            <a:endParaRPr lang="en-IE" sz="3200" dirty="0"/>
          </a:p>
          <a:p>
            <a:pPr lvl="1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3600028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929B5-9382-58ED-AFF4-CC9B27D3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Reducing Repetition in DAOs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95700-2E69-DF77-632D-7A385F2A5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231685"/>
          </a:xfrm>
        </p:spPr>
        <p:txBody>
          <a:bodyPr>
            <a:normAutofit fontScale="85000" lnSpcReduction="10000"/>
          </a:bodyPr>
          <a:lstStyle/>
          <a:p>
            <a:pPr lvl="1"/>
            <a:r>
              <a:rPr lang="en-IE" sz="3200" dirty="0"/>
              <a:t>Every implementation needs to generate database connections as part of their behaviour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>
                <a:solidFill>
                  <a:srgbClr val="FF0000"/>
                </a:solidFill>
              </a:rPr>
              <a:t>Reduce</a:t>
            </a:r>
            <a:r>
              <a:rPr lang="en-IE" sz="3200" dirty="0"/>
              <a:t> </a:t>
            </a:r>
            <a:r>
              <a:rPr lang="en-IE" sz="3200" dirty="0">
                <a:solidFill>
                  <a:srgbClr val="FF0000"/>
                </a:solidFill>
              </a:rPr>
              <a:t>repetition</a:t>
            </a:r>
            <a:r>
              <a:rPr lang="en-IE" sz="3200" dirty="0"/>
              <a:t>: Extract connection logic out into a separate class</a:t>
            </a:r>
          </a:p>
          <a:p>
            <a:pPr lvl="2"/>
            <a:r>
              <a:rPr lang="en-IE" sz="2800" dirty="0"/>
              <a:t>Put an interface on that class so that you can have different implementations for different situations!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EB6AA11-375B-6CF0-1F9C-E545779D78D9}"/>
              </a:ext>
            </a:extLst>
          </p:cNvPr>
          <p:cNvGrpSpPr/>
          <p:nvPr/>
        </p:nvGrpSpPr>
        <p:grpSpPr>
          <a:xfrm>
            <a:off x="2699982" y="4134929"/>
            <a:ext cx="6792036" cy="2076312"/>
            <a:chOff x="2699982" y="4077419"/>
            <a:chExt cx="6792036" cy="207631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E118CF0-D32F-420C-043B-19DC755DE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99982" y="4077419"/>
              <a:ext cx="6792036" cy="170698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434A52-C09C-6251-4AEA-F7B5FECF13D5}"/>
                </a:ext>
              </a:extLst>
            </p:cNvPr>
            <p:cNvSpPr txBox="1"/>
            <p:nvPr/>
          </p:nvSpPr>
          <p:spPr>
            <a:xfrm>
              <a:off x="5220268" y="5784399"/>
              <a:ext cx="639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dirty="0"/>
                <a:t>Etc…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8225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3CC7E-FA35-8591-874C-0D594D38F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Improving System Flexibility With Dependency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D8BD9-C0C8-F8F4-C613-61814067D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05260"/>
            <a:ext cx="10058400" cy="4192973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IE" sz="3200" dirty="0"/>
              <a:t>Dependency injection (DI): 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Storing</a:t>
            </a:r>
            <a:r>
              <a:rPr lang="en-IE" sz="2800" dirty="0"/>
              <a:t> a </a:t>
            </a:r>
            <a:r>
              <a:rPr lang="en-IE" sz="2800" dirty="0">
                <a:solidFill>
                  <a:srgbClr val="FF0000"/>
                </a:solidFill>
              </a:rPr>
              <a:t>dependency</a:t>
            </a:r>
            <a:r>
              <a:rPr lang="en-IE" sz="2800" dirty="0"/>
              <a:t> </a:t>
            </a:r>
            <a:r>
              <a:rPr lang="en-IE" sz="2800" dirty="0">
                <a:solidFill>
                  <a:srgbClr val="FF0000"/>
                </a:solidFill>
              </a:rPr>
              <a:t>object</a:t>
            </a:r>
            <a:r>
              <a:rPr lang="en-IE" sz="2800" dirty="0"/>
              <a:t> as an attribute of the class 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Taking</a:t>
            </a:r>
            <a:r>
              <a:rPr lang="en-IE" sz="2800" dirty="0"/>
              <a:t> that object in </a:t>
            </a:r>
            <a:r>
              <a:rPr lang="en-IE" sz="2800" dirty="0">
                <a:solidFill>
                  <a:srgbClr val="FF0000"/>
                </a:solidFill>
              </a:rPr>
              <a:t>as</a:t>
            </a:r>
            <a:r>
              <a:rPr lang="en-IE" sz="2800" dirty="0"/>
              <a:t> an </a:t>
            </a:r>
            <a:r>
              <a:rPr lang="en-IE" sz="2800" dirty="0">
                <a:solidFill>
                  <a:srgbClr val="FF0000"/>
                </a:solidFill>
              </a:rPr>
              <a:t>initial constructor</a:t>
            </a:r>
            <a:r>
              <a:rPr lang="en-IE" sz="2800" dirty="0"/>
              <a:t> </a:t>
            </a:r>
            <a:r>
              <a:rPr lang="en-IE" sz="2800" dirty="0">
                <a:solidFill>
                  <a:srgbClr val="FF0000"/>
                </a:solidFill>
              </a:rPr>
              <a:t>parameter</a:t>
            </a:r>
            <a:endParaRPr lang="en-IE" sz="2800" dirty="0"/>
          </a:p>
          <a:p>
            <a:pPr lvl="2"/>
            <a:endParaRPr lang="en-IE" sz="28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This replaces creating an instance directly within the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37984B-DD37-924D-8D8F-39F11782C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230" y="3078633"/>
            <a:ext cx="6337540" cy="1937280"/>
          </a:xfrm>
          <a:prstGeom prst="rect">
            <a:avLst/>
          </a:prstGeom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F1EFCDB7-2A6C-BCAE-BB08-29625BB68DD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929890" y="2352135"/>
            <a:ext cx="2334881" cy="1224951"/>
          </a:xfrm>
          <a:prstGeom prst="bentConnector3">
            <a:avLst>
              <a:gd name="adj1" fmla="val -187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F2F87BC-645C-95AA-A37D-7BA6A0F50D44}"/>
              </a:ext>
            </a:extLst>
          </p:cNvPr>
          <p:cNvGrpSpPr/>
          <p:nvPr/>
        </p:nvGrpSpPr>
        <p:grpSpPr>
          <a:xfrm>
            <a:off x="8827703" y="2754702"/>
            <a:ext cx="1431980" cy="1466491"/>
            <a:chOff x="8827703" y="2754702"/>
            <a:chExt cx="1431980" cy="1466491"/>
          </a:xfrm>
        </p:grpSpPr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8ED90CB0-896A-6616-25DA-10ADD477994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813324" y="2780585"/>
              <a:ext cx="1454987" cy="1426230"/>
            </a:xfrm>
            <a:prstGeom prst="bentConnector3">
              <a:avLst>
                <a:gd name="adj1" fmla="val 99407"/>
              </a:avLst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893D3CC-15F7-1A67-D7F8-95766F96F916}"/>
                </a:ext>
              </a:extLst>
            </p:cNvPr>
            <p:cNvCxnSpPr/>
            <p:nvPr/>
          </p:nvCxnSpPr>
          <p:spPr>
            <a:xfrm>
              <a:off x="9190008" y="2754702"/>
              <a:ext cx="1069675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236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32E3B8E-5E5E-BE32-E994-EBF9607CF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44" y="4233647"/>
            <a:ext cx="10367750" cy="1668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245BA-F421-ACA4-CA7E-76DD3F831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Injecting the 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6C421-A756-5FD1-2FBE-D914077E7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By using DI, we can set the connector version being used when we create the DAO</a:t>
            </a:r>
          </a:p>
          <a:p>
            <a:pPr lvl="2"/>
            <a:r>
              <a:rPr lang="en-IE" sz="2800" dirty="0"/>
              <a:t>Don’t need to change the DAO code itself to work with a different connection source, e.g. a different database or a mock database connection</a:t>
            </a:r>
          </a:p>
          <a:p>
            <a:pPr lvl="1"/>
            <a:endParaRPr lang="en-IE" sz="3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10A4CF-1FF1-79F9-ED55-94D4C5EA6E05}"/>
              </a:ext>
            </a:extLst>
          </p:cNvPr>
          <p:cNvGrpSpPr/>
          <p:nvPr/>
        </p:nvGrpSpPr>
        <p:grpSpPr>
          <a:xfrm>
            <a:off x="9983338" y="2386642"/>
            <a:ext cx="1386277" cy="2997400"/>
            <a:chOff x="9983338" y="2386642"/>
            <a:chExt cx="1386277" cy="299740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1BA6CCFD-8572-E669-F1AC-95D827D43FA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177331" y="3197506"/>
              <a:ext cx="2992543" cy="1380529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3FAF752-0917-8938-D278-67F161D9F53C}"/>
                </a:ext>
              </a:extLst>
            </p:cNvPr>
            <p:cNvCxnSpPr/>
            <p:nvPr/>
          </p:nvCxnSpPr>
          <p:spPr>
            <a:xfrm>
              <a:off x="10133162" y="2386642"/>
              <a:ext cx="123645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04410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156</TotalTime>
  <Words>719</Words>
  <Application>Microsoft Office PowerPoint</Application>
  <PresentationFormat>Widescreen</PresentationFormat>
  <Paragraphs>101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Calibri</vt:lpstr>
      <vt:lpstr>Calibri Light</vt:lpstr>
      <vt:lpstr>Retrospect</vt:lpstr>
      <vt:lpstr>The DAO Pattern</vt:lpstr>
      <vt:lpstr>A Note on Code Design</vt:lpstr>
      <vt:lpstr>Extracting Data Access: The Data Access Object (DAO) Pattern</vt:lpstr>
      <vt:lpstr>Why Use the DAO Pattern? Improve the Overall Design</vt:lpstr>
      <vt:lpstr>Why Use the DAO Pattern? Open Up the System’s Design</vt:lpstr>
      <vt:lpstr>Why Use the DAO Pattern? Design for Software Quality</vt:lpstr>
      <vt:lpstr>Key Components of the DAO Pattern</vt:lpstr>
      <vt:lpstr>How Does the DAO Pattern Work?</vt:lpstr>
      <vt:lpstr>The DAO Pattern in Code</vt:lpstr>
      <vt:lpstr>Drawbacks of the DAO Pattern</vt:lpstr>
      <vt:lpstr>Reducing Repetition in DAOs</vt:lpstr>
      <vt:lpstr>Improving System Flexibility With Dependency Injection</vt:lpstr>
      <vt:lpstr>Injecting the Dependency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Graham</dc:creator>
  <cp:lastModifiedBy>Michelle Graham</cp:lastModifiedBy>
  <cp:revision>4</cp:revision>
  <dcterms:created xsi:type="dcterms:W3CDTF">2024-09-16T20:32:25Z</dcterms:created>
  <dcterms:modified xsi:type="dcterms:W3CDTF">2025-09-30T13:23:47Z</dcterms:modified>
</cp:coreProperties>
</file>