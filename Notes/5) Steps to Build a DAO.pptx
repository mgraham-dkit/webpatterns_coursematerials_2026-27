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0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C03900-2B75-4ADE-BB1B-4017113DD6B6}">
          <p14:sldIdLst>
            <p14:sldId id="256"/>
          </p14:sldIdLst>
        </p14:section>
        <p14:section name="Modelling the Table - DTOs" id="{E66AD6DC-0A0C-4EBF-911D-3E8997E217F1}">
          <p14:sldIdLst>
            <p14:sldId id="257"/>
            <p14:sldId id="258"/>
            <p14:sldId id="259"/>
          </p14:sldIdLst>
        </p14:section>
        <p14:section name="Providing Connections - DI and Connectors" id="{A7B78314-C47C-4D56-8E74-FDDF8B2107F3}">
          <p14:sldIdLst>
            <p14:sldId id="260"/>
            <p14:sldId id="271"/>
            <p14:sldId id="270"/>
            <p14:sldId id="272"/>
          </p14:sldIdLst>
        </p14:section>
        <p14:section name="Implementing Abilities - DAO logic" id="{3B168B78-FC01-4401-94E3-BF749E297EAA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48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619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16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022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752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070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0034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693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380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554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923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6C5D1D4-9F75-46F1-B487-70B26148894A}" type="datetimeFigureOut">
              <a:rPr lang="en-IE" smtClean="0"/>
              <a:t>30/09/2025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2C05841-B6C9-4904-9DD1-8B94F9EF73A2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49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2E33-C2EB-3E3C-99B7-309A5C085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Building a Dao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31D90-8557-D660-0466-FA921D352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Constructing Persistence Classes</a:t>
            </a:r>
          </a:p>
        </p:txBody>
      </p:sp>
    </p:spTree>
    <p:extLst>
      <p:ext uri="{BB962C8B-B14F-4D97-AF65-F5344CB8AC3E}">
        <p14:creationId xmlns:p14="http://schemas.microsoft.com/office/powerpoint/2010/main" val="22221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A01E-23F7-3EC6-8447-502C96F2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1) Model Your Table as a DTO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F6FDA-060E-8902-E5D0-5820A02B5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sz="3200" dirty="0"/>
              <a:t>A DAO relies on one thing – its corresponding DTO</a:t>
            </a:r>
          </a:p>
          <a:p>
            <a:pPr lvl="1"/>
            <a:r>
              <a:rPr lang="en-US" sz="3200" dirty="0"/>
              <a:t>DTO stores information from a table</a:t>
            </a:r>
          </a:p>
          <a:p>
            <a:pPr lvl="2"/>
            <a:r>
              <a:rPr lang="en-US" sz="2800" dirty="0"/>
              <a:t>It has a variable for each field in the table</a:t>
            </a:r>
          </a:p>
          <a:p>
            <a:pPr lvl="2"/>
            <a:r>
              <a:rPr lang="en-US" sz="2800" dirty="0"/>
              <a:t>It has at least one constructor</a:t>
            </a:r>
          </a:p>
          <a:p>
            <a:pPr lvl="3"/>
            <a:r>
              <a:rPr lang="en-US" sz="2600" dirty="0"/>
              <a:t>Need to be able to make an instance of the DTO</a:t>
            </a:r>
          </a:p>
          <a:p>
            <a:pPr lvl="2"/>
            <a:r>
              <a:rPr lang="en-US" sz="2800" dirty="0"/>
              <a:t>It has getter methods for each variable (NO setter methods)</a:t>
            </a:r>
          </a:p>
          <a:p>
            <a:pPr lvl="2"/>
            <a:r>
              <a:rPr lang="en-US" sz="2800" dirty="0"/>
              <a:t>It has a </a:t>
            </a:r>
            <a:r>
              <a:rPr lang="en-US" sz="2800" dirty="0" err="1"/>
              <a:t>toString</a:t>
            </a:r>
            <a:r>
              <a:rPr lang="en-US" sz="2800" dirty="0"/>
              <a:t> method</a:t>
            </a:r>
          </a:p>
          <a:p>
            <a:pPr lvl="2"/>
            <a:r>
              <a:rPr lang="en-US" sz="2800" dirty="0"/>
              <a:t>It has an equals method </a:t>
            </a:r>
          </a:p>
          <a:p>
            <a:pPr lvl="3"/>
            <a:r>
              <a:rPr lang="en-US" sz="2600" dirty="0"/>
              <a:t>Need to be able to compare two DTO instances (e.g. two Movies)</a:t>
            </a:r>
          </a:p>
          <a:p>
            <a:pPr lvl="2"/>
            <a:r>
              <a:rPr lang="en-US" sz="2800" dirty="0"/>
              <a:t>It has a </a:t>
            </a:r>
            <a:r>
              <a:rPr lang="en-US" sz="2800" dirty="0" err="1"/>
              <a:t>hashCode</a:t>
            </a:r>
            <a:r>
              <a:rPr lang="en-US" sz="2800" dirty="0"/>
              <a:t> method</a:t>
            </a:r>
          </a:p>
          <a:p>
            <a:pPr lvl="3"/>
            <a:r>
              <a:rPr lang="en-US" sz="2600" dirty="0"/>
              <a:t>Whenever you provide an equals method, you should also provide the corresponding </a:t>
            </a:r>
            <a:r>
              <a:rPr lang="en-US" sz="2600" dirty="0" err="1"/>
              <a:t>hashCode</a:t>
            </a:r>
            <a:r>
              <a:rPr lang="en-US" sz="2600" dirty="0"/>
              <a:t> method</a:t>
            </a:r>
          </a:p>
          <a:p>
            <a:pPr lvl="1"/>
            <a:r>
              <a:rPr lang="en-US" sz="3200" dirty="0"/>
              <a:t>When writing DTO equals and </a:t>
            </a:r>
            <a:r>
              <a:rPr lang="en-US" sz="3200" dirty="0" err="1"/>
              <a:t>hashCode</a:t>
            </a:r>
            <a:r>
              <a:rPr lang="en-US" sz="3200" dirty="0"/>
              <a:t> methods, you should base the values used on the </a:t>
            </a:r>
            <a:r>
              <a:rPr lang="en-US" sz="3200" dirty="0">
                <a:solidFill>
                  <a:srgbClr val="FF0000"/>
                </a:solidFill>
              </a:rPr>
              <a:t>primary key</a:t>
            </a:r>
            <a:r>
              <a:rPr lang="en-US" sz="3200" dirty="0"/>
              <a:t> of the corresponding table</a:t>
            </a:r>
          </a:p>
        </p:txBody>
      </p:sp>
    </p:spTree>
    <p:extLst>
      <p:ext uri="{BB962C8B-B14F-4D97-AF65-F5344CB8AC3E}">
        <p14:creationId xmlns:p14="http://schemas.microsoft.com/office/powerpoint/2010/main" val="5642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D0C7-34AF-314F-15E9-6C7A84AE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BD302-C64B-1369-CED0-432495B97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0876" lvl="1" indent="0">
              <a:buNone/>
            </a:pPr>
            <a:r>
              <a:rPr lang="en-IE" sz="3200" dirty="0"/>
              <a:t>CREATE TABLE users(</a:t>
            </a:r>
          </a:p>
          <a:p>
            <a:pPr marL="425196" lvl="3" indent="0">
              <a:buNone/>
            </a:pPr>
            <a:r>
              <a:rPr lang="en-IE" sz="2400" dirty="0"/>
              <a:t>name varchar (20) NOT NULL,</a:t>
            </a:r>
          </a:p>
          <a:p>
            <a:pPr marL="425196" lvl="3" indent="0">
              <a:buNone/>
            </a:pPr>
            <a:r>
              <a:rPr lang="en-IE" sz="2400" dirty="0"/>
              <a:t>password varchar (256) NOT NULL,</a:t>
            </a:r>
          </a:p>
          <a:p>
            <a:pPr marL="425196" lvl="3" indent="0">
              <a:buNone/>
            </a:pPr>
            <a:r>
              <a:rPr lang="en-IE" sz="2400" dirty="0"/>
              <a:t>PRIMARY KEY(name, password)</a:t>
            </a:r>
          </a:p>
          <a:p>
            <a:pPr marL="150876" lvl="1" indent="0">
              <a:buNone/>
            </a:pPr>
            <a:r>
              <a:rPr lang="en-IE" sz="3200" dirty="0"/>
              <a:t>);</a:t>
            </a:r>
          </a:p>
          <a:p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01894-F12D-3AB5-3F03-BE93D89CAC12}"/>
              </a:ext>
            </a:extLst>
          </p:cNvPr>
          <p:cNvSpPr/>
          <p:nvPr/>
        </p:nvSpPr>
        <p:spPr>
          <a:xfrm>
            <a:off x="5927696" y="4137578"/>
            <a:ext cx="3307744" cy="11875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Table names are usually PLURAL as they store multiple records of the type of information they hold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35BF8F5-1F7C-E51A-8612-5B3BEB7451A6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5537530" y="2093540"/>
            <a:ext cx="2015769" cy="20723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90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1309-DF55-C0CD-3D6A-B62AF1CB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Example DTO – Modelling </a:t>
            </a:r>
            <a:r>
              <a:rPr lang="en-IE" dirty="0"/>
              <a:t>the</a:t>
            </a:r>
            <a:r>
              <a:rPr lang="ga-IE" dirty="0"/>
              <a:t> User Table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206C4-5576-1F62-6866-6A8E3AA0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024" y="1845734"/>
            <a:ext cx="6796964" cy="47549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325026-4FE8-2C19-F928-D2A1143CE7C2}"/>
              </a:ext>
            </a:extLst>
          </p:cNvPr>
          <p:cNvSpPr/>
          <p:nvPr/>
        </p:nvSpPr>
        <p:spPr>
          <a:xfrm>
            <a:off x="6453528" y="2241416"/>
            <a:ext cx="3451760" cy="11875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DTO names are usually SINGULAR, as they store a single record of the type of information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0F6918E-7C86-D4E8-4DF4-EDBBE65D6724}"/>
              </a:ext>
            </a:extLst>
          </p:cNvPr>
          <p:cNvCxnSpPr>
            <a:cxnSpLocks/>
            <a:stCxn id="5" idx="0"/>
          </p:cNvCxnSpPr>
          <p:nvPr/>
        </p:nvCxnSpPr>
        <p:spPr>
          <a:xfrm rot="16200000" flipV="1">
            <a:off x="5674470" y="-263523"/>
            <a:ext cx="331673" cy="4678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9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01DA-9472-0B76-97A1-00534437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2) Provide Connections:</a:t>
            </a:r>
            <a:br>
              <a:rPr lang="en-IE" dirty="0"/>
            </a:br>
            <a:r>
              <a:rPr lang="en-IE" dirty="0"/>
              <a:t>Make a Connection Object&amp; Inject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BCDFA-1701-08F6-D5BF-224C1DB03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ga-IE" sz="2400" dirty="0"/>
              <a:t>DAOs access your database. To do this, they need to be able to connect.</a:t>
            </a:r>
          </a:p>
          <a:p>
            <a:pPr lvl="2"/>
            <a:r>
              <a:rPr lang="ga-IE" sz="1800" dirty="0"/>
              <a:t>Need a way to open a connection to the database</a:t>
            </a:r>
          </a:p>
          <a:p>
            <a:pPr lvl="2"/>
            <a:r>
              <a:rPr lang="ga-IE" sz="1800" dirty="0"/>
              <a:t>Need a way to close a connection to the database</a:t>
            </a:r>
          </a:p>
          <a:p>
            <a:pPr lvl="2"/>
            <a:endParaRPr lang="ga-IE" sz="1700" dirty="0"/>
          </a:p>
          <a:p>
            <a:pPr lvl="1"/>
            <a:r>
              <a:rPr lang="en-IE" sz="2400" dirty="0"/>
              <a:t>Connection</a:t>
            </a:r>
            <a:r>
              <a:rPr lang="ga-IE" sz="2400" dirty="0"/>
              <a:t> class should have methods to do these things:</a:t>
            </a:r>
          </a:p>
          <a:p>
            <a:pPr lvl="2"/>
            <a:r>
              <a:rPr lang="ga-IE" sz="1800" dirty="0"/>
              <a:t>getConnection() - this should </a:t>
            </a:r>
            <a:r>
              <a:rPr lang="ga-IE" sz="1800" dirty="0">
                <a:solidFill>
                  <a:srgbClr val="FF0000"/>
                </a:solidFill>
              </a:rPr>
              <a:t>get</a:t>
            </a:r>
            <a:r>
              <a:rPr lang="ga-IE" sz="1800" dirty="0"/>
              <a:t> a connection to the database</a:t>
            </a:r>
          </a:p>
          <a:p>
            <a:pPr lvl="2"/>
            <a:r>
              <a:rPr lang="ga-IE" sz="1800" dirty="0"/>
              <a:t>freeConnection() – this should </a:t>
            </a:r>
            <a:r>
              <a:rPr lang="ga-IE" sz="1800" dirty="0">
                <a:solidFill>
                  <a:srgbClr val="FF0000"/>
                </a:solidFill>
              </a:rPr>
              <a:t>close</a:t>
            </a:r>
            <a:r>
              <a:rPr lang="ga-IE" sz="1800" dirty="0"/>
              <a:t> a connection to the database</a:t>
            </a:r>
            <a:endParaRPr lang="en-IE" sz="1800" dirty="0"/>
          </a:p>
          <a:p>
            <a:pPr lvl="2"/>
            <a:endParaRPr lang="en-IE" sz="1800" dirty="0"/>
          </a:p>
          <a:p>
            <a:pPr lvl="1"/>
            <a:r>
              <a:rPr lang="en-IE" sz="2200" dirty="0"/>
              <a:t>Connection class should implement a Connector interface to enhance flexibility</a:t>
            </a:r>
          </a:p>
          <a:p>
            <a:pPr lvl="2"/>
            <a:r>
              <a:rPr lang="en-IE" sz="1800" dirty="0"/>
              <a:t>Can use different implementations depending on the situation</a:t>
            </a:r>
          </a:p>
          <a:p>
            <a:pPr lvl="2"/>
            <a:endParaRPr lang="en-IE" sz="1700" dirty="0"/>
          </a:p>
          <a:p>
            <a:pPr lvl="1"/>
            <a:r>
              <a:rPr lang="en-IE" sz="2400" b="1" u="sng" dirty="0"/>
              <a:t>Dependency injection</a:t>
            </a:r>
            <a:r>
              <a:rPr lang="en-IE" sz="2400" dirty="0"/>
              <a:t> allows us to flexibly provide these abilities to all DAOs</a:t>
            </a:r>
          </a:p>
          <a:p>
            <a:pPr lvl="2"/>
            <a:r>
              <a:rPr lang="en-IE" sz="2100" dirty="0"/>
              <a:t>No need to rewrite/duplicate the code</a:t>
            </a:r>
          </a:p>
        </p:txBody>
      </p:sp>
    </p:spTree>
    <p:extLst>
      <p:ext uri="{BB962C8B-B14F-4D97-AF65-F5344CB8AC3E}">
        <p14:creationId xmlns:p14="http://schemas.microsoft.com/office/powerpoint/2010/main" val="258447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31A0-B43E-9AE6-78EB-6948E34B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Connector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37C13-2405-1E1D-6416-FAA6EEF0D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2838367"/>
            <a:ext cx="819264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76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D351B-6F39-F4B0-8868-0CF69D65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Connection Class and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FB460-4B88-D118-D107-F3EE4886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13" y="1903863"/>
            <a:ext cx="7930774" cy="436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29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B49E9-1B5A-7A1C-FDEF-2F5B2B49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>
                <a:solidFill>
                  <a:schemeClr val="tx1">
                    <a:lumMod val="85000"/>
                    <a:lumOff val="15000"/>
                  </a:schemeClr>
                </a:solidFill>
              </a:rPr>
              <a:t>Example of Injecting Connector into DAO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5E897F-710C-06F0-F9E6-6BEFECF75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325"/>
          <a:stretch>
            <a:fillRect/>
          </a:stretch>
        </p:blipFill>
        <p:spPr>
          <a:xfrm>
            <a:off x="635457" y="640080"/>
            <a:ext cx="10916463" cy="360273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626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7E4B-ABC9-937A-9CED-306F143F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Step </a:t>
            </a:r>
            <a:r>
              <a:rPr lang="en-IE" dirty="0"/>
              <a:t>3) </a:t>
            </a:r>
            <a:r>
              <a:rPr lang="ga-IE" dirty="0"/>
              <a:t>Decide on Your DAO’s Abilities</a:t>
            </a:r>
            <a:r>
              <a:rPr lang="en-IE" dirty="0"/>
              <a:t>:</a:t>
            </a:r>
            <a:r>
              <a:rPr lang="ga-IE" dirty="0"/>
              <a:t> Create an Interface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122C-C39F-8436-79F4-E80CE9C6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sz="3200" dirty="0"/>
              <a:t>DAOs are all about abilities</a:t>
            </a:r>
          </a:p>
          <a:p>
            <a:pPr lvl="2"/>
            <a:r>
              <a:rPr lang="en-US" sz="2800" dirty="0"/>
              <a:t>Get all users in the database</a:t>
            </a:r>
          </a:p>
          <a:p>
            <a:pPr lvl="2"/>
            <a:r>
              <a:rPr lang="en-US" sz="2800" dirty="0"/>
              <a:t>Check if a user is in the database (login)</a:t>
            </a:r>
          </a:p>
          <a:p>
            <a:pPr lvl="2"/>
            <a:r>
              <a:rPr lang="en-US" sz="2800" dirty="0"/>
              <a:t>Add a user to the database</a:t>
            </a:r>
          </a:p>
          <a:p>
            <a:pPr lvl="2"/>
            <a:r>
              <a:rPr lang="en-US" sz="2800" dirty="0"/>
              <a:t>Remove a user from the database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These abilities are all different methods specified within the DAO’s interface within that table-specific DAO.</a:t>
            </a:r>
          </a:p>
          <a:p>
            <a:pPr lvl="2"/>
            <a:r>
              <a:rPr lang="en-US" sz="2800" dirty="0"/>
              <a:t>Interface gives an overview of what a DAO can do.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79416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6C46-9A2D-BB9A-FF31-D01D198E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Example: The </a:t>
            </a:r>
            <a:r>
              <a:rPr lang="en-IE" dirty="0" err="1"/>
              <a:t>UserDao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8CC7-E03D-68E8-BCC9-35681C672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479320"/>
            <a:ext cx="10058400" cy="238977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This contains all abilities the User Dao will possess – i.e. Everything it can do.</a:t>
            </a:r>
          </a:p>
          <a:p>
            <a:pPr lvl="2"/>
            <a:r>
              <a:rPr lang="en-IE" sz="2900" dirty="0"/>
              <a:t>Quicker to look at this than to look through the entire implementation class.</a:t>
            </a:r>
          </a:p>
          <a:p>
            <a:pPr lvl="2"/>
            <a:r>
              <a:rPr lang="en-IE" sz="2900" dirty="0"/>
              <a:t>If you make another implementation (e.g. </a:t>
            </a:r>
            <a:r>
              <a:rPr lang="en-IE" sz="2900" dirty="0" err="1"/>
              <a:t>UserDaoNoSQLImpl</a:t>
            </a:r>
            <a:r>
              <a:rPr lang="en-IE" sz="2900" dirty="0"/>
              <a:t>) that accesses a NoSQL database, you can force that version to also provide the same abilities with the same format.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046E6-36F9-1938-D925-7757B10EB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912" y="1968378"/>
            <a:ext cx="7886176" cy="141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44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AD05-E239-206B-80B0-02FF50189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4) Build the DAO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66325-719E-286F-34E6-395FCB3E2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1"/>
            <a:r>
              <a:rPr lang="en-US" sz="3200" dirty="0"/>
              <a:t>Each table in the database gets its own DAO</a:t>
            </a:r>
          </a:p>
          <a:p>
            <a:pPr lvl="2"/>
            <a:r>
              <a:rPr lang="en-US" sz="2800" dirty="0"/>
              <a:t>Movie table has a Movie DAO</a:t>
            </a:r>
          </a:p>
          <a:p>
            <a:pPr lvl="2"/>
            <a:r>
              <a:rPr lang="en-US" sz="2800" dirty="0"/>
              <a:t>User table has a User DAO</a:t>
            </a:r>
          </a:p>
          <a:p>
            <a:pPr lvl="2"/>
            <a:r>
              <a:rPr lang="en-US" sz="2800" dirty="0"/>
              <a:t>Employee table has an Employee DAO</a:t>
            </a:r>
          </a:p>
          <a:p>
            <a:pPr lvl="2"/>
            <a:r>
              <a:rPr lang="en-US" sz="2800" dirty="0"/>
              <a:t>Product table has a Product DAO</a:t>
            </a:r>
          </a:p>
          <a:p>
            <a:pPr lvl="1"/>
            <a:r>
              <a:rPr lang="en-US" sz="3200" dirty="0"/>
              <a:t>Each table-specific DAO should only ever access the table it’s named for</a:t>
            </a:r>
          </a:p>
          <a:p>
            <a:pPr lvl="2"/>
            <a:r>
              <a:rPr lang="en-US" sz="2800" dirty="0" err="1"/>
              <a:t>ProductDao</a:t>
            </a:r>
            <a:r>
              <a:rPr lang="en-US" sz="2800" dirty="0"/>
              <a:t> ONLY queries the Product table</a:t>
            </a:r>
          </a:p>
          <a:p>
            <a:pPr lvl="2"/>
            <a:r>
              <a:rPr lang="en-US" sz="2800" dirty="0" err="1"/>
              <a:t>OrderDao</a:t>
            </a:r>
            <a:r>
              <a:rPr lang="en-US" sz="2800" dirty="0"/>
              <a:t> ONLY queries the Order table.</a:t>
            </a:r>
          </a:p>
          <a:p>
            <a:pPr lvl="2"/>
            <a:r>
              <a:rPr lang="en-US" sz="2800" dirty="0"/>
              <a:t>If </a:t>
            </a:r>
            <a:r>
              <a:rPr lang="en-US" sz="2800" dirty="0" err="1"/>
              <a:t>OrderDao</a:t>
            </a:r>
            <a:r>
              <a:rPr lang="en-US" sz="2800" dirty="0"/>
              <a:t> needs Product info, it calls a method in the </a:t>
            </a:r>
            <a:r>
              <a:rPr lang="en-US" sz="2800" dirty="0" err="1"/>
              <a:t>ProductDaoImpl</a:t>
            </a:r>
            <a:r>
              <a:rPr lang="en-US" sz="2800" dirty="0"/>
              <a:t> class (no joins, no direct queries)</a:t>
            </a:r>
          </a:p>
          <a:p>
            <a:pPr lvl="1"/>
            <a:r>
              <a:rPr lang="en-US" sz="3200" dirty="0"/>
              <a:t>A DAO should be named after the table it’s querying</a:t>
            </a:r>
          </a:p>
          <a:p>
            <a:pPr lvl="2"/>
            <a:r>
              <a:rPr lang="en-US" sz="2800" dirty="0" err="1"/>
              <a:t>MovieDaoImpl</a:t>
            </a:r>
            <a:endParaRPr lang="en-US" sz="2800" dirty="0"/>
          </a:p>
          <a:p>
            <a:pPr lvl="2"/>
            <a:r>
              <a:rPr lang="en-US" sz="2800" dirty="0" err="1"/>
              <a:t>UserDaoImpl</a:t>
            </a:r>
            <a:endParaRPr lang="en-US" sz="2800" dirty="0"/>
          </a:p>
          <a:p>
            <a:pPr lvl="2"/>
            <a:r>
              <a:rPr lang="en-US" sz="2800" dirty="0" err="1"/>
              <a:t>EmployeeDaoImpl</a:t>
            </a:r>
            <a:endParaRPr lang="en-US" sz="2800" dirty="0"/>
          </a:p>
          <a:p>
            <a:pPr lvl="2"/>
            <a:r>
              <a:rPr lang="en-US" sz="2800" dirty="0" err="1"/>
              <a:t>ProductDaoImpl</a:t>
            </a:r>
            <a:endParaRPr lang="en-US" sz="2800" dirty="0"/>
          </a:p>
          <a:p>
            <a:pPr lvl="1"/>
            <a:r>
              <a:rPr lang="en-US" sz="3200" dirty="0"/>
              <a:t>Each DAO needs to be able to open a connection and close a connection to the database</a:t>
            </a:r>
          </a:p>
          <a:p>
            <a:pPr lvl="2"/>
            <a:r>
              <a:rPr lang="en-US" sz="2800" dirty="0"/>
              <a:t>Inherit from/extend the Dao superclass</a:t>
            </a:r>
          </a:p>
        </p:txBody>
      </p:sp>
    </p:spTree>
    <p:extLst>
      <p:ext uri="{BB962C8B-B14F-4D97-AF65-F5344CB8AC3E}">
        <p14:creationId xmlns:p14="http://schemas.microsoft.com/office/powerpoint/2010/main" val="1063835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7522-2212-A839-ACD4-CAC15FC0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</a:t>
            </a:r>
            <a:r>
              <a:rPr lang="en-IE" dirty="0" err="1"/>
              <a:t>UserDaoImpl</a:t>
            </a:r>
            <a:r>
              <a:rPr lang="en-IE" dirty="0"/>
              <a:t>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4CBAD-32EA-5A4F-88A0-B2A6E8DD9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09728" indent="0">
              <a:buNone/>
            </a:pPr>
            <a:r>
              <a:rPr lang="ga-IE" sz="4000" dirty="0"/>
              <a:t>public class UserDao</a:t>
            </a:r>
            <a:r>
              <a:rPr lang="en-IE" sz="4000" dirty="0" err="1"/>
              <a:t>Impl</a:t>
            </a:r>
            <a:r>
              <a:rPr lang="ga-IE" sz="4000" dirty="0"/>
              <a:t> {</a:t>
            </a:r>
          </a:p>
          <a:p>
            <a:pPr marL="109728" indent="0">
              <a:buNone/>
            </a:pPr>
            <a:r>
              <a:rPr lang="ga-IE" sz="4000" dirty="0">
                <a:solidFill>
                  <a:schemeClr val="accent2"/>
                </a:solidFill>
              </a:rPr>
              <a:t>	</a:t>
            </a:r>
            <a:r>
              <a:rPr lang="en-IE" sz="4000" dirty="0">
                <a:solidFill>
                  <a:schemeClr val="accent5"/>
                </a:solidFill>
              </a:rPr>
              <a:t>private Connector </a:t>
            </a:r>
            <a:r>
              <a:rPr lang="en-IE" sz="4000" dirty="0" err="1">
                <a:solidFill>
                  <a:schemeClr val="accent5"/>
                </a:solidFill>
              </a:rPr>
              <a:t>connector</a:t>
            </a:r>
            <a:r>
              <a:rPr lang="en-IE" sz="4000" dirty="0">
                <a:solidFill>
                  <a:schemeClr val="accent5"/>
                </a:solidFill>
              </a:rPr>
              <a:t>;</a:t>
            </a:r>
          </a:p>
          <a:p>
            <a:pPr marL="109728" indent="0">
              <a:buNone/>
            </a:pPr>
            <a:r>
              <a:rPr lang="en-IE" sz="4000" dirty="0">
                <a:solidFill>
                  <a:schemeClr val="accent5"/>
                </a:solidFill>
              </a:rPr>
              <a:t>	public </a:t>
            </a:r>
            <a:r>
              <a:rPr lang="en-IE" sz="4000" dirty="0" err="1">
                <a:solidFill>
                  <a:schemeClr val="accent5"/>
                </a:solidFill>
              </a:rPr>
              <a:t>UserDaoImpl</a:t>
            </a:r>
            <a:r>
              <a:rPr lang="en-IE" sz="4000" dirty="0">
                <a:solidFill>
                  <a:schemeClr val="accent5"/>
                </a:solidFill>
              </a:rPr>
              <a:t>(Connector c){</a:t>
            </a:r>
          </a:p>
          <a:p>
            <a:pPr marL="109728" indent="0">
              <a:buNone/>
            </a:pPr>
            <a:r>
              <a:rPr lang="en-IE" sz="4000" dirty="0">
                <a:solidFill>
                  <a:schemeClr val="accent5"/>
                </a:solidFill>
              </a:rPr>
              <a:t>		</a:t>
            </a:r>
            <a:r>
              <a:rPr lang="en-IE" sz="4000" dirty="0" err="1">
                <a:solidFill>
                  <a:schemeClr val="accent5"/>
                </a:solidFill>
              </a:rPr>
              <a:t>this.connector</a:t>
            </a:r>
            <a:r>
              <a:rPr lang="en-IE" sz="4000" dirty="0">
                <a:solidFill>
                  <a:schemeClr val="accent5"/>
                </a:solidFill>
              </a:rPr>
              <a:t> = c;</a:t>
            </a:r>
          </a:p>
          <a:p>
            <a:pPr marL="109728" indent="0">
              <a:buNone/>
            </a:pPr>
            <a:r>
              <a:rPr lang="en-IE" sz="4000" dirty="0">
                <a:solidFill>
                  <a:schemeClr val="accent5"/>
                </a:solidFill>
              </a:rPr>
              <a:t>	}</a:t>
            </a:r>
          </a:p>
          <a:p>
            <a:pPr marL="109728" indent="0">
              <a:buNone/>
            </a:pPr>
            <a:endParaRPr lang="en-IE" sz="4000" dirty="0">
              <a:solidFill>
                <a:schemeClr val="accent2"/>
              </a:solidFill>
            </a:endParaRPr>
          </a:p>
          <a:p>
            <a:pPr marL="109728" indent="0">
              <a:buNone/>
            </a:pPr>
            <a:r>
              <a:rPr lang="en-IE" sz="4000" dirty="0">
                <a:solidFill>
                  <a:schemeClr val="accent2"/>
                </a:solidFill>
              </a:rPr>
              <a:t>	</a:t>
            </a:r>
            <a:r>
              <a:rPr lang="ga-IE" sz="4000" dirty="0">
                <a:solidFill>
                  <a:schemeClr val="accent2"/>
                </a:solidFill>
              </a:rPr>
              <a:t>// Methods go here</a:t>
            </a:r>
          </a:p>
          <a:p>
            <a:pPr marL="109728" indent="0">
              <a:buNone/>
            </a:pPr>
            <a:r>
              <a:rPr lang="ga-IE" sz="4000" dirty="0"/>
              <a:t>}</a:t>
            </a:r>
            <a:endParaRPr lang="en-IE" sz="4000" dirty="0"/>
          </a:p>
          <a:p>
            <a:endParaRPr lang="en-IE" sz="4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1E2BCE-6FC8-EE7D-68C6-90FC9DCE47B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533072" y="3759365"/>
            <a:ext cx="1822085" cy="7173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5870FD-DD79-E8BC-E9D0-BE34D36828C1}"/>
              </a:ext>
            </a:extLst>
          </p:cNvPr>
          <p:cNvSpPr txBox="1"/>
          <p:nvPr/>
        </p:nvSpPr>
        <p:spPr>
          <a:xfrm>
            <a:off x="6626965" y="4476683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Store instance of connector </a:t>
            </a:r>
          </a:p>
          <a:p>
            <a:r>
              <a:rPr lang="en-IE" dirty="0"/>
              <a:t>Have it injected into the DAO</a:t>
            </a:r>
          </a:p>
        </p:txBody>
      </p:sp>
    </p:spTree>
    <p:extLst>
      <p:ext uri="{BB962C8B-B14F-4D97-AF65-F5344CB8AC3E}">
        <p14:creationId xmlns:p14="http://schemas.microsoft.com/office/powerpoint/2010/main" val="2284378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DCC5-DC84-0E79-C67F-82C5ED1A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z="4800" dirty="0"/>
              <a:t>Step 5</a:t>
            </a:r>
            <a:r>
              <a:rPr lang="en-IE" sz="4800" dirty="0"/>
              <a:t>)</a:t>
            </a:r>
            <a:r>
              <a:rPr lang="ga-IE" sz="4800" dirty="0"/>
              <a:t> Guarantee Abilities in Your DAO</a:t>
            </a:r>
            <a:r>
              <a:rPr lang="en-IE" sz="4800" dirty="0"/>
              <a:t>:</a:t>
            </a:r>
            <a:br>
              <a:rPr lang="en-IE" sz="4800" dirty="0"/>
            </a:br>
            <a:r>
              <a:rPr lang="ga-IE" sz="4800" dirty="0"/>
              <a:t>Connect Your DAO to Your Interface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E3BB-4EB1-BABC-5AE5-BA43E619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/>
              <a:t>Your (table-specific) DAO implementation needs all the abilities you listed in the interface.</a:t>
            </a:r>
          </a:p>
          <a:p>
            <a:pPr lvl="1"/>
            <a:r>
              <a:rPr lang="en-US" sz="3200" dirty="0"/>
              <a:t>You need to force the implementation to provide these specific abilities.</a:t>
            </a:r>
          </a:p>
          <a:p>
            <a:pPr lvl="2"/>
            <a:r>
              <a:rPr lang="en-US" sz="2800" dirty="0"/>
              <a:t>Implementing the interface forces the DAO implementation to have the methods listed.</a:t>
            </a:r>
          </a:p>
        </p:txBody>
      </p:sp>
    </p:spTree>
    <p:extLst>
      <p:ext uri="{BB962C8B-B14F-4D97-AF65-F5344CB8AC3E}">
        <p14:creationId xmlns:p14="http://schemas.microsoft.com/office/powerpoint/2010/main" val="3770426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0B82-A6E1-4B36-0BF9-6212D40F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Example: </a:t>
            </a:r>
            <a:r>
              <a:rPr lang="en-IE" dirty="0" err="1"/>
              <a:t>UserDaoImpl</a:t>
            </a:r>
            <a:r>
              <a:rPr lang="en-IE" dirty="0"/>
              <a:t> Shell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539D2F-0774-B7C6-3A27-E5CEA79C3068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Calibri" panose="020F0502020204030204" pitchFamily="34" charset="0"/>
              <a:buNone/>
            </a:pPr>
            <a:r>
              <a:rPr lang="ga-IE" sz="3200" dirty="0"/>
              <a:t>public class UserDao</a:t>
            </a:r>
            <a:r>
              <a:rPr lang="en-IE" sz="3200" dirty="0" err="1"/>
              <a:t>Impl</a:t>
            </a:r>
            <a:r>
              <a:rPr lang="ga-IE" sz="3200" dirty="0"/>
              <a:t> </a:t>
            </a:r>
            <a:r>
              <a:rPr lang="ga-IE" sz="3200" dirty="0">
                <a:solidFill>
                  <a:schemeClr val="accent3"/>
                </a:solidFill>
              </a:rPr>
              <a:t>implements UserDao </a:t>
            </a:r>
            <a:r>
              <a:rPr lang="ga-IE" sz="3200" dirty="0"/>
              <a:t>{</a:t>
            </a:r>
          </a:p>
          <a:p>
            <a:pPr marL="109728" indent="0">
              <a:buFont typeface="Calibri" panose="020F0502020204030204" pitchFamily="34" charset="0"/>
              <a:buNone/>
            </a:pPr>
            <a:r>
              <a:rPr lang="ga-IE" sz="3200" dirty="0">
                <a:solidFill>
                  <a:schemeClr val="accent2"/>
                </a:solidFill>
              </a:rPr>
              <a:t>	</a:t>
            </a:r>
            <a:r>
              <a:rPr lang="en-IE" sz="3200" dirty="0">
                <a:solidFill>
                  <a:schemeClr val="accent5"/>
                </a:solidFill>
              </a:rPr>
              <a:t>private Connector </a:t>
            </a:r>
            <a:r>
              <a:rPr lang="en-IE" sz="3200" dirty="0" err="1">
                <a:solidFill>
                  <a:schemeClr val="accent5"/>
                </a:solidFill>
              </a:rPr>
              <a:t>connector</a:t>
            </a:r>
            <a:r>
              <a:rPr lang="en-IE" sz="3200" dirty="0">
                <a:solidFill>
                  <a:schemeClr val="accent5"/>
                </a:solidFill>
              </a:rPr>
              <a:t>;</a:t>
            </a:r>
          </a:p>
          <a:p>
            <a:pPr marL="109728" indent="0">
              <a:buFont typeface="Calibri" panose="020F0502020204030204" pitchFamily="34" charset="0"/>
              <a:buNone/>
            </a:pPr>
            <a:r>
              <a:rPr lang="en-IE" sz="3200" dirty="0">
                <a:solidFill>
                  <a:schemeClr val="accent5"/>
                </a:solidFill>
              </a:rPr>
              <a:t>	public </a:t>
            </a:r>
            <a:r>
              <a:rPr lang="en-IE" sz="3200" dirty="0" err="1">
                <a:solidFill>
                  <a:schemeClr val="accent5"/>
                </a:solidFill>
              </a:rPr>
              <a:t>UserDaoImpl</a:t>
            </a:r>
            <a:r>
              <a:rPr lang="en-IE" sz="3200" dirty="0">
                <a:solidFill>
                  <a:schemeClr val="accent5"/>
                </a:solidFill>
              </a:rPr>
              <a:t>(Connector c){</a:t>
            </a:r>
          </a:p>
          <a:p>
            <a:pPr marL="109728" indent="0">
              <a:buFont typeface="Calibri" panose="020F0502020204030204" pitchFamily="34" charset="0"/>
              <a:buNone/>
            </a:pPr>
            <a:r>
              <a:rPr lang="en-IE" sz="3200" dirty="0">
                <a:solidFill>
                  <a:schemeClr val="accent5"/>
                </a:solidFill>
              </a:rPr>
              <a:t>		</a:t>
            </a:r>
            <a:r>
              <a:rPr lang="en-IE" sz="3200" dirty="0" err="1">
                <a:solidFill>
                  <a:schemeClr val="accent5"/>
                </a:solidFill>
              </a:rPr>
              <a:t>this.connector</a:t>
            </a:r>
            <a:r>
              <a:rPr lang="en-IE" sz="3200" dirty="0">
                <a:solidFill>
                  <a:schemeClr val="accent5"/>
                </a:solidFill>
              </a:rPr>
              <a:t> = c;</a:t>
            </a:r>
          </a:p>
          <a:p>
            <a:pPr marL="109728" indent="0">
              <a:buFont typeface="Calibri" panose="020F0502020204030204" pitchFamily="34" charset="0"/>
              <a:buNone/>
            </a:pPr>
            <a:r>
              <a:rPr lang="en-IE" sz="3200" dirty="0">
                <a:solidFill>
                  <a:schemeClr val="accent5"/>
                </a:solidFill>
              </a:rPr>
              <a:t>	}</a:t>
            </a:r>
          </a:p>
          <a:p>
            <a:pPr marL="109728" indent="0">
              <a:buFont typeface="Calibri" panose="020F0502020204030204" pitchFamily="34" charset="0"/>
              <a:buNone/>
            </a:pPr>
            <a:r>
              <a:rPr lang="en-IE" sz="3200" dirty="0">
                <a:solidFill>
                  <a:schemeClr val="accent2"/>
                </a:solidFill>
              </a:rPr>
              <a:t>	</a:t>
            </a:r>
            <a:r>
              <a:rPr lang="ga-IE" sz="3200" dirty="0">
                <a:solidFill>
                  <a:schemeClr val="accent2"/>
                </a:solidFill>
              </a:rPr>
              <a:t>// Methods go here</a:t>
            </a:r>
          </a:p>
          <a:p>
            <a:pPr marL="109728" indent="0">
              <a:buFont typeface="Calibri" panose="020F0502020204030204" pitchFamily="34" charset="0"/>
              <a:buNone/>
            </a:pPr>
            <a:r>
              <a:rPr lang="ga-IE" sz="3200" dirty="0"/>
              <a:t>}</a:t>
            </a:r>
            <a:endParaRPr lang="en-IE" sz="3200" dirty="0"/>
          </a:p>
          <a:p>
            <a:endParaRPr lang="en-I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0D5FB7-5588-8436-2057-893CB66A724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539245" y="2314815"/>
            <a:ext cx="360040" cy="4128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1F2945-76B0-BEC6-80D6-E03C577BDC92}"/>
              </a:ext>
            </a:extLst>
          </p:cNvPr>
          <p:cNvSpPr txBox="1"/>
          <p:nvPr/>
        </p:nvSpPr>
        <p:spPr>
          <a:xfrm>
            <a:off x="8171093" y="2727661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ga-IE" dirty="0"/>
              <a:t>Implement interface to force UserDao</a:t>
            </a:r>
            <a:r>
              <a:rPr lang="en-IE" dirty="0" err="1"/>
              <a:t>Impl</a:t>
            </a:r>
            <a:r>
              <a:rPr lang="ga-IE" dirty="0"/>
              <a:t> to provide all abilities (methods) mentioned in UserDao</a:t>
            </a:r>
            <a:endParaRPr lang="en-IE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DD8B6F5-39F6-FBAF-839D-EC6007AB7AEE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6533072" y="3759365"/>
            <a:ext cx="1822085" cy="7173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CD4450-868D-064D-F6FD-0DE85CEBAA7A}"/>
              </a:ext>
            </a:extLst>
          </p:cNvPr>
          <p:cNvSpPr txBox="1"/>
          <p:nvPr/>
        </p:nvSpPr>
        <p:spPr>
          <a:xfrm>
            <a:off x="6626965" y="4476683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Store instance of connector </a:t>
            </a:r>
          </a:p>
          <a:p>
            <a:r>
              <a:rPr lang="en-IE" dirty="0"/>
              <a:t>Have it injected into the DAO</a:t>
            </a:r>
          </a:p>
        </p:txBody>
      </p:sp>
    </p:spTree>
    <p:extLst>
      <p:ext uri="{BB962C8B-B14F-4D97-AF65-F5344CB8AC3E}">
        <p14:creationId xmlns:p14="http://schemas.microsoft.com/office/powerpoint/2010/main" val="2430185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6FA6-246F-62D8-7144-175CB824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6) Give Your DAO Code For Each 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714A-EF8E-59DB-E8D4-1FBF33010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38764"/>
          </a:xfrm>
        </p:spPr>
        <p:txBody>
          <a:bodyPr>
            <a:normAutofit fontScale="62500" lnSpcReduction="20000"/>
          </a:bodyPr>
          <a:lstStyle/>
          <a:p>
            <a:pPr lvl="1"/>
            <a:r>
              <a:rPr lang="en-US" sz="3200" dirty="0"/>
              <a:t>For each line in your interface, write a method that does that action</a:t>
            </a:r>
          </a:p>
          <a:p>
            <a:pPr lvl="1"/>
            <a:r>
              <a:rPr lang="en-US" sz="3200" dirty="0"/>
              <a:t>The method should: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Get a connection to the database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Create an SQL statement to do the thing the method is meant to do, E.g.</a:t>
            </a:r>
          </a:p>
          <a:p>
            <a:pPr lvl="3"/>
            <a:r>
              <a:rPr lang="en-US" sz="2800" dirty="0"/>
              <a:t>Select all users</a:t>
            </a:r>
          </a:p>
          <a:p>
            <a:pPr lvl="3"/>
            <a:r>
              <a:rPr lang="en-US" sz="2800" dirty="0"/>
              <a:t>Select the users that have the same username AND password as what’s supplied</a:t>
            </a:r>
          </a:p>
          <a:p>
            <a:pPr lvl="3"/>
            <a:r>
              <a:rPr lang="en-US" sz="2800" dirty="0"/>
              <a:t>Insert a user’s information</a:t>
            </a:r>
          </a:p>
          <a:p>
            <a:pPr lvl="3"/>
            <a:r>
              <a:rPr lang="en-US" sz="2800" dirty="0"/>
              <a:t>Remove a user’s information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Execute that SQL statement</a:t>
            </a:r>
          </a:p>
          <a:p>
            <a:pPr lvl="3"/>
            <a:r>
              <a:rPr lang="en-US" sz="2800" dirty="0" err="1"/>
              <a:t>executeQuery</a:t>
            </a:r>
            <a:r>
              <a:rPr lang="en-US" sz="2800" dirty="0"/>
              <a:t> for select statements</a:t>
            </a:r>
          </a:p>
          <a:p>
            <a:pPr lvl="3"/>
            <a:r>
              <a:rPr lang="en-US" sz="2800" dirty="0" err="1"/>
              <a:t>executeUpdate</a:t>
            </a:r>
            <a:r>
              <a:rPr lang="en-US" sz="2800" dirty="0"/>
              <a:t> for insert, delete and update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Save the results</a:t>
            </a:r>
          </a:p>
          <a:p>
            <a:pPr lvl="3"/>
            <a:r>
              <a:rPr lang="en-US" sz="2800" dirty="0"/>
              <a:t>The number of rows updated for an </a:t>
            </a:r>
            <a:r>
              <a:rPr lang="en-US" sz="2800" dirty="0" err="1"/>
              <a:t>executeUpdate</a:t>
            </a:r>
            <a:r>
              <a:rPr lang="en-US" sz="2800" dirty="0"/>
              <a:t> (an insert/update/delete)</a:t>
            </a:r>
          </a:p>
          <a:p>
            <a:pPr lvl="3"/>
            <a:r>
              <a:rPr lang="en-US" sz="2800" dirty="0"/>
              <a:t>One or more DTO objects for an </a:t>
            </a:r>
            <a:r>
              <a:rPr lang="en-US" sz="2800" dirty="0" err="1"/>
              <a:t>executeQuery</a:t>
            </a:r>
            <a:r>
              <a:rPr lang="en-US" sz="2800" dirty="0"/>
              <a:t> (a select)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Return the results</a:t>
            </a:r>
          </a:p>
        </p:txBody>
      </p:sp>
    </p:spTree>
    <p:extLst>
      <p:ext uri="{BB962C8B-B14F-4D97-AF65-F5344CB8AC3E}">
        <p14:creationId xmlns:p14="http://schemas.microsoft.com/office/powerpoint/2010/main" val="41768047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908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Building a Dao</vt:lpstr>
      <vt:lpstr>Step 1) Model Your Table as a DTO</vt:lpstr>
      <vt:lpstr>Example Table</vt:lpstr>
      <vt:lpstr>Example DTO – Modelling the User Table</vt:lpstr>
      <vt:lpstr>Step 2) Provide Connections: Make a Connection Object&amp; Inject It</vt:lpstr>
      <vt:lpstr>Example Connector Interface</vt:lpstr>
      <vt:lpstr>Example Connection Class and Interface</vt:lpstr>
      <vt:lpstr>Example of Injecting Connector into DAO</vt:lpstr>
      <vt:lpstr>Step 3) Decide on Your DAO’s Abilities: Create an Interface</vt:lpstr>
      <vt:lpstr>Example: The UserDao</vt:lpstr>
      <vt:lpstr>Step 4) Build the DAO Implementation</vt:lpstr>
      <vt:lpstr>Example UserDaoImpl Shell</vt:lpstr>
      <vt:lpstr>Step 5) Guarantee Abilities in Your DAO: Connect Your DAO to Your Interface</vt:lpstr>
      <vt:lpstr>Example: UserDaoImpl Shell</vt:lpstr>
      <vt:lpstr>Step 6) Give Your DAO Code For Each 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Graham</dc:creator>
  <cp:lastModifiedBy>Michelle Graham</cp:lastModifiedBy>
  <cp:revision>2</cp:revision>
  <dcterms:created xsi:type="dcterms:W3CDTF">2024-09-16T23:12:35Z</dcterms:created>
  <dcterms:modified xsi:type="dcterms:W3CDTF">2025-09-30T13:46:04Z</dcterms:modified>
</cp:coreProperties>
</file>